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Introductions and agenda. Frame the session around a common situation: teams already run Grafana, Prometheus and Loki, and want to understand API usage by endpoint and by API key, plus latency, errors and volume. Everything in this session is metrics and logs; tracing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typical starting point. The bottom row (usage, the per-key pain point, and latency/errors/volume) drives the whole demo; the top row shapes the architecture: their existing Grafana, Prometheus and Loki, self-managed, and no tracing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keys are base64 of {"org","id","h"}, so the last-6-characters api_key dimension collapses every key into one series. Tyk exposes the key alias as a metric dimension: readable, stable and bounded. Ask how their keys are issued today and whether they carry aliases.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not features. 01 removes components from the metrics path. 02 answers the usage questions. 03 is the safety net that makes 02 safe in production. 04 is operational health for the platform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Tyk Pump custom metrics (https://tyk.io/docs/api-management/metrics/metrics-pumps#custom-metrics) and gateway custom metrics (https://tyk.io/docs/api-management/metrics/custom-metrics). The Pump builds metrics from analytics records after Redis, with labels limited to traffic-log fields. The gateway builds them in the request path with six dimension sources, including headers, context variables and endpoint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sends OTLP to a collector (or straight to Prometheus's OTLP receiver); access logs are structured JSON on stdout that the collector (or Alloy/Promtail) ships to Loki. Traces use the same collector later. A SQL database can stay as an optional Pump sink for long-term per-request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question to a dimension. Endpoints use tracked templates (/projects/{id}, not /projects/PRJ-1042), so they stay bounded. API keys use the alias, plus the key hash from an optional plugin. Query parameters come from context variables request_data_&lt;name&gt;: you declare the ones that matter. filters.api_ids scopes these instruments to the APIs that need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Grafana: API Consumer Insights folder → API Consumer Insights, last 15 minutes. Slides 9–15 are screenshots of the same panels in the same order: use them if the live environment misbehaves.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KPI row answers latency, errors and volume at a glance. The API, API key and Endpoint variables at the top filter every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Endpoints (rows) by API key (columns), each key shown as alias (hash). Endpoints are templates thanks to tracked endpoints, so the list stays readable and bounded.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has one row per API key (alias and key hash): calls, throughput, error rate, 5xx, 429 and 403 counts, P50 and P95 latency and the number of APIs each key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query parameter is available as a context variable (request_data_&lt;name&gt;). The demo tracks status, region, site, severity, interval, page and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chart splits latency into Tyk processing time and backend time using the default Tyk instruments: the fastest answer to "is it the gateway or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rate by API and by API key are on the dashboard; this slide shows the why. Each status code maps to an action and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go to Loki. Traces are optional, but trace IDs are already in the logs, so nothing needs redoing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Six-card recap of the demo. Pause here for questions before moving to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platform team's questions: safety, cost and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Overhead figures are from Tyk's published benchmark: https://tyk.io/docs/api-management/observability/guides/best-practices#performance-impact-summary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ask concrete and small. The dashboard is a JSON file teams import into their own Grafana (scenario/consumer-insights-dashboard.json).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bring it up if questions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low-effort pilot. Offer the dashboard JSON and the gateway configuration used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https://tyk.io/docs/api-management/logs-metrics · https://tyk.io/docs/api-management/metrics/default-metrics · https://tyk.io/docs/api-management/metrics/custom-metrics · https://tyk.io/docs/api-management/observability/guides/gateway-playbook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57200" y="566928"/>
            <a:ext cx="512064" cy="265176"/>
          </a:xfrm>
          <a:prstGeom prst="rect">
            <a:avLst/>
          </a:prstGeom>
        </p:spPr>
      </p:pic>
      <p:sp>
        <p:nvSpPr>
          <p:cNvPr id="3" name="Text 0"/>
          <p:cNvSpPr txBox="1"/>
          <p:nvPr/>
        </p:nvSpPr>
        <p:spPr>
          <a:xfrm>
            <a:off x="429768" y="1097280"/>
            <a:ext cx="1980590"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TYK 5.13 · OBSERVABILITY</a:t>
            </a:r>
            <a:endParaRPr lang="en-US" sz="750" dirty="0"/>
          </a:p>
        </p:txBody>
      </p:sp>
      <p:sp>
        <p:nvSpPr>
          <p:cNvPr id="4" name="Shape 1"/>
          <p:cNvSpPr/>
          <p:nvPr/>
        </p:nvSpPr>
        <p:spPr>
          <a:xfrm>
            <a:off x="411480" y="2110801"/>
            <a:ext cx="2760269" cy="158008"/>
          </a:xfrm>
          <a:prstGeom prst="rect">
            <a:avLst/>
          </a:prstGeom>
          <a:solidFill>
            <a:srgbClr val="BDF3DC"/>
          </a:solidFill>
          <a:ln/>
        </p:spPr>
      </p:sp>
      <p:sp>
        <p:nvSpPr>
          <p:cNvPr id="5" name="Text 2"/>
          <p:cNvSpPr txBox="1"/>
          <p:nvPr/>
        </p:nvSpPr>
        <p:spPr>
          <a:xfrm>
            <a:off x="429768" y="1417320"/>
            <a:ext cx="4754880" cy="969264"/>
          </a:xfrm>
          <a:prstGeom prst="rect">
            <a:avLst/>
          </a:prstGeom>
          <a:noFill/>
          <a:ln/>
        </p:spPr>
        <p:txBody>
          <a:bodyPr wrap="square" lIns="0" tIns="0" rIns="0" bIns="0" rtlCol="0" anchor="t"/>
          <a:lstStyle/>
          <a:p>
            <a:pPr indent="0" marL="0">
              <a:lnSpc>
                <a:spcPts val="3456"/>
              </a:lnSpc>
              <a:buNone/>
            </a:pPr>
            <a:r>
              <a:rPr lang="en-US" sz="3200" b="1" spc="-40" kern="0" dirty="0">
                <a:solidFill>
                  <a:srgbClr val="03031C"/>
                </a:solidFill>
                <a:latin typeface="Archivo" pitchFamily="34" charset="0"/>
                <a:ea typeface="Archivo" pitchFamily="34" charset="-122"/>
                <a:cs typeface="Archivo" pitchFamily="34" charset="-120"/>
              </a:rPr>
              <a:t>Tyk v5.13:</a:t>
            </a:r>
            <a:endParaRPr lang="en-US" sz="3200" dirty="0"/>
          </a:p>
          <a:p>
            <a:pPr indent="0" marL="0">
              <a:lnSpc>
                <a:spcPts val="3456"/>
              </a:lnSpc>
              <a:buNone/>
            </a:pPr>
            <a:r>
              <a:rPr lang="en-US" sz="3200" b="1" spc="-40" kern="0" dirty="0">
                <a:solidFill>
                  <a:srgbClr val="03031C"/>
                </a:solidFill>
                <a:latin typeface="Archivo" pitchFamily="34" charset="0"/>
                <a:ea typeface="Archivo" pitchFamily="34" charset="-122"/>
                <a:cs typeface="Archivo" pitchFamily="34" charset="-120"/>
              </a:rPr>
              <a:t>Observability.</a:t>
            </a:r>
            <a:endParaRPr lang="en-US" sz="3200" dirty="0"/>
          </a:p>
        </p:txBody>
      </p:sp>
      <p:sp>
        <p:nvSpPr>
          <p:cNvPr id="6" name="Text 3"/>
          <p:cNvSpPr txBox="1"/>
          <p:nvPr/>
        </p:nvSpPr>
        <p:spPr>
          <a:xfrm>
            <a:off x="429768" y="2496312"/>
            <a:ext cx="4572000" cy="502920"/>
          </a:xfrm>
          <a:prstGeom prst="rect">
            <a:avLst/>
          </a:prstGeom>
          <a:noFill/>
          <a:ln/>
        </p:spPr>
        <p:txBody>
          <a:bodyPr wrap="square" lIns="0" tIns="0" rIns="0" bIns="0" rtlCol="0" anchor="t"/>
          <a:lstStyle/>
          <a:p>
            <a:pPr indent="0" marL="0">
              <a:buNone/>
            </a:pPr>
            <a:r>
              <a:rPr lang="en-US" sz="1200" dirty="0">
                <a:solidFill>
                  <a:srgbClr val="6B6879"/>
                </a:solidFill>
                <a:latin typeface="Archivo" pitchFamily="34" charset="0"/>
                <a:ea typeface="Archivo" pitchFamily="34" charset="-122"/>
                <a:cs typeface="Archivo" pitchFamily="34" charset="-120"/>
              </a:rPr>
              <a:t>Native OpenTelemetry metrics and logs for your APIs, in the Grafana, Prometheus and Loki you already run.</a:t>
            </a:r>
            <a:endParaRPr lang="en-US" sz="1200" dirty="0"/>
          </a:p>
        </p:txBody>
      </p:sp>
      <p:sp>
        <p:nvSpPr>
          <p:cNvPr id="7" name="Text 4"/>
          <p:cNvSpPr txBox="1"/>
          <p:nvPr/>
        </p:nvSpPr>
        <p:spPr>
          <a:xfrm>
            <a:off x="429768" y="3310128"/>
            <a:ext cx="1828800" cy="182880"/>
          </a:xfrm>
          <a:prstGeom prst="rect">
            <a:avLst/>
          </a:prstGeom>
          <a:noFill/>
          <a:ln/>
        </p:spPr>
        <p:txBody>
          <a:bodyPr wrap="square" lIns="0" tIns="0" rIns="0" bIns="0" rtlCol="0" anchor="t"/>
          <a:lstStyle/>
          <a:p>
            <a:pPr indent="0" marL="0">
              <a:buNone/>
            </a:pPr>
            <a:r>
              <a:rPr lang="en-US" sz="700" spc="120" kern="0" dirty="0">
                <a:solidFill>
                  <a:srgbClr val="6B6879"/>
                </a:solidFill>
                <a:latin typeface="Space Mono" pitchFamily="34" charset="0"/>
                <a:ea typeface="Space Mono" pitchFamily="34" charset="-122"/>
                <a:cs typeface="Space Mono" pitchFamily="34" charset="-120"/>
              </a:rPr>
              <a:t>AGENDA</a:t>
            </a:r>
            <a:endParaRPr lang="en-US" sz="700" dirty="0"/>
          </a:p>
        </p:txBody>
      </p:sp>
      <p:sp>
        <p:nvSpPr>
          <p:cNvPr id="8" name="Text 5"/>
          <p:cNvSpPr txBox="1"/>
          <p:nvPr/>
        </p:nvSpPr>
        <p:spPr>
          <a:xfrm>
            <a:off x="429768" y="3547872"/>
            <a:ext cx="2286000" cy="256032"/>
          </a:xfrm>
          <a:prstGeom prst="rect">
            <a:avLst/>
          </a:prstGeom>
          <a:noFill/>
          <a:ln/>
        </p:spPr>
        <p:txBody>
          <a:bodyPr wrap="square" lIns="0" tIns="0" rIns="0" bIns="0" rtlCol="0" anchor="ctr"/>
          <a:lstStyle/>
          <a:p>
            <a:pPr indent="0" marL="0">
              <a:buNone/>
            </a:pPr>
            <a:r>
              <a:rPr lang="en-US" sz="1050" b="1" dirty="0">
                <a:solidFill>
                  <a:srgbClr val="8438FA"/>
                </a:solidFill>
                <a:latin typeface="Space Mono" pitchFamily="34" charset="0"/>
                <a:ea typeface="Space Mono" pitchFamily="34" charset="-122"/>
                <a:cs typeface="Space Mono" pitchFamily="34" charset="-120"/>
              </a:rPr>
              <a:t>01  </a:t>
            </a:r>
            <a:pPr indent="0" marL="0">
              <a:buNone/>
            </a:pPr>
            <a:r>
              <a:rPr lang="en-US" sz="1050" b="1" dirty="0">
                <a:solidFill>
                  <a:srgbClr val="03031C"/>
                </a:solidFill>
                <a:latin typeface="Archivo" pitchFamily="34" charset="0"/>
                <a:ea typeface="Archivo" pitchFamily="34" charset="-122"/>
                <a:cs typeface="Archivo" pitchFamily="34" charset="-120"/>
              </a:rPr>
              <a:t>The questions teams ask</a:t>
            </a:r>
            <a:endParaRPr lang="en-US" sz="1050" dirty="0"/>
          </a:p>
        </p:txBody>
      </p:sp>
      <p:sp>
        <p:nvSpPr>
          <p:cNvPr id="9" name="Text 6"/>
          <p:cNvSpPr txBox="1"/>
          <p:nvPr/>
        </p:nvSpPr>
        <p:spPr>
          <a:xfrm>
            <a:off x="2761488" y="3547872"/>
            <a:ext cx="2286000" cy="256032"/>
          </a:xfrm>
          <a:prstGeom prst="rect">
            <a:avLst/>
          </a:prstGeom>
          <a:noFill/>
          <a:ln/>
        </p:spPr>
        <p:txBody>
          <a:bodyPr wrap="square" lIns="0" tIns="0" rIns="0" bIns="0" rtlCol="0" anchor="ctr"/>
          <a:lstStyle/>
          <a:p>
            <a:pPr indent="0" marL="0">
              <a:buNone/>
            </a:pPr>
            <a:r>
              <a:rPr lang="en-US" sz="1050" b="1" dirty="0">
                <a:solidFill>
                  <a:srgbClr val="8438FA"/>
                </a:solidFill>
                <a:latin typeface="Space Mono" pitchFamily="34" charset="0"/>
                <a:ea typeface="Space Mono" pitchFamily="34" charset="-122"/>
                <a:cs typeface="Space Mono" pitchFamily="34" charset="-120"/>
              </a:rPr>
              <a:t>02  </a:t>
            </a:r>
            <a:pPr indent="0" marL="0">
              <a:buNone/>
            </a:pPr>
            <a:r>
              <a:rPr lang="en-US" sz="1050" b="1" dirty="0">
                <a:solidFill>
                  <a:srgbClr val="03031C"/>
                </a:solidFill>
                <a:latin typeface="Archivo" pitchFamily="34" charset="0"/>
                <a:ea typeface="Archivo" pitchFamily="34" charset="-122"/>
                <a:cs typeface="Archivo" pitchFamily="34" charset="-120"/>
              </a:rPr>
              <a:t>What’s new in 5.13</a:t>
            </a:r>
            <a:endParaRPr lang="en-US" sz="1050" dirty="0"/>
          </a:p>
        </p:txBody>
      </p:sp>
      <p:sp>
        <p:nvSpPr>
          <p:cNvPr id="10" name="Text 7"/>
          <p:cNvSpPr txBox="1"/>
          <p:nvPr/>
        </p:nvSpPr>
        <p:spPr>
          <a:xfrm>
            <a:off x="429768" y="3858768"/>
            <a:ext cx="2286000" cy="256032"/>
          </a:xfrm>
          <a:prstGeom prst="rect">
            <a:avLst/>
          </a:prstGeom>
          <a:noFill/>
          <a:ln/>
        </p:spPr>
        <p:txBody>
          <a:bodyPr wrap="square" lIns="0" tIns="0" rIns="0" bIns="0" rtlCol="0" anchor="ctr"/>
          <a:lstStyle/>
          <a:p>
            <a:pPr indent="0" marL="0">
              <a:buNone/>
            </a:pPr>
            <a:r>
              <a:rPr lang="en-US" sz="1050" b="1" dirty="0">
                <a:solidFill>
                  <a:srgbClr val="8438FA"/>
                </a:solidFill>
                <a:latin typeface="Space Mono" pitchFamily="34" charset="0"/>
                <a:ea typeface="Space Mono" pitchFamily="34" charset="-122"/>
                <a:cs typeface="Space Mono" pitchFamily="34" charset="-120"/>
              </a:rPr>
              <a:t>03  </a:t>
            </a:r>
            <a:pPr indent="0" marL="0">
              <a:buNone/>
            </a:pPr>
            <a:r>
              <a:rPr lang="en-US" sz="1050" b="1" dirty="0">
                <a:solidFill>
                  <a:srgbClr val="03031C"/>
                </a:solidFill>
                <a:latin typeface="Archivo" pitchFamily="34" charset="0"/>
                <a:ea typeface="Archivo" pitchFamily="34" charset="-122"/>
                <a:cs typeface="Archivo" pitchFamily="34" charset="-120"/>
              </a:rPr>
              <a:t>Live demo</a:t>
            </a:r>
            <a:endParaRPr lang="en-US" sz="1050" dirty="0"/>
          </a:p>
        </p:txBody>
      </p:sp>
      <p:sp>
        <p:nvSpPr>
          <p:cNvPr id="11" name="Text 8"/>
          <p:cNvSpPr txBox="1"/>
          <p:nvPr/>
        </p:nvSpPr>
        <p:spPr>
          <a:xfrm>
            <a:off x="2761488" y="3858768"/>
            <a:ext cx="2286000" cy="256032"/>
          </a:xfrm>
          <a:prstGeom prst="rect">
            <a:avLst/>
          </a:prstGeom>
          <a:noFill/>
          <a:ln/>
        </p:spPr>
        <p:txBody>
          <a:bodyPr wrap="square" lIns="0" tIns="0" rIns="0" bIns="0" rtlCol="0" anchor="ctr"/>
          <a:lstStyle/>
          <a:p>
            <a:pPr indent="0" marL="0">
              <a:buNone/>
            </a:pPr>
            <a:r>
              <a:rPr lang="en-US" sz="1050" b="1" dirty="0">
                <a:solidFill>
                  <a:srgbClr val="8438FA"/>
                </a:solidFill>
                <a:latin typeface="Space Mono" pitchFamily="34" charset="0"/>
                <a:ea typeface="Space Mono" pitchFamily="34" charset="-122"/>
                <a:cs typeface="Space Mono" pitchFamily="34" charset="-120"/>
              </a:rPr>
              <a:t>04  </a:t>
            </a:r>
            <a:pPr indent="0" marL="0">
              <a:buNone/>
            </a:pPr>
            <a:r>
              <a:rPr lang="en-US" sz="1050" b="1" dirty="0">
                <a:solidFill>
                  <a:srgbClr val="03031C"/>
                </a:solidFill>
                <a:latin typeface="Archivo" pitchFamily="34" charset="0"/>
                <a:ea typeface="Archivo" pitchFamily="34" charset="-122"/>
                <a:cs typeface="Archivo" pitchFamily="34" charset="-120"/>
              </a:rPr>
              <a:t>Getting started</a:t>
            </a:r>
            <a:endParaRPr lang="en-US" sz="1050" dirty="0"/>
          </a:p>
        </p:txBody>
      </p:sp>
      <p:sp>
        <p:nvSpPr>
          <p:cNvPr id="12" name="Text 9"/>
          <p:cNvSpPr txBox="1"/>
          <p:nvPr/>
        </p:nvSpPr>
        <p:spPr>
          <a:xfrm>
            <a:off x="429768" y="4434840"/>
            <a:ext cx="4572000" cy="182880"/>
          </a:xfrm>
          <a:prstGeom prst="rect">
            <a:avLst/>
          </a:prstGeom>
          <a:noFill/>
          <a:ln/>
        </p:spPr>
        <p:txBody>
          <a:bodyPr wrap="square" lIns="0" tIns="0" rIns="0" bIns="0" rtlCol="0" anchor="t"/>
          <a:lstStyle/>
          <a:p>
            <a:pPr indent="0" marL="0">
              <a:buNone/>
            </a:pPr>
            <a:r>
              <a:rPr lang="en-US" sz="700" dirty="0">
                <a:solidFill>
                  <a:srgbClr val="6B6879"/>
                </a:solidFill>
                <a:latin typeface="Space Mono" pitchFamily="34" charset="0"/>
                <a:ea typeface="Space Mono" pitchFamily="34" charset="-122"/>
                <a:cs typeface="Space Mono" pitchFamily="34" charset="-120"/>
              </a:rPr>
              <a:t>Tyk Gateway 5.13  ·  OpenTelemetry metrics, logs and traces</a:t>
            </a:r>
            <a:endParaRPr lang="en-US" sz="700" dirty="0"/>
          </a:p>
        </p:txBody>
      </p:sp>
      <p:sp>
        <p:nvSpPr>
          <p:cNvPr id="13" name="Shape 10"/>
          <p:cNvSpPr/>
          <p:nvPr/>
        </p:nvSpPr>
        <p:spPr>
          <a:xfrm>
            <a:off x="5532120" y="566928"/>
            <a:ext cx="3182112" cy="4023360"/>
          </a:xfrm>
          <a:prstGeom prst="roundRect">
            <a:avLst>
              <a:gd name="adj" fmla="val 4023"/>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4" name="Shape 11"/>
          <p:cNvSpPr/>
          <p:nvPr/>
        </p:nvSpPr>
        <p:spPr>
          <a:xfrm>
            <a:off x="5806440" y="859536"/>
            <a:ext cx="41148" cy="41148"/>
          </a:xfrm>
          <a:prstGeom prst="ellipse">
            <a:avLst/>
          </a:prstGeom>
          <a:solidFill>
            <a:srgbClr val="A38FD9"/>
          </a:solidFill>
          <a:ln/>
        </p:spPr>
      </p:sp>
      <p:sp>
        <p:nvSpPr>
          <p:cNvPr id="15" name="Shape 12"/>
          <p:cNvSpPr/>
          <p:nvPr/>
        </p:nvSpPr>
        <p:spPr>
          <a:xfrm>
            <a:off x="6318504" y="859536"/>
            <a:ext cx="41148" cy="41148"/>
          </a:xfrm>
          <a:prstGeom prst="ellipse">
            <a:avLst/>
          </a:prstGeom>
          <a:solidFill>
            <a:srgbClr val="A38FD9"/>
          </a:solidFill>
          <a:ln/>
        </p:spPr>
      </p:sp>
      <p:sp>
        <p:nvSpPr>
          <p:cNvPr id="16" name="Shape 13"/>
          <p:cNvSpPr/>
          <p:nvPr/>
        </p:nvSpPr>
        <p:spPr>
          <a:xfrm>
            <a:off x="6830568" y="859536"/>
            <a:ext cx="41148" cy="41148"/>
          </a:xfrm>
          <a:prstGeom prst="ellipse">
            <a:avLst/>
          </a:prstGeom>
          <a:solidFill>
            <a:srgbClr val="A38FD9"/>
          </a:solidFill>
          <a:ln/>
        </p:spPr>
      </p:sp>
      <p:sp>
        <p:nvSpPr>
          <p:cNvPr id="17" name="Shape 14"/>
          <p:cNvSpPr/>
          <p:nvPr/>
        </p:nvSpPr>
        <p:spPr>
          <a:xfrm>
            <a:off x="7342632" y="859536"/>
            <a:ext cx="41148" cy="41148"/>
          </a:xfrm>
          <a:prstGeom prst="ellipse">
            <a:avLst/>
          </a:prstGeom>
          <a:solidFill>
            <a:srgbClr val="A38FD9"/>
          </a:solidFill>
          <a:ln/>
        </p:spPr>
      </p:sp>
      <p:sp>
        <p:nvSpPr>
          <p:cNvPr id="18" name="Shape 15"/>
          <p:cNvSpPr/>
          <p:nvPr/>
        </p:nvSpPr>
        <p:spPr>
          <a:xfrm>
            <a:off x="7854696" y="859536"/>
            <a:ext cx="41148" cy="41148"/>
          </a:xfrm>
          <a:prstGeom prst="ellipse">
            <a:avLst/>
          </a:prstGeom>
          <a:solidFill>
            <a:srgbClr val="A38FD9"/>
          </a:solidFill>
          <a:ln/>
        </p:spPr>
      </p:sp>
      <p:sp>
        <p:nvSpPr>
          <p:cNvPr id="19" name="Shape 16"/>
          <p:cNvSpPr/>
          <p:nvPr/>
        </p:nvSpPr>
        <p:spPr>
          <a:xfrm>
            <a:off x="8366760" y="859536"/>
            <a:ext cx="41148" cy="41148"/>
          </a:xfrm>
          <a:prstGeom prst="ellipse">
            <a:avLst/>
          </a:prstGeom>
          <a:solidFill>
            <a:srgbClr val="A38FD9"/>
          </a:solidFill>
          <a:ln/>
        </p:spPr>
      </p:sp>
      <p:sp>
        <p:nvSpPr>
          <p:cNvPr id="20" name="Shape 17"/>
          <p:cNvSpPr/>
          <p:nvPr/>
        </p:nvSpPr>
        <p:spPr>
          <a:xfrm>
            <a:off x="5806440" y="1408176"/>
            <a:ext cx="41148" cy="41148"/>
          </a:xfrm>
          <a:prstGeom prst="ellipse">
            <a:avLst/>
          </a:prstGeom>
          <a:solidFill>
            <a:srgbClr val="A38FD9"/>
          </a:solidFill>
          <a:ln/>
        </p:spPr>
      </p:sp>
      <p:sp>
        <p:nvSpPr>
          <p:cNvPr id="21" name="Shape 18"/>
          <p:cNvSpPr/>
          <p:nvPr/>
        </p:nvSpPr>
        <p:spPr>
          <a:xfrm>
            <a:off x="6318504" y="1408176"/>
            <a:ext cx="41148" cy="41148"/>
          </a:xfrm>
          <a:prstGeom prst="ellipse">
            <a:avLst/>
          </a:prstGeom>
          <a:solidFill>
            <a:srgbClr val="A38FD9"/>
          </a:solidFill>
          <a:ln/>
        </p:spPr>
      </p:sp>
      <p:sp>
        <p:nvSpPr>
          <p:cNvPr id="22" name="Shape 19"/>
          <p:cNvSpPr/>
          <p:nvPr/>
        </p:nvSpPr>
        <p:spPr>
          <a:xfrm>
            <a:off x="6830568" y="1408176"/>
            <a:ext cx="41148" cy="41148"/>
          </a:xfrm>
          <a:prstGeom prst="ellipse">
            <a:avLst/>
          </a:prstGeom>
          <a:solidFill>
            <a:srgbClr val="A38FD9"/>
          </a:solidFill>
          <a:ln/>
        </p:spPr>
      </p:sp>
      <p:sp>
        <p:nvSpPr>
          <p:cNvPr id="23" name="Shape 20"/>
          <p:cNvSpPr/>
          <p:nvPr/>
        </p:nvSpPr>
        <p:spPr>
          <a:xfrm>
            <a:off x="7342632" y="1408176"/>
            <a:ext cx="41148" cy="41148"/>
          </a:xfrm>
          <a:prstGeom prst="ellipse">
            <a:avLst/>
          </a:prstGeom>
          <a:solidFill>
            <a:srgbClr val="A38FD9"/>
          </a:solidFill>
          <a:ln/>
        </p:spPr>
      </p:sp>
      <p:sp>
        <p:nvSpPr>
          <p:cNvPr id="24" name="Shape 21"/>
          <p:cNvSpPr/>
          <p:nvPr/>
        </p:nvSpPr>
        <p:spPr>
          <a:xfrm>
            <a:off x="7854696" y="1408176"/>
            <a:ext cx="41148" cy="41148"/>
          </a:xfrm>
          <a:prstGeom prst="ellipse">
            <a:avLst/>
          </a:prstGeom>
          <a:solidFill>
            <a:srgbClr val="A38FD9"/>
          </a:solidFill>
          <a:ln/>
        </p:spPr>
      </p:sp>
      <p:sp>
        <p:nvSpPr>
          <p:cNvPr id="25" name="Shape 22"/>
          <p:cNvSpPr/>
          <p:nvPr/>
        </p:nvSpPr>
        <p:spPr>
          <a:xfrm>
            <a:off x="8366760" y="1408176"/>
            <a:ext cx="41148" cy="41148"/>
          </a:xfrm>
          <a:prstGeom prst="ellipse">
            <a:avLst/>
          </a:prstGeom>
          <a:solidFill>
            <a:srgbClr val="A38FD9"/>
          </a:solidFill>
          <a:ln/>
        </p:spPr>
      </p:sp>
      <p:sp>
        <p:nvSpPr>
          <p:cNvPr id="26" name="Shape 23"/>
          <p:cNvSpPr/>
          <p:nvPr/>
        </p:nvSpPr>
        <p:spPr>
          <a:xfrm>
            <a:off x="5806440" y="1956816"/>
            <a:ext cx="41148" cy="41148"/>
          </a:xfrm>
          <a:prstGeom prst="ellipse">
            <a:avLst/>
          </a:prstGeom>
          <a:solidFill>
            <a:srgbClr val="A38FD9"/>
          </a:solidFill>
          <a:ln/>
        </p:spPr>
      </p:sp>
      <p:sp>
        <p:nvSpPr>
          <p:cNvPr id="27" name="Shape 24"/>
          <p:cNvSpPr/>
          <p:nvPr/>
        </p:nvSpPr>
        <p:spPr>
          <a:xfrm>
            <a:off x="6318504" y="1956816"/>
            <a:ext cx="41148" cy="41148"/>
          </a:xfrm>
          <a:prstGeom prst="ellipse">
            <a:avLst/>
          </a:prstGeom>
          <a:solidFill>
            <a:srgbClr val="A38FD9"/>
          </a:solidFill>
          <a:ln/>
        </p:spPr>
      </p:sp>
      <p:sp>
        <p:nvSpPr>
          <p:cNvPr id="28" name="Shape 25"/>
          <p:cNvSpPr/>
          <p:nvPr/>
        </p:nvSpPr>
        <p:spPr>
          <a:xfrm>
            <a:off x="6830568" y="1956816"/>
            <a:ext cx="41148" cy="41148"/>
          </a:xfrm>
          <a:prstGeom prst="ellipse">
            <a:avLst/>
          </a:prstGeom>
          <a:solidFill>
            <a:srgbClr val="A38FD9"/>
          </a:solidFill>
          <a:ln/>
        </p:spPr>
      </p:sp>
      <p:sp>
        <p:nvSpPr>
          <p:cNvPr id="29" name="Shape 26"/>
          <p:cNvSpPr/>
          <p:nvPr/>
        </p:nvSpPr>
        <p:spPr>
          <a:xfrm>
            <a:off x="7342632" y="1956816"/>
            <a:ext cx="41148" cy="41148"/>
          </a:xfrm>
          <a:prstGeom prst="ellipse">
            <a:avLst/>
          </a:prstGeom>
          <a:solidFill>
            <a:srgbClr val="A38FD9"/>
          </a:solidFill>
          <a:ln/>
        </p:spPr>
      </p:sp>
      <p:sp>
        <p:nvSpPr>
          <p:cNvPr id="30" name="Shape 27"/>
          <p:cNvSpPr/>
          <p:nvPr/>
        </p:nvSpPr>
        <p:spPr>
          <a:xfrm>
            <a:off x="7854696" y="1956816"/>
            <a:ext cx="41148" cy="41148"/>
          </a:xfrm>
          <a:prstGeom prst="ellipse">
            <a:avLst/>
          </a:prstGeom>
          <a:solidFill>
            <a:srgbClr val="A38FD9"/>
          </a:solidFill>
          <a:ln/>
        </p:spPr>
      </p:sp>
      <p:sp>
        <p:nvSpPr>
          <p:cNvPr id="31" name="Shape 28"/>
          <p:cNvSpPr/>
          <p:nvPr/>
        </p:nvSpPr>
        <p:spPr>
          <a:xfrm>
            <a:off x="8366760" y="1956816"/>
            <a:ext cx="41148" cy="41148"/>
          </a:xfrm>
          <a:prstGeom prst="ellipse">
            <a:avLst/>
          </a:prstGeom>
          <a:solidFill>
            <a:srgbClr val="A38FD9"/>
          </a:solidFill>
          <a:ln/>
        </p:spPr>
      </p:sp>
      <p:sp>
        <p:nvSpPr>
          <p:cNvPr id="32" name="Shape 29"/>
          <p:cNvSpPr/>
          <p:nvPr/>
        </p:nvSpPr>
        <p:spPr>
          <a:xfrm>
            <a:off x="5806440" y="2505456"/>
            <a:ext cx="41148" cy="41148"/>
          </a:xfrm>
          <a:prstGeom prst="ellipse">
            <a:avLst/>
          </a:prstGeom>
          <a:solidFill>
            <a:srgbClr val="A38FD9"/>
          </a:solidFill>
          <a:ln/>
        </p:spPr>
      </p:sp>
      <p:sp>
        <p:nvSpPr>
          <p:cNvPr id="33" name="Shape 30"/>
          <p:cNvSpPr/>
          <p:nvPr/>
        </p:nvSpPr>
        <p:spPr>
          <a:xfrm>
            <a:off x="6318504" y="2505456"/>
            <a:ext cx="41148" cy="41148"/>
          </a:xfrm>
          <a:prstGeom prst="ellipse">
            <a:avLst/>
          </a:prstGeom>
          <a:solidFill>
            <a:srgbClr val="A38FD9"/>
          </a:solidFill>
          <a:ln/>
        </p:spPr>
      </p:sp>
      <p:sp>
        <p:nvSpPr>
          <p:cNvPr id="34" name="Shape 31"/>
          <p:cNvSpPr/>
          <p:nvPr/>
        </p:nvSpPr>
        <p:spPr>
          <a:xfrm>
            <a:off x="6830568" y="2505456"/>
            <a:ext cx="41148" cy="41148"/>
          </a:xfrm>
          <a:prstGeom prst="ellipse">
            <a:avLst/>
          </a:prstGeom>
          <a:solidFill>
            <a:srgbClr val="A38FD9"/>
          </a:solidFill>
          <a:ln/>
        </p:spPr>
      </p:sp>
      <p:sp>
        <p:nvSpPr>
          <p:cNvPr id="35" name="Shape 32"/>
          <p:cNvSpPr/>
          <p:nvPr/>
        </p:nvSpPr>
        <p:spPr>
          <a:xfrm>
            <a:off x="7342632" y="2505456"/>
            <a:ext cx="41148" cy="41148"/>
          </a:xfrm>
          <a:prstGeom prst="ellipse">
            <a:avLst/>
          </a:prstGeom>
          <a:solidFill>
            <a:srgbClr val="A38FD9"/>
          </a:solidFill>
          <a:ln/>
        </p:spPr>
      </p:sp>
      <p:sp>
        <p:nvSpPr>
          <p:cNvPr id="36" name="Shape 33"/>
          <p:cNvSpPr/>
          <p:nvPr/>
        </p:nvSpPr>
        <p:spPr>
          <a:xfrm>
            <a:off x="7854696" y="2505456"/>
            <a:ext cx="41148" cy="41148"/>
          </a:xfrm>
          <a:prstGeom prst="ellipse">
            <a:avLst/>
          </a:prstGeom>
          <a:solidFill>
            <a:srgbClr val="A38FD9"/>
          </a:solidFill>
          <a:ln/>
        </p:spPr>
      </p:sp>
      <p:sp>
        <p:nvSpPr>
          <p:cNvPr id="37" name="Shape 34"/>
          <p:cNvSpPr/>
          <p:nvPr/>
        </p:nvSpPr>
        <p:spPr>
          <a:xfrm>
            <a:off x="8366760" y="2505456"/>
            <a:ext cx="41148" cy="41148"/>
          </a:xfrm>
          <a:prstGeom prst="ellipse">
            <a:avLst/>
          </a:prstGeom>
          <a:solidFill>
            <a:srgbClr val="A38FD9"/>
          </a:solidFill>
          <a:ln/>
        </p:spPr>
      </p:sp>
      <p:sp>
        <p:nvSpPr>
          <p:cNvPr id="38" name="Shape 35"/>
          <p:cNvSpPr/>
          <p:nvPr/>
        </p:nvSpPr>
        <p:spPr>
          <a:xfrm>
            <a:off x="5806440" y="3054096"/>
            <a:ext cx="41148" cy="41148"/>
          </a:xfrm>
          <a:prstGeom prst="ellipse">
            <a:avLst/>
          </a:prstGeom>
          <a:solidFill>
            <a:srgbClr val="A38FD9"/>
          </a:solidFill>
          <a:ln/>
        </p:spPr>
      </p:sp>
      <p:sp>
        <p:nvSpPr>
          <p:cNvPr id="39" name="Shape 36"/>
          <p:cNvSpPr/>
          <p:nvPr/>
        </p:nvSpPr>
        <p:spPr>
          <a:xfrm>
            <a:off x="6318504" y="3054096"/>
            <a:ext cx="41148" cy="41148"/>
          </a:xfrm>
          <a:prstGeom prst="ellipse">
            <a:avLst/>
          </a:prstGeom>
          <a:solidFill>
            <a:srgbClr val="A38FD9"/>
          </a:solidFill>
          <a:ln/>
        </p:spPr>
      </p:sp>
      <p:sp>
        <p:nvSpPr>
          <p:cNvPr id="40" name="Shape 37"/>
          <p:cNvSpPr/>
          <p:nvPr/>
        </p:nvSpPr>
        <p:spPr>
          <a:xfrm>
            <a:off x="6830568" y="3054096"/>
            <a:ext cx="41148" cy="41148"/>
          </a:xfrm>
          <a:prstGeom prst="ellipse">
            <a:avLst/>
          </a:prstGeom>
          <a:solidFill>
            <a:srgbClr val="A38FD9"/>
          </a:solidFill>
          <a:ln/>
        </p:spPr>
      </p:sp>
      <p:sp>
        <p:nvSpPr>
          <p:cNvPr id="41" name="Shape 38"/>
          <p:cNvSpPr/>
          <p:nvPr/>
        </p:nvSpPr>
        <p:spPr>
          <a:xfrm>
            <a:off x="7342632" y="3054096"/>
            <a:ext cx="41148" cy="41148"/>
          </a:xfrm>
          <a:prstGeom prst="ellipse">
            <a:avLst/>
          </a:prstGeom>
          <a:solidFill>
            <a:srgbClr val="A38FD9"/>
          </a:solidFill>
          <a:ln/>
        </p:spPr>
      </p:sp>
      <p:sp>
        <p:nvSpPr>
          <p:cNvPr id="42" name="Shape 39"/>
          <p:cNvSpPr/>
          <p:nvPr/>
        </p:nvSpPr>
        <p:spPr>
          <a:xfrm>
            <a:off x="7854696" y="3054096"/>
            <a:ext cx="41148" cy="41148"/>
          </a:xfrm>
          <a:prstGeom prst="ellipse">
            <a:avLst/>
          </a:prstGeom>
          <a:solidFill>
            <a:srgbClr val="A38FD9"/>
          </a:solidFill>
          <a:ln/>
        </p:spPr>
      </p:sp>
      <p:sp>
        <p:nvSpPr>
          <p:cNvPr id="43" name="Shape 40"/>
          <p:cNvSpPr/>
          <p:nvPr/>
        </p:nvSpPr>
        <p:spPr>
          <a:xfrm>
            <a:off x="8366760" y="3054096"/>
            <a:ext cx="41148" cy="41148"/>
          </a:xfrm>
          <a:prstGeom prst="ellipse">
            <a:avLst/>
          </a:prstGeom>
          <a:solidFill>
            <a:srgbClr val="A38FD9"/>
          </a:solidFill>
          <a:ln/>
        </p:spPr>
      </p:sp>
      <p:sp>
        <p:nvSpPr>
          <p:cNvPr id="44" name="Shape 41"/>
          <p:cNvSpPr/>
          <p:nvPr/>
        </p:nvSpPr>
        <p:spPr>
          <a:xfrm>
            <a:off x="5806440" y="3602736"/>
            <a:ext cx="41148" cy="41148"/>
          </a:xfrm>
          <a:prstGeom prst="ellipse">
            <a:avLst/>
          </a:prstGeom>
          <a:solidFill>
            <a:srgbClr val="A38FD9"/>
          </a:solidFill>
          <a:ln/>
        </p:spPr>
      </p:sp>
      <p:sp>
        <p:nvSpPr>
          <p:cNvPr id="45" name="Shape 42"/>
          <p:cNvSpPr/>
          <p:nvPr/>
        </p:nvSpPr>
        <p:spPr>
          <a:xfrm>
            <a:off x="6318504" y="3602736"/>
            <a:ext cx="41148" cy="41148"/>
          </a:xfrm>
          <a:prstGeom prst="ellipse">
            <a:avLst/>
          </a:prstGeom>
          <a:solidFill>
            <a:srgbClr val="A38FD9"/>
          </a:solidFill>
          <a:ln/>
        </p:spPr>
      </p:sp>
      <p:sp>
        <p:nvSpPr>
          <p:cNvPr id="46" name="Shape 43"/>
          <p:cNvSpPr/>
          <p:nvPr/>
        </p:nvSpPr>
        <p:spPr>
          <a:xfrm>
            <a:off x="6830568" y="3602736"/>
            <a:ext cx="41148" cy="41148"/>
          </a:xfrm>
          <a:prstGeom prst="ellipse">
            <a:avLst/>
          </a:prstGeom>
          <a:solidFill>
            <a:srgbClr val="A38FD9"/>
          </a:solidFill>
          <a:ln/>
        </p:spPr>
      </p:sp>
      <p:sp>
        <p:nvSpPr>
          <p:cNvPr id="47" name="Shape 44"/>
          <p:cNvSpPr/>
          <p:nvPr/>
        </p:nvSpPr>
        <p:spPr>
          <a:xfrm>
            <a:off x="7342632" y="3602736"/>
            <a:ext cx="41148" cy="41148"/>
          </a:xfrm>
          <a:prstGeom prst="ellipse">
            <a:avLst/>
          </a:prstGeom>
          <a:solidFill>
            <a:srgbClr val="A38FD9"/>
          </a:solidFill>
          <a:ln/>
        </p:spPr>
      </p:sp>
      <p:sp>
        <p:nvSpPr>
          <p:cNvPr id="48" name="Shape 45"/>
          <p:cNvSpPr/>
          <p:nvPr/>
        </p:nvSpPr>
        <p:spPr>
          <a:xfrm>
            <a:off x="7854696" y="3602736"/>
            <a:ext cx="41148" cy="41148"/>
          </a:xfrm>
          <a:prstGeom prst="ellipse">
            <a:avLst/>
          </a:prstGeom>
          <a:solidFill>
            <a:srgbClr val="A38FD9"/>
          </a:solidFill>
          <a:ln/>
        </p:spPr>
      </p:sp>
      <p:sp>
        <p:nvSpPr>
          <p:cNvPr id="49" name="Shape 46"/>
          <p:cNvSpPr/>
          <p:nvPr/>
        </p:nvSpPr>
        <p:spPr>
          <a:xfrm>
            <a:off x="8366760" y="3602736"/>
            <a:ext cx="41148" cy="41148"/>
          </a:xfrm>
          <a:prstGeom prst="ellipse">
            <a:avLst/>
          </a:prstGeom>
          <a:solidFill>
            <a:srgbClr val="A38FD9"/>
          </a:solidFill>
          <a:ln/>
        </p:spPr>
      </p:sp>
      <p:sp>
        <p:nvSpPr>
          <p:cNvPr id="50" name="Shape 47"/>
          <p:cNvSpPr/>
          <p:nvPr/>
        </p:nvSpPr>
        <p:spPr>
          <a:xfrm>
            <a:off x="5806440" y="4151376"/>
            <a:ext cx="41148" cy="41148"/>
          </a:xfrm>
          <a:prstGeom prst="ellipse">
            <a:avLst/>
          </a:prstGeom>
          <a:solidFill>
            <a:srgbClr val="A38FD9"/>
          </a:solidFill>
          <a:ln/>
        </p:spPr>
      </p:sp>
      <p:sp>
        <p:nvSpPr>
          <p:cNvPr id="51" name="Shape 48"/>
          <p:cNvSpPr/>
          <p:nvPr/>
        </p:nvSpPr>
        <p:spPr>
          <a:xfrm>
            <a:off x="6318504" y="4151376"/>
            <a:ext cx="41148" cy="41148"/>
          </a:xfrm>
          <a:prstGeom prst="ellipse">
            <a:avLst/>
          </a:prstGeom>
          <a:solidFill>
            <a:srgbClr val="A38FD9"/>
          </a:solidFill>
          <a:ln/>
        </p:spPr>
      </p:sp>
      <p:sp>
        <p:nvSpPr>
          <p:cNvPr id="52" name="Shape 49"/>
          <p:cNvSpPr/>
          <p:nvPr/>
        </p:nvSpPr>
        <p:spPr>
          <a:xfrm>
            <a:off x="6830568" y="4151376"/>
            <a:ext cx="41148" cy="41148"/>
          </a:xfrm>
          <a:prstGeom prst="ellipse">
            <a:avLst/>
          </a:prstGeom>
          <a:solidFill>
            <a:srgbClr val="A38FD9"/>
          </a:solidFill>
          <a:ln/>
        </p:spPr>
      </p:sp>
      <p:sp>
        <p:nvSpPr>
          <p:cNvPr id="53" name="Shape 50"/>
          <p:cNvSpPr/>
          <p:nvPr/>
        </p:nvSpPr>
        <p:spPr>
          <a:xfrm>
            <a:off x="7342632" y="4151376"/>
            <a:ext cx="41148" cy="41148"/>
          </a:xfrm>
          <a:prstGeom prst="ellipse">
            <a:avLst/>
          </a:prstGeom>
          <a:solidFill>
            <a:srgbClr val="A38FD9"/>
          </a:solidFill>
          <a:ln/>
        </p:spPr>
      </p:sp>
      <p:sp>
        <p:nvSpPr>
          <p:cNvPr id="54" name="Shape 51"/>
          <p:cNvSpPr/>
          <p:nvPr/>
        </p:nvSpPr>
        <p:spPr>
          <a:xfrm>
            <a:off x="7854696" y="4151376"/>
            <a:ext cx="41148" cy="41148"/>
          </a:xfrm>
          <a:prstGeom prst="ellipse">
            <a:avLst/>
          </a:prstGeom>
          <a:solidFill>
            <a:srgbClr val="A38FD9"/>
          </a:solidFill>
          <a:ln/>
        </p:spPr>
      </p:sp>
      <p:sp>
        <p:nvSpPr>
          <p:cNvPr id="55" name="Shape 52"/>
          <p:cNvSpPr/>
          <p:nvPr/>
        </p:nvSpPr>
        <p:spPr>
          <a:xfrm>
            <a:off x="8366760" y="4151376"/>
            <a:ext cx="41148" cy="41148"/>
          </a:xfrm>
          <a:prstGeom prst="ellipse">
            <a:avLst/>
          </a:prstGeom>
          <a:solidFill>
            <a:srgbClr val="A38FD9"/>
          </a:solidFill>
          <a:ln/>
        </p:spPr>
      </p:sp>
      <p:pic>
        <p:nvPicPr>
          <p:cNvPr id="56" name="Image 1" descr="Tyk">    </p:cNvPr>
          <p:cNvPicPr>
            <a:picLocks noChangeAspect="1"/>
          </p:cNvPicPr>
          <p:nvPr/>
        </p:nvPicPr>
        <p:blipFill>
          <a:blip r:embed="rId2"/>
          <a:stretch>
            <a:fillRect/>
          </a:stretch>
        </p:blipFill>
        <p:spPr>
          <a:xfrm>
            <a:off x="6391656" y="1847088"/>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Context  ·  02</a:t>
            </a:r>
            <a:endParaRPr lang="en-US" sz="700" dirty="0"/>
          </a:p>
        </p:txBody>
      </p:sp>
      <p:sp>
        <p:nvSpPr>
          <p:cNvPr id="4" name="Text 1"/>
          <p:cNvSpPr txBox="1"/>
          <p:nvPr/>
        </p:nvSpPr>
        <p:spPr>
          <a:xfrm>
            <a:off x="429768" y="420624"/>
            <a:ext cx="1246784"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WHAT TEAMS ASK</a:t>
            </a:r>
            <a:endParaRPr lang="en-US" sz="750" dirty="0"/>
          </a:p>
        </p:txBody>
      </p:sp>
      <p:sp>
        <p:nvSpPr>
          <p:cNvPr id="5" name="Shape 2"/>
          <p:cNvSpPr/>
          <p:nvPr/>
        </p:nvSpPr>
        <p:spPr>
          <a:xfrm>
            <a:off x="4388485" y="930402"/>
            <a:ext cx="1601534"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Where most API teams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are today.</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The stack is already in place. The questions about API consumers are what’s hard to answer.</a:t>
            </a:r>
            <a:endParaRPr lang="en-US" sz="1150" dirty="0"/>
          </a:p>
        </p:txBody>
      </p:sp>
      <p:sp>
        <p:nvSpPr>
          <p:cNvPr id="8" name="Shape 5"/>
          <p:cNvSpPr/>
          <p:nvPr/>
        </p:nvSpPr>
        <p:spPr>
          <a:xfrm>
            <a:off x="429768" y="1828800"/>
            <a:ext cx="2639568" cy="1170432"/>
          </a:xfrm>
          <a:prstGeom prst="roundRect">
            <a:avLst>
              <a:gd name="adj" fmla="val 8594"/>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9" name="Text 6"/>
          <p:cNvSpPr txBox="1"/>
          <p:nvPr/>
        </p:nvSpPr>
        <p:spPr>
          <a:xfrm>
            <a:off x="594360" y="1975104"/>
            <a:ext cx="2310384" cy="182880"/>
          </a:xfrm>
          <a:prstGeom prst="rect">
            <a:avLst/>
          </a:prstGeom>
          <a:noFill/>
          <a:ln/>
        </p:spPr>
        <p:txBody>
          <a:bodyPr wrap="square" lIns="0" tIns="0" rIns="0" bIns="0" rtlCol="0" anchor="t"/>
          <a:lstStyle/>
          <a:p>
            <a:pPr indent="0" marL="0">
              <a:buNone/>
            </a:pPr>
            <a:r>
              <a:rPr lang="en-US" sz="700" spc="120" kern="0" dirty="0">
                <a:solidFill>
                  <a:srgbClr val="6B6879"/>
                </a:solidFill>
                <a:latin typeface="Space Mono" pitchFamily="34" charset="0"/>
                <a:ea typeface="Space Mono" pitchFamily="34" charset="-122"/>
                <a:cs typeface="Space Mono" pitchFamily="34" charset="-120"/>
              </a:rPr>
              <a:t>CURRENT STACK</a:t>
            </a:r>
            <a:endParaRPr lang="en-US" sz="700" dirty="0"/>
          </a:p>
        </p:txBody>
      </p:sp>
      <p:sp>
        <p:nvSpPr>
          <p:cNvPr id="10" name="Text 7"/>
          <p:cNvSpPr txBox="1"/>
          <p:nvPr/>
        </p:nvSpPr>
        <p:spPr>
          <a:xfrm>
            <a:off x="594360" y="2212848"/>
            <a:ext cx="2310384" cy="667512"/>
          </a:xfrm>
          <a:prstGeom prst="rect">
            <a:avLst/>
          </a:prstGeom>
          <a:noFill/>
          <a:ln/>
        </p:spPr>
        <p:txBody>
          <a:bodyPr wrap="square" lIns="0" tIns="0" rIns="0" bIns="0" rtlCol="0" anchor="t"/>
          <a:lstStyle/>
          <a:p>
            <a:pPr indent="0" marL="0">
              <a:buNone/>
            </a:pPr>
            <a:r>
              <a:rPr lang="en-US" sz="1150" b="1" dirty="0">
                <a:solidFill>
                  <a:srgbClr val="03031C"/>
                </a:solidFill>
                <a:latin typeface="Archivo" pitchFamily="34" charset="0"/>
                <a:ea typeface="Archivo" pitchFamily="34" charset="-122"/>
                <a:cs typeface="Archivo" pitchFamily="34" charset="-120"/>
              </a:rPr>
              <a:t>Grafana, Prometheus and Loki, often with a SQL database alongside.</a:t>
            </a:r>
            <a:endParaRPr lang="en-US" sz="1150" dirty="0"/>
          </a:p>
        </p:txBody>
      </p:sp>
      <p:sp>
        <p:nvSpPr>
          <p:cNvPr id="11" name="Shape 8"/>
          <p:cNvSpPr/>
          <p:nvPr/>
        </p:nvSpPr>
        <p:spPr>
          <a:xfrm>
            <a:off x="3252216" y="1828800"/>
            <a:ext cx="2639568" cy="1170432"/>
          </a:xfrm>
          <a:prstGeom prst="roundRect">
            <a:avLst>
              <a:gd name="adj" fmla="val 8594"/>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2" name="Text 9"/>
          <p:cNvSpPr txBox="1"/>
          <p:nvPr/>
        </p:nvSpPr>
        <p:spPr>
          <a:xfrm>
            <a:off x="3416808" y="1975104"/>
            <a:ext cx="2310384" cy="182880"/>
          </a:xfrm>
          <a:prstGeom prst="rect">
            <a:avLst/>
          </a:prstGeom>
          <a:noFill/>
          <a:ln/>
        </p:spPr>
        <p:txBody>
          <a:bodyPr wrap="square" lIns="0" tIns="0" rIns="0" bIns="0" rtlCol="0" anchor="t"/>
          <a:lstStyle/>
          <a:p>
            <a:pPr indent="0" marL="0">
              <a:buNone/>
            </a:pPr>
            <a:r>
              <a:rPr lang="en-US" sz="700" spc="120" kern="0" dirty="0">
                <a:solidFill>
                  <a:srgbClr val="6B6879"/>
                </a:solidFill>
                <a:latin typeface="Space Mono" pitchFamily="34" charset="0"/>
                <a:ea typeface="Space Mono" pitchFamily="34" charset="-122"/>
                <a:cs typeface="Space Mono" pitchFamily="34" charset="-120"/>
              </a:rPr>
              <a:t>HOSTING</a:t>
            </a:r>
            <a:endParaRPr lang="en-US" sz="700" dirty="0"/>
          </a:p>
        </p:txBody>
      </p:sp>
      <p:sp>
        <p:nvSpPr>
          <p:cNvPr id="13" name="Text 10"/>
          <p:cNvSpPr txBox="1"/>
          <p:nvPr/>
        </p:nvSpPr>
        <p:spPr>
          <a:xfrm>
            <a:off x="3416808" y="2212848"/>
            <a:ext cx="2310384" cy="667512"/>
          </a:xfrm>
          <a:prstGeom prst="rect">
            <a:avLst/>
          </a:prstGeom>
          <a:noFill/>
          <a:ln/>
        </p:spPr>
        <p:txBody>
          <a:bodyPr wrap="square" lIns="0" tIns="0" rIns="0" bIns="0" rtlCol="0" anchor="t"/>
          <a:lstStyle/>
          <a:p>
            <a:pPr indent="0" marL="0">
              <a:buNone/>
            </a:pPr>
            <a:r>
              <a:rPr lang="en-US" sz="1150" b="1" dirty="0">
                <a:solidFill>
                  <a:srgbClr val="03031C"/>
                </a:solidFill>
                <a:latin typeface="Archivo" pitchFamily="34" charset="0"/>
                <a:ea typeface="Archivo" pitchFamily="34" charset="-122"/>
                <a:cs typeface="Archivo" pitchFamily="34" charset="-120"/>
              </a:rPr>
              <a:t>Self-managed, in their own cloud or data centre.</a:t>
            </a:r>
            <a:endParaRPr lang="en-US" sz="1150" dirty="0"/>
          </a:p>
        </p:txBody>
      </p:sp>
      <p:sp>
        <p:nvSpPr>
          <p:cNvPr id="14" name="Shape 11"/>
          <p:cNvSpPr/>
          <p:nvPr/>
        </p:nvSpPr>
        <p:spPr>
          <a:xfrm>
            <a:off x="6074664" y="1828800"/>
            <a:ext cx="2639568" cy="1170432"/>
          </a:xfrm>
          <a:prstGeom prst="roundRect">
            <a:avLst>
              <a:gd name="adj" fmla="val 8594"/>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5" name="Text 12"/>
          <p:cNvSpPr txBox="1"/>
          <p:nvPr/>
        </p:nvSpPr>
        <p:spPr>
          <a:xfrm>
            <a:off x="6239256" y="1975104"/>
            <a:ext cx="2310384" cy="182880"/>
          </a:xfrm>
          <a:prstGeom prst="rect">
            <a:avLst/>
          </a:prstGeom>
          <a:noFill/>
          <a:ln/>
        </p:spPr>
        <p:txBody>
          <a:bodyPr wrap="square" lIns="0" tIns="0" rIns="0" bIns="0" rtlCol="0" anchor="t"/>
          <a:lstStyle/>
          <a:p>
            <a:pPr indent="0" marL="0">
              <a:buNone/>
            </a:pPr>
            <a:r>
              <a:rPr lang="en-US" sz="700" spc="120" kern="0" dirty="0">
                <a:solidFill>
                  <a:srgbClr val="6B6879"/>
                </a:solidFill>
                <a:latin typeface="Space Mono" pitchFamily="34" charset="0"/>
                <a:ea typeface="Space Mono" pitchFamily="34" charset="-122"/>
                <a:cs typeface="Space Mono" pitchFamily="34" charset="-120"/>
              </a:rPr>
              <a:t>SIGNALS</a:t>
            </a:r>
            <a:endParaRPr lang="en-US" sz="700" dirty="0"/>
          </a:p>
        </p:txBody>
      </p:sp>
      <p:sp>
        <p:nvSpPr>
          <p:cNvPr id="16" name="Text 13"/>
          <p:cNvSpPr txBox="1"/>
          <p:nvPr/>
        </p:nvSpPr>
        <p:spPr>
          <a:xfrm>
            <a:off x="6239256" y="2212848"/>
            <a:ext cx="2310384" cy="667512"/>
          </a:xfrm>
          <a:prstGeom prst="rect">
            <a:avLst/>
          </a:prstGeom>
          <a:noFill/>
          <a:ln/>
        </p:spPr>
        <p:txBody>
          <a:bodyPr wrap="square" lIns="0" tIns="0" rIns="0" bIns="0" rtlCol="0" anchor="t"/>
          <a:lstStyle/>
          <a:p>
            <a:pPr indent="0" marL="0">
              <a:buNone/>
            </a:pPr>
            <a:r>
              <a:rPr lang="en-US" sz="1150" b="1" dirty="0">
                <a:solidFill>
                  <a:srgbClr val="03031C"/>
                </a:solidFill>
                <a:latin typeface="Archivo" pitchFamily="34" charset="0"/>
                <a:ea typeface="Archivo" pitchFamily="34" charset="-122"/>
                <a:cs typeface="Archivo" pitchFamily="34" charset="-120"/>
              </a:rPr>
              <a:t>Metrics and logs first. Traces when they’re ready.</a:t>
            </a:r>
            <a:endParaRPr lang="en-US" sz="1150" dirty="0"/>
          </a:p>
        </p:txBody>
      </p:sp>
      <p:sp>
        <p:nvSpPr>
          <p:cNvPr id="17" name="Shape 14"/>
          <p:cNvSpPr/>
          <p:nvPr/>
        </p:nvSpPr>
        <p:spPr>
          <a:xfrm>
            <a:off x="429768" y="3182112"/>
            <a:ext cx="2639568" cy="1170432"/>
          </a:xfrm>
          <a:prstGeom prst="roundRect">
            <a:avLst>
              <a:gd name="adj" fmla="val 8594"/>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8" name="Text 15"/>
          <p:cNvSpPr txBox="1"/>
          <p:nvPr/>
        </p:nvSpPr>
        <p:spPr>
          <a:xfrm>
            <a:off x="594360" y="3328416"/>
            <a:ext cx="2310384" cy="182880"/>
          </a:xfrm>
          <a:prstGeom prst="rect">
            <a:avLst/>
          </a:prstGeom>
          <a:noFill/>
          <a:ln/>
        </p:spPr>
        <p:txBody>
          <a:bodyPr wrap="square" lIns="0" tIns="0" rIns="0" bIns="0" rtlCol="0" anchor="t"/>
          <a:lstStyle/>
          <a:p>
            <a:pPr indent="0" marL="0">
              <a:buNone/>
            </a:pPr>
            <a:r>
              <a:rPr lang="en-US" sz="700" spc="120" kern="0" dirty="0">
                <a:solidFill>
                  <a:srgbClr val="6B6879"/>
                </a:solidFill>
                <a:latin typeface="Space Mono" pitchFamily="34" charset="0"/>
                <a:ea typeface="Space Mono" pitchFamily="34" charset="-122"/>
                <a:cs typeface="Space Mono" pitchFamily="34" charset="-120"/>
              </a:rPr>
              <a:t>USAGE</a:t>
            </a:r>
            <a:endParaRPr lang="en-US" sz="700" dirty="0"/>
          </a:p>
        </p:txBody>
      </p:sp>
      <p:sp>
        <p:nvSpPr>
          <p:cNvPr id="19" name="Text 16"/>
          <p:cNvSpPr txBox="1"/>
          <p:nvPr/>
        </p:nvSpPr>
        <p:spPr>
          <a:xfrm>
            <a:off x="594360" y="3566160"/>
            <a:ext cx="2310384" cy="667512"/>
          </a:xfrm>
          <a:prstGeom prst="rect">
            <a:avLst/>
          </a:prstGeom>
          <a:noFill/>
          <a:ln/>
        </p:spPr>
        <p:txBody>
          <a:bodyPr wrap="square" lIns="0" tIns="0" rIns="0" bIns="0" rtlCol="0" anchor="t"/>
          <a:lstStyle/>
          <a:p>
            <a:pPr indent="0" marL="0">
              <a:buNone/>
            </a:pPr>
            <a:r>
              <a:rPr lang="en-US" sz="1150" b="1" dirty="0">
                <a:solidFill>
                  <a:srgbClr val="03031C"/>
                </a:solidFill>
                <a:latin typeface="Archivo" pitchFamily="34" charset="0"/>
                <a:ea typeface="Archivo" pitchFamily="34" charset="-122"/>
                <a:cs typeface="Archivo" pitchFamily="34" charset="-120"/>
              </a:rPr>
              <a:t>Most-used endpoints by API and by API key; query parameters in use; calls per API by key.</a:t>
            </a:r>
            <a:endParaRPr lang="en-US" sz="1150" dirty="0"/>
          </a:p>
        </p:txBody>
      </p:sp>
      <p:sp>
        <p:nvSpPr>
          <p:cNvPr id="20" name="Shape 17"/>
          <p:cNvSpPr/>
          <p:nvPr/>
        </p:nvSpPr>
        <p:spPr>
          <a:xfrm>
            <a:off x="3252216" y="3182112"/>
            <a:ext cx="2639568" cy="1170432"/>
          </a:xfrm>
          <a:prstGeom prst="roundRect">
            <a:avLst>
              <a:gd name="adj" fmla="val 8594"/>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1" name="Text 18"/>
          <p:cNvSpPr txBox="1"/>
          <p:nvPr/>
        </p:nvSpPr>
        <p:spPr>
          <a:xfrm>
            <a:off x="3416808" y="3328416"/>
            <a:ext cx="2310384" cy="182880"/>
          </a:xfrm>
          <a:prstGeom prst="rect">
            <a:avLst/>
          </a:prstGeom>
          <a:noFill/>
          <a:ln/>
        </p:spPr>
        <p:txBody>
          <a:bodyPr wrap="square" lIns="0" tIns="0" rIns="0" bIns="0" rtlCol="0" anchor="t"/>
          <a:lstStyle/>
          <a:p>
            <a:pPr indent="0" marL="0">
              <a:buNone/>
            </a:pPr>
            <a:r>
              <a:rPr lang="en-US" sz="700" spc="120" kern="0" dirty="0">
                <a:solidFill>
                  <a:srgbClr val="6B6879"/>
                </a:solidFill>
                <a:latin typeface="Space Mono" pitchFamily="34" charset="0"/>
                <a:ea typeface="Space Mono" pitchFamily="34" charset="-122"/>
                <a:cs typeface="Space Mono" pitchFamily="34" charset="-120"/>
              </a:rPr>
              <a:t>PAIN POINT</a:t>
            </a:r>
            <a:endParaRPr lang="en-US" sz="700" dirty="0"/>
          </a:p>
        </p:txBody>
      </p:sp>
      <p:sp>
        <p:nvSpPr>
          <p:cNvPr id="22" name="Text 19"/>
          <p:cNvSpPr txBox="1"/>
          <p:nvPr/>
        </p:nvSpPr>
        <p:spPr>
          <a:xfrm>
            <a:off x="3416808" y="3566160"/>
            <a:ext cx="2310384" cy="667512"/>
          </a:xfrm>
          <a:prstGeom prst="rect">
            <a:avLst/>
          </a:prstGeom>
          <a:noFill/>
          <a:ln/>
        </p:spPr>
        <p:txBody>
          <a:bodyPr wrap="square" lIns="0" tIns="0" rIns="0" bIns="0" rtlCol="0" anchor="t"/>
          <a:lstStyle/>
          <a:p>
            <a:pPr indent="0" marL="0">
              <a:buNone/>
            </a:pPr>
            <a:r>
              <a:rPr lang="en-US" sz="1150" b="1" dirty="0">
                <a:solidFill>
                  <a:srgbClr val="03031C"/>
                </a:solidFill>
                <a:latin typeface="Archivo" pitchFamily="34" charset="0"/>
                <a:ea typeface="Archivo" pitchFamily="34" charset="-122"/>
                <a:cs typeface="Archivo" pitchFamily="34" charset="-120"/>
              </a:rPr>
              <a:t>It’s hard to compare API usage between API keys.</a:t>
            </a:r>
            <a:endParaRPr lang="en-US" sz="1150" dirty="0"/>
          </a:p>
        </p:txBody>
      </p:sp>
      <p:sp>
        <p:nvSpPr>
          <p:cNvPr id="23" name="Shape 20"/>
          <p:cNvSpPr/>
          <p:nvPr/>
        </p:nvSpPr>
        <p:spPr>
          <a:xfrm>
            <a:off x="6074664" y="3182112"/>
            <a:ext cx="2639568" cy="1170432"/>
          </a:xfrm>
          <a:prstGeom prst="roundRect">
            <a:avLst>
              <a:gd name="adj" fmla="val 8594"/>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4" name="Text 21"/>
          <p:cNvSpPr txBox="1"/>
          <p:nvPr/>
        </p:nvSpPr>
        <p:spPr>
          <a:xfrm>
            <a:off x="6239256" y="3328416"/>
            <a:ext cx="2310384" cy="182880"/>
          </a:xfrm>
          <a:prstGeom prst="rect">
            <a:avLst/>
          </a:prstGeom>
          <a:noFill/>
          <a:ln/>
        </p:spPr>
        <p:txBody>
          <a:bodyPr wrap="square" lIns="0" tIns="0" rIns="0" bIns="0" rtlCol="0" anchor="t"/>
          <a:lstStyle/>
          <a:p>
            <a:pPr indent="0" marL="0">
              <a:buNone/>
            </a:pPr>
            <a:r>
              <a:rPr lang="en-US" sz="700" spc="120" kern="0" dirty="0">
                <a:solidFill>
                  <a:srgbClr val="6B6879"/>
                </a:solidFill>
                <a:latin typeface="Space Mono" pitchFamily="34" charset="0"/>
                <a:ea typeface="Space Mono" pitchFamily="34" charset="-122"/>
                <a:cs typeface="Space Mono" pitchFamily="34" charset="-120"/>
              </a:rPr>
              <a:t>WHAT MATTERS</a:t>
            </a:r>
            <a:endParaRPr lang="en-US" sz="700" dirty="0"/>
          </a:p>
        </p:txBody>
      </p:sp>
      <p:sp>
        <p:nvSpPr>
          <p:cNvPr id="25" name="Text 22"/>
          <p:cNvSpPr txBox="1"/>
          <p:nvPr/>
        </p:nvSpPr>
        <p:spPr>
          <a:xfrm>
            <a:off x="6239256" y="3566160"/>
            <a:ext cx="2310384" cy="667512"/>
          </a:xfrm>
          <a:prstGeom prst="rect">
            <a:avLst/>
          </a:prstGeom>
          <a:noFill/>
          <a:ln/>
        </p:spPr>
        <p:txBody>
          <a:bodyPr wrap="square" lIns="0" tIns="0" rIns="0" bIns="0" rtlCol="0" anchor="t"/>
          <a:lstStyle/>
          <a:p>
            <a:pPr indent="0" marL="0">
              <a:buNone/>
            </a:pPr>
            <a:r>
              <a:rPr lang="en-US" sz="1150" b="1" dirty="0">
                <a:solidFill>
                  <a:srgbClr val="03031C"/>
                </a:solidFill>
                <a:latin typeface="Archivo" pitchFamily="34" charset="0"/>
                <a:ea typeface="Archivo" pitchFamily="34" charset="-122"/>
                <a:cs typeface="Archivo" pitchFamily="34" charset="-120"/>
              </a:rPr>
              <a:t>Latency, error rates and number of calls.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The problem  ·  03</a:t>
            </a:r>
            <a:endParaRPr lang="en-US" sz="700" dirty="0"/>
          </a:p>
        </p:txBody>
      </p:sp>
      <p:sp>
        <p:nvSpPr>
          <p:cNvPr id="4" name="Text 1"/>
          <p:cNvSpPr txBox="1"/>
          <p:nvPr/>
        </p:nvSpPr>
        <p:spPr>
          <a:xfrm>
            <a:off x="429768" y="420624"/>
            <a:ext cx="1393546"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BEFORE AND AFTER</a:t>
            </a:r>
            <a:endParaRPr lang="en-US" sz="750" dirty="0"/>
          </a:p>
        </p:txBody>
      </p:sp>
      <p:sp>
        <p:nvSpPr>
          <p:cNvPr id="5" name="Shape 2"/>
          <p:cNvSpPr/>
          <p:nvPr/>
        </p:nvSpPr>
        <p:spPr>
          <a:xfrm>
            <a:off x="4641215" y="930402"/>
            <a:ext cx="2146999"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Why comparing API keys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is hard today.</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The cause is in how keys are identified, not in Grafana.</a:t>
            </a:r>
            <a:endParaRPr lang="en-US" sz="1150" dirty="0"/>
          </a:p>
        </p:txBody>
      </p:sp>
      <p:sp>
        <p:nvSpPr>
          <p:cNvPr id="8" name="Shape 5"/>
          <p:cNvSpPr/>
          <p:nvPr/>
        </p:nvSpPr>
        <p:spPr>
          <a:xfrm>
            <a:off x="429768" y="1828800"/>
            <a:ext cx="3931920" cy="2487168"/>
          </a:xfrm>
          <a:prstGeom prst="roundRect">
            <a:avLst>
              <a:gd name="adj" fmla="val 4044"/>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9" name="Text 6"/>
          <p:cNvSpPr txBox="1"/>
          <p:nvPr/>
        </p:nvSpPr>
        <p:spPr>
          <a:xfrm>
            <a:off x="630936" y="2011680"/>
            <a:ext cx="1828800" cy="182880"/>
          </a:xfrm>
          <a:prstGeom prst="rect">
            <a:avLst/>
          </a:prstGeom>
          <a:noFill/>
          <a:ln/>
        </p:spPr>
        <p:txBody>
          <a:bodyPr wrap="square" lIns="0" tIns="0" rIns="0" bIns="0" rtlCol="0" anchor="t"/>
          <a:lstStyle/>
          <a:p>
            <a:pPr indent="0" marL="0">
              <a:buNone/>
            </a:pPr>
            <a:r>
              <a:rPr lang="en-US" sz="700" spc="120" kern="0" dirty="0">
                <a:solidFill>
                  <a:srgbClr val="6B6879"/>
                </a:solidFill>
                <a:latin typeface="Space Mono" pitchFamily="34" charset="0"/>
                <a:ea typeface="Space Mono" pitchFamily="34" charset="-122"/>
                <a:cs typeface="Space Mono" pitchFamily="34" charset="-120"/>
              </a:rPr>
              <a:t>TODAY</a:t>
            </a:r>
            <a:endParaRPr lang="en-US" sz="700" dirty="0"/>
          </a:p>
        </p:txBody>
      </p:sp>
      <p:sp>
        <p:nvSpPr>
          <p:cNvPr id="10" name="Text 7"/>
          <p:cNvSpPr txBox="1"/>
          <p:nvPr/>
        </p:nvSpPr>
        <p:spPr>
          <a:xfrm>
            <a:off x="630936" y="2304288"/>
            <a:ext cx="3529584" cy="594360"/>
          </a:xfrm>
          <a:prstGeom prst="rect">
            <a:avLst/>
          </a:prstGeom>
          <a:noFill/>
          <a:ln/>
        </p:spPr>
        <p:txBody>
          <a:bodyPr wrap="square" lIns="0" tIns="0" rIns="0" bIns="0" rtlCol="0" anchor="t"/>
          <a:lstStyle/>
          <a:p>
            <a:pPr indent="0" marL="0">
              <a:buNone/>
            </a:pPr>
            <a:r>
              <a:rPr lang="en-US" sz="1100" b="1" dirty="0">
                <a:solidFill>
                  <a:srgbClr val="6B6879"/>
                </a:solidFill>
                <a:latin typeface="Archivo" pitchFamily="34" charset="0"/>
                <a:ea typeface="Archivo" pitchFamily="34" charset="-122"/>
                <a:cs typeface="Archivo" pitchFamily="34" charset="-120"/>
              </a:rPr>
              <a:t>—  </a:t>
            </a:r>
            <a:pPr indent="0" marL="0">
              <a:buNone/>
            </a:pPr>
            <a:r>
              <a:rPr lang="en-US" sz="1100" b="1" dirty="0">
                <a:solidFill>
                  <a:srgbClr val="03031C"/>
                </a:solidFill>
                <a:latin typeface="Archivo" pitchFamily="34" charset="0"/>
                <a:ea typeface="Archivo" pitchFamily="34" charset="-122"/>
                <a:cs typeface="Archivo" pitchFamily="34" charset="-120"/>
              </a:rPr>
              <a:t>Five components in the metrics path</a:t>
            </a:r>
            <a:endParaRPr lang="en-US" sz="1100" dirty="0"/>
          </a:p>
          <a:p>
            <a:pPr indent="0" marL="0">
              <a:buNone/>
            </a:pPr>
            <a:r>
              <a:rPr lang="en-US" sz="1000" dirty="0">
                <a:solidFill>
                  <a:srgbClr val="3D3A4D"/>
                </a:solidFill>
                <a:latin typeface="Archivo" pitchFamily="34" charset="0"/>
                <a:ea typeface="Archivo" pitchFamily="34" charset="-122"/>
                <a:cs typeface="Archivo" pitchFamily="34" charset="-120"/>
              </a:rPr>
              <a:t>    Gateway → Redis → Pump → Prometheus → Grafana.</a:t>
            </a:r>
            <a:endParaRPr lang="en-US" sz="1100" dirty="0"/>
          </a:p>
        </p:txBody>
      </p:sp>
      <p:sp>
        <p:nvSpPr>
          <p:cNvPr id="11" name="Text 8"/>
          <p:cNvSpPr txBox="1"/>
          <p:nvPr/>
        </p:nvSpPr>
        <p:spPr>
          <a:xfrm>
            <a:off x="630936" y="2944368"/>
            <a:ext cx="3529584" cy="594360"/>
          </a:xfrm>
          <a:prstGeom prst="rect">
            <a:avLst/>
          </a:prstGeom>
          <a:noFill/>
          <a:ln/>
        </p:spPr>
        <p:txBody>
          <a:bodyPr wrap="square" lIns="0" tIns="0" rIns="0" bIns="0" rtlCol="0" anchor="t"/>
          <a:lstStyle/>
          <a:p>
            <a:pPr indent="0" marL="0">
              <a:buNone/>
            </a:pPr>
            <a:r>
              <a:rPr lang="en-US" sz="1100" b="1" dirty="0">
                <a:solidFill>
                  <a:srgbClr val="6B6879"/>
                </a:solidFill>
                <a:latin typeface="Archivo" pitchFamily="34" charset="0"/>
                <a:ea typeface="Archivo" pitchFamily="34" charset="-122"/>
                <a:cs typeface="Archivo" pitchFamily="34" charset="-120"/>
              </a:rPr>
              <a:t>—  </a:t>
            </a:r>
            <a:pPr indent="0" marL="0">
              <a:buNone/>
            </a:pPr>
            <a:r>
              <a:rPr lang="en-US" sz="1100" b="1" dirty="0">
                <a:solidFill>
                  <a:srgbClr val="03031C"/>
                </a:solidFill>
                <a:latin typeface="Archivo" pitchFamily="34" charset="0"/>
                <a:ea typeface="Archivo" pitchFamily="34" charset="-122"/>
                <a:cs typeface="Archivo" pitchFamily="34" charset="-120"/>
              </a:rPr>
              <a:t>A fixed metric shape</a:t>
            </a:r>
            <a:endParaRPr lang="en-US" sz="1100" dirty="0"/>
          </a:p>
          <a:p>
            <a:pPr indent="0" marL="0">
              <a:buNone/>
            </a:pPr>
            <a:r>
              <a:rPr lang="en-US" sz="1000" dirty="0">
                <a:solidFill>
                  <a:srgbClr val="3D3A4D"/>
                </a:solidFill>
                <a:latin typeface="Archivo" pitchFamily="34" charset="0"/>
                <a:ea typeface="Archivo" pitchFamily="34" charset="-122"/>
                <a:cs typeface="Archivo" pitchFamily="34" charset="-120"/>
              </a:rPr>
              <a:t>    No endpoint × API key × query parameter view without custom work.</a:t>
            </a:r>
            <a:endParaRPr lang="en-US" sz="1100" dirty="0"/>
          </a:p>
        </p:txBody>
      </p:sp>
      <p:sp>
        <p:nvSpPr>
          <p:cNvPr id="12" name="Text 9"/>
          <p:cNvSpPr txBox="1"/>
          <p:nvPr/>
        </p:nvSpPr>
        <p:spPr>
          <a:xfrm>
            <a:off x="630936" y="3584448"/>
            <a:ext cx="3529584" cy="594360"/>
          </a:xfrm>
          <a:prstGeom prst="rect">
            <a:avLst/>
          </a:prstGeom>
          <a:noFill/>
          <a:ln/>
        </p:spPr>
        <p:txBody>
          <a:bodyPr wrap="square" lIns="0" tIns="0" rIns="0" bIns="0" rtlCol="0" anchor="t"/>
          <a:lstStyle/>
          <a:p>
            <a:pPr indent="0" marL="0">
              <a:buNone/>
            </a:pPr>
            <a:r>
              <a:rPr lang="en-US" sz="1100" b="1" dirty="0">
                <a:solidFill>
                  <a:srgbClr val="6B6879"/>
                </a:solidFill>
                <a:latin typeface="Archivo" pitchFamily="34" charset="0"/>
                <a:ea typeface="Archivo" pitchFamily="34" charset="-122"/>
                <a:cs typeface="Archivo" pitchFamily="34" charset="-120"/>
              </a:rPr>
              <a:t>—  </a:t>
            </a:r>
            <a:pPr indent="0" marL="0">
              <a:buNone/>
            </a:pPr>
            <a:r>
              <a:rPr lang="en-US" sz="1100" b="1" dirty="0">
                <a:solidFill>
                  <a:srgbClr val="03031C"/>
                </a:solidFill>
                <a:latin typeface="Archivo" pitchFamily="34" charset="0"/>
                <a:ea typeface="Archivo" pitchFamily="34" charset="-122"/>
                <a:cs typeface="Archivo" pitchFamily="34" charset="-120"/>
              </a:rPr>
              <a:t>Key suffixes are not identities</a:t>
            </a:r>
            <a:endParaRPr lang="en-US" sz="1100" dirty="0"/>
          </a:p>
          <a:p>
            <a:pPr indent="0" marL="0">
              <a:buNone/>
            </a:pPr>
            <a:r>
              <a:rPr lang="en-US" sz="1000" dirty="0">
                <a:solidFill>
                  <a:srgbClr val="3D3A4D"/>
                </a:solidFill>
                <a:latin typeface="Archivo" pitchFamily="34" charset="0"/>
                <a:ea typeface="Archivo" pitchFamily="34" charset="-122"/>
                <a:cs typeface="Archivo" pitchFamily="34" charset="-120"/>
              </a:rPr>
              <a:t>    Every Dashboard-issued key ends in the same six characters.</a:t>
            </a:r>
            <a:endParaRPr lang="en-US" sz="1100" dirty="0"/>
          </a:p>
        </p:txBody>
      </p:sp>
      <p:sp>
        <p:nvSpPr>
          <p:cNvPr id="13" name="Shape 10"/>
          <p:cNvSpPr/>
          <p:nvPr/>
        </p:nvSpPr>
        <p:spPr>
          <a:xfrm>
            <a:off x="4590288" y="1828800"/>
            <a:ext cx="4123944" cy="2487168"/>
          </a:xfrm>
          <a:prstGeom prst="roundRect">
            <a:avLst>
              <a:gd name="adj" fmla="val 4044"/>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4" name="Text 11"/>
          <p:cNvSpPr txBox="1"/>
          <p:nvPr/>
        </p:nvSpPr>
        <p:spPr>
          <a:xfrm>
            <a:off x="4791456" y="2011680"/>
            <a:ext cx="1828800" cy="182880"/>
          </a:xfrm>
          <a:prstGeom prst="rect">
            <a:avLst/>
          </a:prstGeom>
          <a:noFill/>
          <a:ln/>
        </p:spPr>
        <p:txBody>
          <a:bodyPr wrap="square" lIns="0" tIns="0" rIns="0" bIns="0" rtlCol="0" anchor="t"/>
          <a:lstStyle/>
          <a:p>
            <a:pPr indent="0" marL="0">
              <a:buNone/>
            </a:pPr>
            <a:r>
              <a:rPr lang="en-US" sz="700" spc="120" kern="0" dirty="0">
                <a:solidFill>
                  <a:srgbClr val="8438FA"/>
                </a:solidFill>
                <a:latin typeface="Space Mono" pitchFamily="34" charset="0"/>
                <a:ea typeface="Space Mono" pitchFamily="34" charset="-122"/>
                <a:cs typeface="Space Mono" pitchFamily="34" charset="-120"/>
              </a:rPr>
              <a:t>WHAT WE FOUND</a:t>
            </a:r>
            <a:endParaRPr lang="en-US" sz="700" dirty="0"/>
          </a:p>
        </p:txBody>
      </p:sp>
      <p:sp>
        <p:nvSpPr>
          <p:cNvPr id="15" name="Text 12"/>
          <p:cNvSpPr txBox="1"/>
          <p:nvPr/>
        </p:nvSpPr>
        <p:spPr>
          <a:xfrm>
            <a:off x="4791456" y="2240280"/>
            <a:ext cx="3721608" cy="502920"/>
          </a:xfrm>
          <a:prstGeom prst="rect">
            <a:avLst/>
          </a:prstGeom>
          <a:noFill/>
          <a:ln/>
        </p:spPr>
        <p:txBody>
          <a:bodyPr wrap="square" lIns="0" tIns="0" rIns="0" bIns="0" rtlCol="0" anchor="t"/>
          <a:lstStyle/>
          <a:p>
            <a:pPr indent="0" marL="0">
              <a:buNone/>
            </a:pPr>
            <a:r>
              <a:rPr lang="en-US" sz="2600" b="1" dirty="0">
                <a:solidFill>
                  <a:srgbClr val="8438FA"/>
                </a:solidFill>
                <a:latin typeface="Space Mono" pitchFamily="34" charset="0"/>
                <a:ea typeface="Space Mono" pitchFamily="34" charset="-122"/>
                <a:cs typeface="Space Mono" pitchFamily="34" charset="-120"/>
              </a:rPr>
              <a:t>…Y0In0=</a:t>
            </a:r>
            <a:endParaRPr lang="en-US" sz="2600" dirty="0"/>
          </a:p>
        </p:txBody>
      </p:sp>
      <p:sp>
        <p:nvSpPr>
          <p:cNvPr id="16" name="Text 13"/>
          <p:cNvSpPr txBox="1"/>
          <p:nvPr/>
        </p:nvSpPr>
        <p:spPr>
          <a:xfrm>
            <a:off x="4791456" y="2816352"/>
            <a:ext cx="3721608" cy="68580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is the “last six characters” of every Dashboard-issued key: keys are base64-encoded JSON, so the default api_key dimension can’t tell them apart.</a:t>
            </a:r>
            <a:endParaRPr lang="en-US" sz="1000" dirty="0"/>
          </a:p>
        </p:txBody>
      </p:sp>
      <p:sp>
        <p:nvSpPr>
          <p:cNvPr id="17" name="Text 14"/>
          <p:cNvSpPr txBox="1"/>
          <p:nvPr/>
        </p:nvSpPr>
        <p:spPr>
          <a:xfrm>
            <a:off x="4791456" y="3566160"/>
            <a:ext cx="3721608" cy="640080"/>
          </a:xfrm>
          <a:prstGeom prst="rect">
            <a:avLst/>
          </a:prstGeom>
          <a:noFill/>
          <a:ln/>
        </p:spPr>
        <p:txBody>
          <a:bodyPr wrap="square" lIns="0" tIns="0" rIns="0" bIns="0" rtlCol="0" anchor="t"/>
          <a:lstStyle/>
          <a:p>
            <a:pPr indent="0" marL="0">
              <a:buNone/>
            </a:pPr>
            <a:r>
              <a:rPr lang="en-US" sz="1050" b="1" dirty="0">
                <a:solidFill>
                  <a:srgbClr val="8438FA"/>
                </a:solidFill>
                <a:latin typeface="Archivo" pitchFamily="34" charset="0"/>
                <a:ea typeface="Archivo" pitchFamily="34" charset="-122"/>
                <a:cs typeface="Archivo" pitchFamily="34" charset="-120"/>
              </a:rPr>
              <a:t>✓  </a:t>
            </a:r>
            <a:pPr indent="0" marL="0">
              <a:buNone/>
            </a:pPr>
            <a:r>
              <a:rPr lang="en-US" sz="1050" b="1" dirty="0">
                <a:solidFill>
                  <a:srgbClr val="03031C"/>
                </a:solidFill>
                <a:latin typeface="Archivo" pitchFamily="34" charset="0"/>
                <a:ea typeface="Archivo" pitchFamily="34" charset="-122"/>
                <a:cs typeface="Archivo" pitchFamily="34" charset="-120"/>
              </a:rPr>
              <a:t>Give each consumer app’s key an alias </a:t>
            </a:r>
            <a:pPr indent="0" marL="0">
              <a:buNone/>
            </a:pPr>
            <a:r>
              <a:rPr lang="en-US" sz="1050" dirty="0">
                <a:solidFill>
                  <a:srgbClr val="3D3A4D"/>
                </a:solidFill>
                <a:latin typeface="Archivo" pitchFamily="34" charset="0"/>
                <a:ea typeface="Archivo" pitchFamily="34" charset="-122"/>
                <a:cs typeface="Archivo" pitchFamily="34" charset="-120"/>
              </a:rPr>
              <a:t>and use the session · alias dimension instead. Every chart then names the app.</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What is new  ·  04</a:t>
            </a:r>
            <a:endParaRPr lang="en-US" sz="700" dirty="0"/>
          </a:p>
        </p:txBody>
      </p:sp>
      <p:sp>
        <p:nvSpPr>
          <p:cNvPr id="4" name="Text 1"/>
          <p:cNvSpPr txBox="1"/>
          <p:nvPr/>
        </p:nvSpPr>
        <p:spPr>
          <a:xfrm>
            <a:off x="429768" y="420624"/>
            <a:ext cx="1320165"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NEW IN TYK 5.13</a:t>
            </a:r>
            <a:endParaRPr lang="en-US" sz="750" dirty="0"/>
          </a:p>
        </p:txBody>
      </p:sp>
      <p:sp>
        <p:nvSpPr>
          <p:cNvPr id="5" name="Shape 2"/>
          <p:cNvSpPr/>
          <p:nvPr/>
        </p:nvSpPr>
        <p:spPr>
          <a:xfrm>
            <a:off x="3008313" y="930402"/>
            <a:ext cx="3027426"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Four things you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can now measure.</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All four are configuration only, and all four are opt-in.</a:t>
            </a:r>
            <a:endParaRPr lang="en-US" sz="1150" dirty="0"/>
          </a:p>
        </p:txBody>
      </p:sp>
      <p:sp>
        <p:nvSpPr>
          <p:cNvPr id="8" name="Shape 5"/>
          <p:cNvSpPr/>
          <p:nvPr/>
        </p:nvSpPr>
        <p:spPr>
          <a:xfrm>
            <a:off x="429768" y="1828800"/>
            <a:ext cx="1933956" cy="2487168"/>
          </a:xfrm>
          <a:prstGeom prst="roundRect">
            <a:avLst>
              <a:gd name="adj" fmla="val 5201"/>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9" name="Shape 6"/>
          <p:cNvSpPr/>
          <p:nvPr/>
        </p:nvSpPr>
        <p:spPr>
          <a:xfrm>
            <a:off x="612648" y="2029968"/>
            <a:ext cx="274320" cy="274320"/>
          </a:xfrm>
          <a:prstGeom prst="roundRect">
            <a:avLst>
              <a:gd name="adj" fmla="val 20000"/>
            </a:avLst>
          </a:prstGeom>
          <a:ln w="9525">
            <a:solidFill>
              <a:srgbClr val="03031C"/>
            </a:solidFill>
            <a:prstDash val="solid"/>
          </a:ln>
        </p:spPr>
      </p:sp>
      <p:pic>
        <p:nvPicPr>
          <p:cNvPr id="10" name="Image 1" descr="preencoded.png">    </p:cNvPr>
          <p:cNvPicPr>
            <a:picLocks noChangeAspect="1"/>
          </p:cNvPicPr>
          <p:nvPr/>
        </p:nvPicPr>
        <p:blipFill>
          <a:blip r:embed="rId2"/>
          <a:stretch>
            <a:fillRect/>
          </a:stretch>
        </p:blipFill>
        <p:spPr>
          <a:xfrm>
            <a:off x="676656" y="2093976"/>
            <a:ext cx="146304" cy="146304"/>
          </a:xfrm>
          <a:prstGeom prst="rect">
            <a:avLst/>
          </a:prstGeom>
        </p:spPr>
      </p:pic>
      <p:sp>
        <p:nvSpPr>
          <p:cNvPr id="11" name="Text 7"/>
          <p:cNvSpPr txBox="1"/>
          <p:nvPr/>
        </p:nvSpPr>
        <p:spPr>
          <a:xfrm>
            <a:off x="1815084" y="2048256"/>
            <a:ext cx="365760" cy="228600"/>
          </a:xfrm>
          <a:prstGeom prst="rect">
            <a:avLst/>
          </a:prstGeom>
          <a:noFill/>
          <a:ln/>
        </p:spPr>
        <p:txBody>
          <a:bodyPr wrap="square" lIns="0" tIns="0" rIns="0" bIns="0" rtlCol="0" anchor="t"/>
          <a:lstStyle/>
          <a:p>
            <a:pPr algn="r" indent="0" marL="0">
              <a:buNone/>
            </a:pPr>
            <a:r>
              <a:rPr lang="en-US" sz="800" dirty="0">
                <a:solidFill>
                  <a:srgbClr val="6B6879"/>
                </a:solidFill>
                <a:latin typeface="Space Mono" pitchFamily="34" charset="0"/>
                <a:ea typeface="Space Mono" pitchFamily="34" charset="-122"/>
                <a:cs typeface="Space Mono" pitchFamily="34" charset="-120"/>
              </a:rPr>
              <a:t>01</a:t>
            </a:r>
            <a:endParaRPr lang="en-US" sz="800" dirty="0"/>
          </a:p>
        </p:txBody>
      </p:sp>
      <p:sp>
        <p:nvSpPr>
          <p:cNvPr id="12" name="Text 8"/>
          <p:cNvSpPr txBox="1"/>
          <p:nvPr/>
        </p:nvSpPr>
        <p:spPr>
          <a:xfrm>
            <a:off x="612648" y="2487168"/>
            <a:ext cx="1568196" cy="274320"/>
          </a:xfrm>
          <a:prstGeom prst="rect">
            <a:avLst/>
          </a:prstGeom>
          <a:noFill/>
          <a:ln/>
        </p:spPr>
        <p:txBody>
          <a:bodyPr wrap="square" lIns="0" tIns="0" rIns="0" bIns="0" rtlCol="0" anchor="t"/>
          <a:lstStyle/>
          <a:p>
            <a:pPr indent="0" marL="0">
              <a:buNone/>
            </a:pPr>
            <a:r>
              <a:rPr lang="en-US" sz="1250" b="1" dirty="0">
                <a:solidFill>
                  <a:srgbClr val="03031C"/>
                </a:solidFill>
                <a:latin typeface="Archivo" pitchFamily="34" charset="0"/>
                <a:ea typeface="Archivo" pitchFamily="34" charset="-122"/>
                <a:cs typeface="Archivo" pitchFamily="34" charset="-120"/>
              </a:rPr>
              <a:t>Native OTLP metrics</a:t>
            </a:r>
            <a:endParaRPr lang="en-US" sz="1250" dirty="0"/>
          </a:p>
        </p:txBody>
      </p:sp>
      <p:sp>
        <p:nvSpPr>
          <p:cNvPr id="13" name="Text 9"/>
          <p:cNvSpPr txBox="1"/>
          <p:nvPr/>
        </p:nvSpPr>
        <p:spPr>
          <a:xfrm>
            <a:off x="612648" y="2816352"/>
            <a:ext cx="1568196" cy="137160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The gateway exports metrics over OpenTelemetry directly. No Pump or Redis in the metrics path.</a:t>
            </a:r>
            <a:endParaRPr lang="en-US" sz="1000" dirty="0"/>
          </a:p>
        </p:txBody>
      </p:sp>
      <p:sp>
        <p:nvSpPr>
          <p:cNvPr id="14" name="Shape 10"/>
          <p:cNvSpPr/>
          <p:nvPr/>
        </p:nvSpPr>
        <p:spPr>
          <a:xfrm>
            <a:off x="2546604" y="1828800"/>
            <a:ext cx="1933956" cy="2487168"/>
          </a:xfrm>
          <a:prstGeom prst="roundRect">
            <a:avLst>
              <a:gd name="adj" fmla="val 5201"/>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5" name="Shape 11"/>
          <p:cNvSpPr/>
          <p:nvPr/>
        </p:nvSpPr>
        <p:spPr>
          <a:xfrm>
            <a:off x="2729484" y="2029968"/>
            <a:ext cx="274320" cy="274320"/>
          </a:xfrm>
          <a:prstGeom prst="roundRect">
            <a:avLst>
              <a:gd name="adj" fmla="val 20000"/>
            </a:avLst>
          </a:prstGeom>
          <a:ln w="9525">
            <a:solidFill>
              <a:srgbClr val="03031C"/>
            </a:solidFill>
            <a:prstDash val="solid"/>
          </a:ln>
        </p:spPr>
      </p:sp>
      <p:pic>
        <p:nvPicPr>
          <p:cNvPr id="16" name="Image 2" descr="preencoded.png">    </p:cNvPr>
          <p:cNvPicPr>
            <a:picLocks noChangeAspect="1"/>
          </p:cNvPicPr>
          <p:nvPr/>
        </p:nvPicPr>
        <p:blipFill>
          <a:blip r:embed="rId3"/>
          <a:stretch>
            <a:fillRect/>
          </a:stretch>
        </p:blipFill>
        <p:spPr>
          <a:xfrm>
            <a:off x="2793492" y="2093976"/>
            <a:ext cx="146304" cy="146304"/>
          </a:xfrm>
          <a:prstGeom prst="rect">
            <a:avLst/>
          </a:prstGeom>
        </p:spPr>
      </p:pic>
      <p:sp>
        <p:nvSpPr>
          <p:cNvPr id="17" name="Text 12"/>
          <p:cNvSpPr txBox="1"/>
          <p:nvPr/>
        </p:nvSpPr>
        <p:spPr>
          <a:xfrm>
            <a:off x="3931920" y="2048256"/>
            <a:ext cx="365760" cy="228600"/>
          </a:xfrm>
          <a:prstGeom prst="rect">
            <a:avLst/>
          </a:prstGeom>
          <a:noFill/>
          <a:ln/>
        </p:spPr>
        <p:txBody>
          <a:bodyPr wrap="square" lIns="0" tIns="0" rIns="0" bIns="0" rtlCol="0" anchor="t"/>
          <a:lstStyle/>
          <a:p>
            <a:pPr algn="r" indent="0" marL="0">
              <a:buNone/>
            </a:pPr>
            <a:r>
              <a:rPr lang="en-US" sz="800" dirty="0">
                <a:solidFill>
                  <a:srgbClr val="6B6879"/>
                </a:solidFill>
                <a:latin typeface="Space Mono" pitchFamily="34" charset="0"/>
                <a:ea typeface="Space Mono" pitchFamily="34" charset="-122"/>
                <a:cs typeface="Space Mono" pitchFamily="34" charset="-120"/>
              </a:rPr>
              <a:t>02</a:t>
            </a:r>
            <a:endParaRPr lang="en-US" sz="800" dirty="0"/>
          </a:p>
        </p:txBody>
      </p:sp>
      <p:sp>
        <p:nvSpPr>
          <p:cNvPr id="18" name="Text 13"/>
          <p:cNvSpPr txBox="1"/>
          <p:nvPr/>
        </p:nvSpPr>
        <p:spPr>
          <a:xfrm>
            <a:off x="2729484" y="2487168"/>
            <a:ext cx="1568196" cy="274320"/>
          </a:xfrm>
          <a:prstGeom prst="rect">
            <a:avLst/>
          </a:prstGeom>
          <a:noFill/>
          <a:ln/>
        </p:spPr>
        <p:txBody>
          <a:bodyPr wrap="square" lIns="0" tIns="0" rIns="0" bIns="0" rtlCol="0" anchor="t"/>
          <a:lstStyle/>
          <a:p>
            <a:pPr indent="0" marL="0">
              <a:buNone/>
            </a:pPr>
            <a:r>
              <a:rPr lang="en-US" sz="1250" b="1" dirty="0">
                <a:solidFill>
                  <a:srgbClr val="03031C"/>
                </a:solidFill>
                <a:latin typeface="Archivo" pitchFamily="34" charset="0"/>
                <a:ea typeface="Archivo" pitchFamily="34" charset="-122"/>
                <a:cs typeface="Archivo" pitchFamily="34" charset="-120"/>
              </a:rPr>
              <a:t>Custom dimensions</a:t>
            </a:r>
            <a:endParaRPr lang="en-US" sz="1250" dirty="0"/>
          </a:p>
        </p:txBody>
      </p:sp>
      <p:sp>
        <p:nvSpPr>
          <p:cNvPr id="19" name="Text 14"/>
          <p:cNvSpPr txBox="1"/>
          <p:nvPr/>
        </p:nvSpPr>
        <p:spPr>
          <a:xfrm>
            <a:off x="2729484" y="2816352"/>
            <a:ext cx="1568196" cy="137160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Slice by endpoint, key alias, query parameter, header, context variable or API config data.</a:t>
            </a:r>
            <a:endParaRPr lang="en-US" sz="1000" dirty="0"/>
          </a:p>
        </p:txBody>
      </p:sp>
      <p:sp>
        <p:nvSpPr>
          <p:cNvPr id="20" name="Shape 15"/>
          <p:cNvSpPr/>
          <p:nvPr/>
        </p:nvSpPr>
        <p:spPr>
          <a:xfrm>
            <a:off x="4663440" y="1828800"/>
            <a:ext cx="1933956" cy="2487168"/>
          </a:xfrm>
          <a:prstGeom prst="roundRect">
            <a:avLst>
              <a:gd name="adj" fmla="val 5201"/>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1" name="Shape 16"/>
          <p:cNvSpPr/>
          <p:nvPr/>
        </p:nvSpPr>
        <p:spPr>
          <a:xfrm>
            <a:off x="4846320" y="2029968"/>
            <a:ext cx="274320" cy="274320"/>
          </a:xfrm>
          <a:prstGeom prst="roundRect">
            <a:avLst>
              <a:gd name="adj" fmla="val 20000"/>
            </a:avLst>
          </a:prstGeom>
          <a:ln w="9525">
            <a:solidFill>
              <a:srgbClr val="03031C"/>
            </a:solidFill>
            <a:prstDash val="solid"/>
          </a:ln>
        </p:spPr>
      </p:sp>
      <p:pic>
        <p:nvPicPr>
          <p:cNvPr id="22" name="Image 3" descr="preencoded.png">    </p:cNvPr>
          <p:cNvPicPr>
            <a:picLocks noChangeAspect="1"/>
          </p:cNvPicPr>
          <p:nvPr/>
        </p:nvPicPr>
        <p:blipFill>
          <a:blip r:embed="rId4"/>
          <a:stretch>
            <a:fillRect/>
          </a:stretch>
        </p:blipFill>
        <p:spPr>
          <a:xfrm>
            <a:off x="4910328" y="2093976"/>
            <a:ext cx="146304" cy="146304"/>
          </a:xfrm>
          <a:prstGeom prst="rect">
            <a:avLst/>
          </a:prstGeom>
        </p:spPr>
      </p:pic>
      <p:sp>
        <p:nvSpPr>
          <p:cNvPr id="23" name="Text 17"/>
          <p:cNvSpPr txBox="1"/>
          <p:nvPr/>
        </p:nvSpPr>
        <p:spPr>
          <a:xfrm>
            <a:off x="6048756" y="2048256"/>
            <a:ext cx="365760" cy="228600"/>
          </a:xfrm>
          <a:prstGeom prst="rect">
            <a:avLst/>
          </a:prstGeom>
          <a:noFill/>
          <a:ln/>
        </p:spPr>
        <p:txBody>
          <a:bodyPr wrap="square" lIns="0" tIns="0" rIns="0" bIns="0" rtlCol="0" anchor="t"/>
          <a:lstStyle/>
          <a:p>
            <a:pPr algn="r" indent="0" marL="0">
              <a:buNone/>
            </a:pPr>
            <a:r>
              <a:rPr lang="en-US" sz="800" dirty="0">
                <a:solidFill>
                  <a:srgbClr val="6B6879"/>
                </a:solidFill>
                <a:latin typeface="Space Mono" pitchFamily="34" charset="0"/>
                <a:ea typeface="Space Mono" pitchFamily="34" charset="-122"/>
                <a:cs typeface="Space Mono" pitchFamily="34" charset="-120"/>
              </a:rPr>
              <a:t>03</a:t>
            </a:r>
            <a:endParaRPr lang="en-US" sz="800" dirty="0"/>
          </a:p>
        </p:txBody>
      </p:sp>
      <p:sp>
        <p:nvSpPr>
          <p:cNvPr id="24" name="Text 18"/>
          <p:cNvSpPr txBox="1"/>
          <p:nvPr/>
        </p:nvSpPr>
        <p:spPr>
          <a:xfrm>
            <a:off x="4846320" y="2487168"/>
            <a:ext cx="1568196" cy="274320"/>
          </a:xfrm>
          <a:prstGeom prst="rect">
            <a:avLst/>
          </a:prstGeom>
          <a:noFill/>
          <a:ln/>
        </p:spPr>
        <p:txBody>
          <a:bodyPr wrap="square" lIns="0" tIns="0" rIns="0" bIns="0" rtlCol="0" anchor="t"/>
          <a:lstStyle/>
          <a:p>
            <a:pPr indent="0" marL="0">
              <a:buNone/>
            </a:pPr>
            <a:r>
              <a:rPr lang="en-US" sz="1250" b="1" dirty="0">
                <a:solidFill>
                  <a:srgbClr val="03031C"/>
                </a:solidFill>
                <a:latin typeface="Archivo" pitchFamily="34" charset="0"/>
                <a:ea typeface="Archivo" pitchFamily="34" charset="-122"/>
                <a:cs typeface="Archivo" pitchFamily="34" charset="-120"/>
              </a:rPr>
              <a:t>Cardinality control</a:t>
            </a:r>
            <a:endParaRPr lang="en-US" sz="1250" dirty="0"/>
          </a:p>
        </p:txBody>
      </p:sp>
      <p:sp>
        <p:nvSpPr>
          <p:cNvPr id="25" name="Text 19"/>
          <p:cNvSpPr txBox="1"/>
          <p:nvPr/>
        </p:nvSpPr>
        <p:spPr>
          <a:xfrm>
            <a:off x="4846320" y="2816352"/>
            <a:ext cx="1568196" cy="137160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Each instrument has its own dimensions and filters, so detail costs only where you need it.</a:t>
            </a:r>
            <a:endParaRPr lang="en-US" sz="1000" dirty="0"/>
          </a:p>
        </p:txBody>
      </p:sp>
      <p:sp>
        <p:nvSpPr>
          <p:cNvPr id="26" name="Shape 20"/>
          <p:cNvSpPr/>
          <p:nvPr/>
        </p:nvSpPr>
        <p:spPr>
          <a:xfrm>
            <a:off x="6780276" y="1828800"/>
            <a:ext cx="1933956" cy="2487168"/>
          </a:xfrm>
          <a:prstGeom prst="roundRect">
            <a:avLst>
              <a:gd name="adj" fmla="val 5201"/>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7" name="Shape 21"/>
          <p:cNvSpPr/>
          <p:nvPr/>
        </p:nvSpPr>
        <p:spPr>
          <a:xfrm>
            <a:off x="6963156" y="2029968"/>
            <a:ext cx="274320" cy="274320"/>
          </a:xfrm>
          <a:prstGeom prst="roundRect">
            <a:avLst>
              <a:gd name="adj" fmla="val 20000"/>
            </a:avLst>
          </a:prstGeom>
          <a:ln w="9525">
            <a:solidFill>
              <a:srgbClr val="03031C"/>
            </a:solidFill>
            <a:prstDash val="solid"/>
          </a:ln>
        </p:spPr>
      </p:sp>
      <p:pic>
        <p:nvPicPr>
          <p:cNvPr id="28" name="Image 4" descr="preencoded.png">    </p:cNvPr>
          <p:cNvPicPr>
            <a:picLocks noChangeAspect="1"/>
          </p:cNvPicPr>
          <p:nvPr/>
        </p:nvPicPr>
        <p:blipFill>
          <a:blip r:embed="rId5"/>
          <a:stretch>
            <a:fillRect/>
          </a:stretch>
        </p:blipFill>
        <p:spPr>
          <a:xfrm>
            <a:off x="7027164" y="2093976"/>
            <a:ext cx="146304" cy="146304"/>
          </a:xfrm>
          <a:prstGeom prst="rect">
            <a:avLst/>
          </a:prstGeom>
        </p:spPr>
      </p:pic>
      <p:sp>
        <p:nvSpPr>
          <p:cNvPr id="29" name="Text 22"/>
          <p:cNvSpPr txBox="1"/>
          <p:nvPr/>
        </p:nvSpPr>
        <p:spPr>
          <a:xfrm>
            <a:off x="8165592" y="2048256"/>
            <a:ext cx="365760" cy="228600"/>
          </a:xfrm>
          <a:prstGeom prst="rect">
            <a:avLst/>
          </a:prstGeom>
          <a:noFill/>
          <a:ln/>
        </p:spPr>
        <p:txBody>
          <a:bodyPr wrap="square" lIns="0" tIns="0" rIns="0" bIns="0" rtlCol="0" anchor="t"/>
          <a:lstStyle/>
          <a:p>
            <a:pPr algn="r" indent="0" marL="0">
              <a:buNone/>
            </a:pPr>
            <a:r>
              <a:rPr lang="en-US" sz="800" dirty="0">
                <a:solidFill>
                  <a:srgbClr val="6B6879"/>
                </a:solidFill>
                <a:latin typeface="Space Mono" pitchFamily="34" charset="0"/>
                <a:ea typeface="Space Mono" pitchFamily="34" charset="-122"/>
                <a:cs typeface="Space Mono" pitchFamily="34" charset="-120"/>
              </a:rPr>
              <a:t>04</a:t>
            </a:r>
            <a:endParaRPr lang="en-US" sz="800" dirty="0"/>
          </a:p>
        </p:txBody>
      </p:sp>
      <p:sp>
        <p:nvSpPr>
          <p:cNvPr id="30" name="Text 23"/>
          <p:cNvSpPr txBox="1"/>
          <p:nvPr/>
        </p:nvSpPr>
        <p:spPr>
          <a:xfrm>
            <a:off x="6963156" y="2487168"/>
            <a:ext cx="1568196" cy="274320"/>
          </a:xfrm>
          <a:prstGeom prst="rect">
            <a:avLst/>
          </a:prstGeom>
          <a:noFill/>
          <a:ln/>
        </p:spPr>
        <p:txBody>
          <a:bodyPr wrap="square" lIns="0" tIns="0" rIns="0" bIns="0" rtlCol="0" anchor="t"/>
          <a:lstStyle/>
          <a:p>
            <a:pPr indent="0" marL="0">
              <a:buNone/>
            </a:pPr>
            <a:r>
              <a:rPr lang="en-US" sz="1250" b="1" dirty="0">
                <a:solidFill>
                  <a:srgbClr val="03031C"/>
                </a:solidFill>
                <a:latin typeface="Archivo" pitchFamily="34" charset="0"/>
                <a:ea typeface="Archivo" pitchFamily="34" charset="-122"/>
                <a:cs typeface="Archivo" pitchFamily="34" charset="-120"/>
              </a:rPr>
              <a:t>Gateway health</a:t>
            </a:r>
            <a:endParaRPr lang="en-US" sz="1250" dirty="0"/>
          </a:p>
        </p:txBody>
      </p:sp>
      <p:sp>
        <p:nvSpPr>
          <p:cNvPr id="31" name="Text 24"/>
          <p:cNvSpPr txBox="1"/>
          <p:nvPr/>
        </p:nvSpPr>
        <p:spPr>
          <a:xfrm>
            <a:off x="6963156" y="2816352"/>
            <a:ext cx="1568196" cy="137160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APIs and policies loaded per gateway, plus Go memory and GC. Catch a bad release early.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What is new  ·  05</a:t>
            </a:r>
            <a:endParaRPr lang="en-US" sz="700" dirty="0"/>
          </a:p>
        </p:txBody>
      </p:sp>
      <p:sp>
        <p:nvSpPr>
          <p:cNvPr id="4" name="Text 1"/>
          <p:cNvSpPr txBox="1"/>
          <p:nvPr/>
        </p:nvSpPr>
        <p:spPr>
          <a:xfrm>
            <a:off x="429768" y="420624"/>
            <a:ext cx="1907210"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TYK PUMP VS TYK GATEWAY</a:t>
            </a:r>
            <a:endParaRPr lang="en-US" sz="750" dirty="0"/>
          </a:p>
        </p:txBody>
      </p:sp>
      <p:sp>
        <p:nvSpPr>
          <p:cNvPr id="5" name="Shape 2"/>
          <p:cNvSpPr/>
          <p:nvPr/>
        </p:nvSpPr>
        <p:spPr>
          <a:xfrm>
            <a:off x="4704486" y="906536"/>
            <a:ext cx="3603066" cy="108631"/>
          </a:xfrm>
          <a:prstGeom prst="rect">
            <a:avLst/>
          </a:prstGeom>
          <a:solidFill>
            <a:srgbClr val="BDF3DC"/>
          </a:solidFill>
          <a:ln/>
        </p:spPr>
      </p:sp>
      <p:sp>
        <p:nvSpPr>
          <p:cNvPr id="6" name="Text 3"/>
          <p:cNvSpPr txBox="1"/>
          <p:nvPr/>
        </p:nvSpPr>
        <p:spPr>
          <a:xfrm>
            <a:off x="429768" y="731520"/>
            <a:ext cx="8284464" cy="393192"/>
          </a:xfrm>
          <a:prstGeom prst="rect">
            <a:avLst/>
          </a:prstGeom>
          <a:noFill/>
          <a:ln/>
        </p:spPr>
        <p:txBody>
          <a:bodyPr wrap="square" lIns="0" tIns="0" rIns="0" bIns="0" rtlCol="0" anchor="t"/>
          <a:lstStyle/>
          <a:p>
            <a:pPr indent="0" marL="0">
              <a:lnSpc>
                <a:spcPts val="2376"/>
              </a:lnSpc>
              <a:buNone/>
            </a:pPr>
            <a:r>
              <a:rPr lang="en-US" sz="2200" b="1" spc="-40" kern="0" dirty="0">
                <a:solidFill>
                  <a:srgbClr val="03031C"/>
                </a:solidFill>
                <a:latin typeface="Archivo" pitchFamily="34" charset="0"/>
                <a:ea typeface="Archivo" pitchFamily="34" charset="-122"/>
                <a:cs typeface="Archivo" pitchFamily="34" charset="-120"/>
              </a:rPr>
              <a:t>Pump custom metrics versus </a:t>
            </a:r>
            <a:pPr indent="0" marL="0">
              <a:lnSpc>
                <a:spcPts val="2376"/>
              </a:lnSpc>
              <a:buNone/>
            </a:pPr>
            <a:r>
              <a:rPr lang="en-US" sz="2200" b="1" spc="-40" kern="0" dirty="0">
                <a:solidFill>
                  <a:srgbClr val="03031C"/>
                </a:solidFill>
                <a:latin typeface="Archivo" pitchFamily="34" charset="0"/>
                <a:ea typeface="Archivo" pitchFamily="34" charset="-122"/>
                <a:cs typeface="Archivo" pitchFamily="34" charset="-120"/>
              </a:rPr>
              <a:t>gateway custom metrics.</a:t>
            </a:r>
            <a:endParaRPr lang="en-US" sz="2200" dirty="0"/>
          </a:p>
        </p:txBody>
      </p:sp>
      <p:sp>
        <p:nvSpPr>
          <p:cNvPr id="7" name="Text 4"/>
          <p:cNvSpPr txBox="1"/>
          <p:nvPr/>
        </p:nvSpPr>
        <p:spPr>
          <a:xfrm>
            <a:off x="429768" y="1298448"/>
            <a:ext cx="8284464"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Both can feed Prometheus. Only the gateway sees endpoints, headers, query parameters and your own values.</a:t>
            </a:r>
            <a:endParaRPr lang="en-US" sz="1150" dirty="0"/>
          </a:p>
        </p:txBody>
      </p:sp>
      <p:sp>
        <p:nvSpPr>
          <p:cNvPr id="8" name="Shape 5"/>
          <p:cNvSpPr/>
          <p:nvPr/>
        </p:nvSpPr>
        <p:spPr>
          <a:xfrm>
            <a:off x="429768" y="1737360"/>
            <a:ext cx="8284464" cy="2761488"/>
          </a:xfrm>
          <a:prstGeom prst="roundRect">
            <a:avLst>
              <a:gd name="adj" fmla="val 3642"/>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93776" y="1801368"/>
          <a:ext cx="8156448" cy="914400"/>
        </p:xfrm>
        <a:graphic>
          <a:graphicData uri="http://schemas.openxmlformats.org/drawingml/2006/table">
            <a:tbl>
              <a:tblPr/>
              <a:tblGrid>
                <a:gridCol w="1417320"/>
                <a:gridCol w="3154680"/>
                <a:gridCol w="3584448"/>
              </a:tblGrid>
              <a:tr h="237744">
                <a:tc>
                  <a:txBody>
                    <a:bodyPr/>
                    <a:lstStyle/>
                    <a:p>
                      <a:pPr indent="0" marL="0">
                        <a:buNone/>
                      </a:pPr>
                      <a:endParaRPr lang="en-US" sz="650" dirty="0">
                        <a:latin typeface="Space Mono" charset="0"/>
                        <a:ea typeface="Space Mono" charset="0"/>
                        <a:cs typeface="Space Mon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6DCFB"/>
                    </a:solidFill>
                  </a:tcPr>
                </a:tc>
                <a:tc>
                  <a:txBody>
                    <a:bodyPr/>
                    <a:lstStyle/>
                    <a:p>
                      <a:pPr indent="0" marL="0">
                        <a:buNone/>
                      </a:pPr>
                      <a:r>
                        <a:rPr lang="en-US" sz="650" b="1" spc="80" kern="0" dirty="0">
                          <a:solidFill>
                            <a:srgbClr val="03031C"/>
                          </a:solidFill>
                          <a:latin typeface="Space Mono" pitchFamily="34" charset="0"/>
                          <a:ea typeface="Space Mono" pitchFamily="34" charset="-122"/>
                          <a:cs typeface="Space Mono" pitchFamily="34" charset="-120"/>
                        </a:rPr>
                        <a:t>TYK PUMP · PROMETHEUS CUSTOM_METRICS</a:t>
                      </a:r>
                      <a:endParaRPr lang="en-US" sz="650" dirty="0">
                        <a:latin typeface="Space Mono" charset="0"/>
                        <a:ea typeface="Space Mono" charset="0"/>
                        <a:cs typeface="Space Mon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6DCFB"/>
                    </a:solidFill>
                  </a:tcPr>
                </a:tc>
                <a:tc>
                  <a:txBody>
                    <a:bodyPr/>
                    <a:lstStyle/>
                    <a:p>
                      <a:pPr indent="0" marL="0">
                        <a:buNone/>
                      </a:pPr>
                      <a:r>
                        <a:rPr lang="en-US" sz="650" b="1" spc="80" kern="0" dirty="0">
                          <a:solidFill>
                            <a:srgbClr val="03031C"/>
                          </a:solidFill>
                          <a:latin typeface="Space Mono" pitchFamily="34" charset="0"/>
                          <a:ea typeface="Space Mono" pitchFamily="34" charset="-122"/>
                          <a:cs typeface="Space Mono" pitchFamily="34" charset="-120"/>
                        </a:rPr>
                        <a:t>TYK GATEWAY 5.13 · API_METRICS</a:t>
                      </a:r>
                      <a:endParaRPr lang="en-US" sz="650" dirty="0">
                        <a:latin typeface="Space Mono" charset="0"/>
                        <a:ea typeface="Space Mono" charset="0"/>
                        <a:cs typeface="Space Mon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6DCFB"/>
                    </a:solidFill>
                  </a:tcPr>
                </a:tc>
              </a:tr>
              <a:tr h="274320">
                <a:tc>
                  <a:txBody>
                    <a:bodyPr/>
                    <a:lstStyle/>
                    <a:p>
                      <a:pPr indent="0" marL="0">
                        <a:buNone/>
                      </a:pPr>
                      <a:r>
                        <a:rPr lang="en-US" sz="850" b="1" dirty="0">
                          <a:solidFill>
                            <a:srgbClr val="03031C"/>
                          </a:solidFill>
                          <a:latin typeface="Archivo" pitchFamily="34" charset="0"/>
                          <a:ea typeface="Archivo" pitchFamily="34" charset="-122"/>
                          <a:cs typeface="Archivo" pitchFamily="34" charset="-120"/>
                        </a:rPr>
                        <a:t>Where metrics are made</a:t>
                      </a:r>
                      <a:endParaRPr lang="en-US" sz="85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3D3A4D"/>
                          </a:solidFill>
                          <a:latin typeface="Archivo" pitchFamily="34" charset="0"/>
                          <a:ea typeface="Archivo" pitchFamily="34" charset="-122"/>
                          <a:cs typeface="Archivo" pitchFamily="34" charset="-120"/>
                        </a:rPr>
                        <a:t>Afterwards, from analytics records queued in Redis</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03031C"/>
                          </a:solidFill>
                          <a:latin typeface="Archivo" pitchFamily="34" charset="0"/>
                          <a:ea typeface="Archivo" pitchFamily="34" charset="-122"/>
                          <a:cs typeface="Archivo" pitchFamily="34" charset="-120"/>
                        </a:rPr>
                        <a:t>In the request path, as each call completes</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EFBF4"/>
                    </a:solidFill>
                  </a:tcPr>
                </a:tc>
              </a:tr>
              <a:tr h="274320">
                <a:tc>
                  <a:txBody>
                    <a:bodyPr/>
                    <a:lstStyle/>
                    <a:p>
                      <a:pPr indent="0" marL="0">
                        <a:buNone/>
                      </a:pPr>
                      <a:r>
                        <a:rPr lang="en-US" sz="850" b="1" dirty="0">
                          <a:solidFill>
                            <a:srgbClr val="03031C"/>
                          </a:solidFill>
                          <a:latin typeface="Archivo" pitchFamily="34" charset="0"/>
                          <a:ea typeface="Archivo" pitchFamily="34" charset="-122"/>
                          <a:cs typeface="Archivo" pitchFamily="34" charset="-120"/>
                        </a:rPr>
                        <a:t>How they leave</a:t>
                      </a:r>
                      <a:endParaRPr lang="en-US" sz="85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3D3A4D"/>
                          </a:solidFill>
                          <a:latin typeface="Archivo" pitchFamily="34" charset="0"/>
                          <a:ea typeface="Archivo" pitchFamily="34" charset="-122"/>
                          <a:cs typeface="Archivo" pitchFamily="34" charset="-120"/>
                        </a:rPr>
                        <a:t>Prometheus scrapes the Pump’s /metrics (no built-in auth or TLS)</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03031C"/>
                          </a:solidFill>
                          <a:latin typeface="Archivo" pitchFamily="34" charset="0"/>
                          <a:ea typeface="Archivo" pitchFamily="34" charset="-122"/>
                          <a:cs typeface="Archivo" pitchFamily="34" charset="-120"/>
                        </a:rPr>
                        <a:t>OTLP push to any backend: Collector, Prometheus, Grafana Cloud, Datadog…</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EFBF4"/>
                    </a:solidFill>
                  </a:tcPr>
                </a:tc>
              </a:tr>
              <a:tr h="384048">
                <a:tc>
                  <a:txBody>
                    <a:bodyPr/>
                    <a:lstStyle/>
                    <a:p>
                      <a:pPr indent="0" marL="0">
                        <a:buNone/>
                      </a:pPr>
                      <a:r>
                        <a:rPr lang="en-US" sz="850" b="1" dirty="0">
                          <a:solidFill>
                            <a:srgbClr val="03031C"/>
                          </a:solidFill>
                          <a:latin typeface="Archivo" pitchFamily="34" charset="0"/>
                          <a:ea typeface="Archivo" pitchFamily="34" charset="-122"/>
                          <a:cs typeface="Archivo" pitchFamily="34" charset="-120"/>
                        </a:rPr>
                        <a:t>Labels available</a:t>
                      </a:r>
                      <a:endParaRPr lang="en-US" sz="85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3D3A4D"/>
                          </a:solidFill>
                          <a:latin typeface="Archivo" pitchFamily="34" charset="0"/>
                          <a:ea typeface="Archivo" pitchFamily="34" charset="-122"/>
                          <a:cs typeface="Archivo" pitchFamily="34" charset="-120"/>
                        </a:rPr>
                        <a:t>A fixed list of traffic-log fields: host, method, path, response_code, api_key, alias, api_id, org_id, oauth_id, ip_address…</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03031C"/>
                          </a:solidFill>
                          <a:latin typeface="Archivo" pitchFamily="34" charset="0"/>
                          <a:ea typeface="Archivo" pitchFamily="34" charset="-122"/>
                          <a:cs typeface="Archivo" pitchFamily="34" charset="-120"/>
                        </a:rPr>
                        <a:t>Six sources: metadata, session, request headers, response headers, context variables, API config data</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EFBF4"/>
                    </a:solidFill>
                  </a:tcPr>
                </a:tc>
              </a:tr>
              <a:tr h="274320">
                <a:tc>
                  <a:txBody>
                    <a:bodyPr/>
                    <a:lstStyle/>
                    <a:p>
                      <a:pPr indent="0" marL="0">
                        <a:buNone/>
                      </a:pPr>
                      <a:r>
                        <a:rPr lang="en-US" sz="850" b="1" dirty="0">
                          <a:solidFill>
                            <a:srgbClr val="03031C"/>
                          </a:solidFill>
                          <a:latin typeface="Archivo" pitchFamily="34" charset="0"/>
                          <a:ea typeface="Archivo" pitchFamily="34" charset="-122"/>
                          <a:cs typeface="Archivo" pitchFamily="34" charset="-120"/>
                        </a:rPr>
                        <a:t>Endpoints</a:t>
                      </a:r>
                      <a:endParaRPr lang="en-US" sz="85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3D3A4D"/>
                          </a:solidFill>
                          <a:latin typeface="Archivo" pitchFamily="34" charset="0"/>
                          <a:ea typeface="Archivo" pitchFamily="34" charset="-122"/>
                          <a:cs typeface="Archivo" pitchFamily="34" charset="-120"/>
                        </a:rPr>
                        <a:t>Raw request path only</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03031C"/>
                          </a:solidFill>
                          <a:latin typeface="Archivo" pitchFamily="34" charset="0"/>
                          <a:ea typeface="Archivo" pitchFamily="34" charset="-122"/>
                          <a:cs typeface="Archivo" pitchFamily="34" charset="-120"/>
                        </a:rPr>
                        <a:t>Tracked templates such as /projects/{id}, so series stay bounded</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EFBF4"/>
                    </a:solidFill>
                  </a:tcPr>
                </a:tc>
              </a:tr>
              <a:tr h="274320">
                <a:tc>
                  <a:txBody>
                    <a:bodyPr/>
                    <a:lstStyle/>
                    <a:p>
                      <a:pPr indent="0" marL="0">
                        <a:buNone/>
                      </a:pPr>
                      <a:r>
                        <a:rPr lang="en-US" sz="850" b="1" dirty="0">
                          <a:solidFill>
                            <a:srgbClr val="03031C"/>
                          </a:solidFill>
                          <a:latin typeface="Archivo" pitchFamily="34" charset="0"/>
                          <a:ea typeface="Archivo" pitchFamily="34" charset="-122"/>
                          <a:cs typeface="Archivo" pitchFamily="34" charset="-120"/>
                        </a:rPr>
                        <a:t>Headers and query parameters</a:t>
                      </a:r>
                      <a:endParaRPr lang="en-US" sz="85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3D3A4D"/>
                          </a:solidFill>
                          <a:latin typeface="Archivo" pitchFamily="34" charset="0"/>
                          <a:ea typeface="Archivo" pitchFamily="34" charset="-122"/>
                          <a:cs typeface="Archivo" pitchFamily="34" charset="-120"/>
                        </a:rPr>
                        <a:t>Not available</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03031C"/>
                          </a:solidFill>
                          <a:latin typeface="Archivo" pitchFamily="34" charset="0"/>
                          <a:ea typeface="Archivo" pitchFamily="34" charset="-122"/>
                          <a:cs typeface="Archivo" pitchFamily="34" charset="-120"/>
                        </a:rPr>
                        <a:t>Any request or response header; any declared query parameter</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EFBF4"/>
                    </a:solidFill>
                  </a:tcPr>
                </a:tc>
              </a:tr>
              <a:tr h="274320">
                <a:tc>
                  <a:txBody>
                    <a:bodyPr/>
                    <a:lstStyle/>
                    <a:p>
                      <a:pPr indent="0" marL="0">
                        <a:buNone/>
                      </a:pPr>
                      <a:r>
                        <a:rPr lang="en-US" sz="850" b="1" dirty="0">
                          <a:solidFill>
                            <a:srgbClr val="03031C"/>
                          </a:solidFill>
                          <a:latin typeface="Archivo" pitchFamily="34" charset="0"/>
                          <a:ea typeface="Archivo" pitchFamily="34" charset="-122"/>
                          <a:cs typeface="Archivo" pitchFamily="34" charset="-120"/>
                        </a:rPr>
                        <a:t>Your own values</a:t>
                      </a:r>
                      <a:endParaRPr lang="en-US" sz="85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3D3A4D"/>
                          </a:solidFill>
                          <a:latin typeface="Archivo" pitchFamily="34" charset="0"/>
                          <a:ea typeface="Archivo" pitchFamily="34" charset="-122"/>
                          <a:cs typeface="Archivo" pitchFamily="34" charset="-120"/>
                        </a:rPr>
                        <a:t>Not possible</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03031C"/>
                          </a:solidFill>
                          <a:latin typeface="Archivo" pitchFamily="34" charset="0"/>
                          <a:ea typeface="Archivo" pitchFamily="34" charset="-122"/>
                          <a:cs typeface="Archivo" pitchFamily="34" charset="-120"/>
                        </a:rPr>
                        <a:t>Anything a plugin writes to a context variable, such as the key hash</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EFBF4"/>
                    </a:solidFill>
                  </a:tcPr>
                </a:tc>
              </a:tr>
              <a:tr h="274320">
                <a:tc>
                  <a:txBody>
                    <a:bodyPr/>
                    <a:lstStyle/>
                    <a:p>
                      <a:pPr indent="0" marL="0">
                        <a:buNone/>
                      </a:pPr>
                      <a:r>
                        <a:rPr lang="en-US" sz="850" b="1" dirty="0">
                          <a:solidFill>
                            <a:srgbClr val="03031C"/>
                          </a:solidFill>
                          <a:latin typeface="Archivo" pitchFamily="34" charset="0"/>
                          <a:ea typeface="Archivo" pitchFamily="34" charset="-122"/>
                          <a:cs typeface="Archivo" pitchFamily="34" charset="-120"/>
                        </a:rPr>
                        <a:t>Latency</a:t>
                      </a:r>
                      <a:endParaRPr lang="en-US" sz="85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3D3A4D"/>
                          </a:solidFill>
                          <a:latin typeface="Archivo" pitchFamily="34" charset="0"/>
                          <a:ea typeface="Archivo" pitchFamily="34" charset="-122"/>
                          <a:cs typeface="Archivo" pitchFamily="34" charset="-120"/>
                        </a:rPr>
                        <a:t>Histograms always observe request_time</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03031C"/>
                          </a:solidFill>
                          <a:latin typeface="Archivo" pitchFamily="34" charset="0"/>
                          <a:ea typeface="Archivo" pitchFamily="34" charset="-122"/>
                          <a:cs typeface="Archivo" pitchFamily="34" charset="-120"/>
                        </a:rPr>
                        <a:t>Total, gateway-only or upstream-only, with custom buckets</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EFBF4"/>
                    </a:solidFill>
                  </a:tcPr>
                </a:tc>
              </a:tr>
              <a:tr h="274320">
                <a:tc>
                  <a:txBody>
                    <a:bodyPr/>
                    <a:lstStyle/>
                    <a:p>
                      <a:pPr indent="0" marL="0">
                        <a:buNone/>
                      </a:pPr>
                      <a:r>
                        <a:rPr lang="en-US" sz="850" b="1" dirty="0">
                          <a:solidFill>
                            <a:srgbClr val="03031C"/>
                          </a:solidFill>
                          <a:latin typeface="Archivo" pitchFamily="34" charset="0"/>
                          <a:ea typeface="Archivo" pitchFamily="34" charset="-122"/>
                          <a:cs typeface="Archivo" pitchFamily="34" charset="-120"/>
                        </a:rPr>
                        <a:t>Scope and health</a:t>
                      </a:r>
                      <a:endParaRPr lang="en-US" sz="85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3D3A4D"/>
                          </a:solidFill>
                          <a:latin typeface="Archivo" pitchFamily="34" charset="0"/>
                          <a:ea typeface="Archivo" pitchFamily="34" charset="-122"/>
                          <a:cs typeface="Archivo" pitchFamily="34" charset="-120"/>
                        </a:rPr>
                        <a:t>Labels per metric; no gateway health</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800" dirty="0">
                          <a:solidFill>
                            <a:srgbClr val="03031C"/>
                          </a:solidFill>
                          <a:latin typeface="Archivo" pitchFamily="34" charset="0"/>
                          <a:ea typeface="Archivo" pitchFamily="34" charset="-122"/>
                          <a:cs typeface="Archivo" pitchFamily="34" charset="-120"/>
                        </a:rPr>
                        <a:t>Filters per metric (API, method, status); Go runtime and config state</a:t>
                      </a:r>
                      <a:endParaRPr lang="en-US" sz="800" dirty="0">
                        <a:latin typeface="Archivo" charset="0"/>
                        <a:ea typeface="Archivo" charset="0"/>
                        <a:cs typeface="Archivo" charset="0"/>
                      </a:endParaRPr>
                    </a:p>
                  </a:txBody>
                  <a:tcPr marL="82296" marR="82296"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EFBF4"/>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Architecture  ·  06</a:t>
            </a:r>
            <a:endParaRPr lang="en-US" sz="700" dirty="0"/>
          </a:p>
        </p:txBody>
      </p:sp>
      <p:sp>
        <p:nvSpPr>
          <p:cNvPr id="4" name="Text 1"/>
          <p:cNvSpPr txBox="1"/>
          <p:nvPr/>
        </p:nvSpPr>
        <p:spPr>
          <a:xfrm>
            <a:off x="429768" y="420624"/>
            <a:ext cx="1100023"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ARCHITECTURE</a:t>
            </a:r>
            <a:endParaRPr lang="en-US" sz="750" dirty="0"/>
          </a:p>
        </p:txBody>
      </p:sp>
      <p:sp>
        <p:nvSpPr>
          <p:cNvPr id="5" name="Shape 2"/>
          <p:cNvSpPr/>
          <p:nvPr/>
        </p:nvSpPr>
        <p:spPr>
          <a:xfrm>
            <a:off x="2092960" y="930402"/>
            <a:ext cx="3104579"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How it fits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your existing stack.</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No new backend. Tyk speaks OpenTelemetry to the Prometheus and Loki you already operate.</a:t>
            </a:r>
            <a:endParaRPr lang="en-US" sz="1150" dirty="0"/>
          </a:p>
        </p:txBody>
      </p:sp>
      <p:sp>
        <p:nvSpPr>
          <p:cNvPr id="8" name="Shape 5"/>
          <p:cNvSpPr/>
          <p:nvPr/>
        </p:nvSpPr>
        <p:spPr>
          <a:xfrm>
            <a:off x="429768" y="2148840"/>
            <a:ext cx="1554480" cy="1188720"/>
          </a:xfrm>
          <a:prstGeom prst="roundRect">
            <a:avLst>
              <a:gd name="adj" fmla="val 8462"/>
            </a:avLst>
          </a:prstGeom>
          <a:solidFill>
            <a:srgbClr val="8438FA"/>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9" name="Shape 6"/>
          <p:cNvSpPr/>
          <p:nvPr/>
        </p:nvSpPr>
        <p:spPr>
          <a:xfrm>
            <a:off x="1069848" y="2276856"/>
            <a:ext cx="274320" cy="274320"/>
          </a:xfrm>
          <a:prstGeom prst="roundRect">
            <a:avLst>
              <a:gd name="adj" fmla="val 20000"/>
            </a:avLst>
          </a:prstGeom>
          <a:ln w="9525">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1133856" y="2340864"/>
            <a:ext cx="146304" cy="146304"/>
          </a:xfrm>
          <a:prstGeom prst="rect">
            <a:avLst/>
          </a:prstGeom>
        </p:spPr>
      </p:pic>
      <p:sp>
        <p:nvSpPr>
          <p:cNvPr id="11" name="Text 7"/>
          <p:cNvSpPr txBox="1"/>
          <p:nvPr/>
        </p:nvSpPr>
        <p:spPr>
          <a:xfrm>
            <a:off x="521208" y="2624328"/>
            <a:ext cx="1371600" cy="237744"/>
          </a:xfrm>
          <a:prstGeom prst="rect">
            <a:avLst/>
          </a:prstGeom>
          <a:noFill/>
          <a:ln/>
        </p:spPr>
        <p:txBody>
          <a:bodyPr wrap="square" lIns="0" tIns="0" rIns="0" bIns="0" rtlCol="0" anchor="t"/>
          <a:lstStyle/>
          <a:p>
            <a:pPr algn="ctr" indent="0" marL="0">
              <a:buNone/>
            </a:pPr>
            <a:r>
              <a:rPr lang="en-US" sz="1150" b="1" dirty="0">
                <a:solidFill>
                  <a:srgbClr val="FFFFFF"/>
                </a:solidFill>
                <a:latin typeface="Archivo" pitchFamily="34" charset="0"/>
                <a:ea typeface="Archivo" pitchFamily="34" charset="-122"/>
                <a:cs typeface="Archivo" pitchFamily="34" charset="-120"/>
              </a:rPr>
              <a:t>Tyk Gateways</a:t>
            </a:r>
            <a:endParaRPr lang="en-US" sz="1150" dirty="0"/>
          </a:p>
        </p:txBody>
      </p:sp>
      <p:sp>
        <p:nvSpPr>
          <p:cNvPr id="12" name="Text 8"/>
          <p:cNvSpPr txBox="1"/>
          <p:nvPr/>
        </p:nvSpPr>
        <p:spPr>
          <a:xfrm>
            <a:off x="521208" y="2880360"/>
            <a:ext cx="1371600" cy="411480"/>
          </a:xfrm>
          <a:prstGeom prst="rect">
            <a:avLst/>
          </a:prstGeom>
          <a:noFill/>
          <a:ln/>
        </p:spPr>
        <p:txBody>
          <a:bodyPr wrap="square" lIns="0" tIns="0" rIns="0" bIns="0" rtlCol="0" anchor="t"/>
          <a:lstStyle/>
          <a:p>
            <a:pPr algn="ctr" indent="0" marL="0">
              <a:buNone/>
            </a:pPr>
            <a:r>
              <a:rPr lang="en-US" sz="850" dirty="0">
                <a:solidFill>
                  <a:srgbClr val="FFFFFF"/>
                </a:solidFill>
                <a:latin typeface="Archivo" pitchFamily="34" charset="0"/>
                <a:ea typeface="Archivo" pitchFamily="34" charset="-122"/>
                <a:cs typeface="Archivo" pitchFamily="34" charset="-120"/>
              </a:rPr>
              <a:t>Kubernetes, VMs or any cloud</a:t>
            </a:r>
            <a:endParaRPr lang="en-US" sz="850" dirty="0"/>
          </a:p>
        </p:txBody>
      </p:sp>
      <p:sp>
        <p:nvSpPr>
          <p:cNvPr id="13" name="Shape 9"/>
          <p:cNvSpPr/>
          <p:nvPr/>
        </p:nvSpPr>
        <p:spPr>
          <a:xfrm>
            <a:off x="2606040" y="2148840"/>
            <a:ext cx="1600200" cy="1188720"/>
          </a:xfrm>
          <a:prstGeom prst="roundRect">
            <a:avLst>
              <a:gd name="adj" fmla="val 8462"/>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4" name="Shape 10"/>
          <p:cNvSpPr/>
          <p:nvPr/>
        </p:nvSpPr>
        <p:spPr>
          <a:xfrm>
            <a:off x="3268980" y="2276856"/>
            <a:ext cx="274320" cy="274320"/>
          </a:xfrm>
          <a:prstGeom prst="roundRect">
            <a:avLst>
              <a:gd name="adj" fmla="val 20000"/>
            </a:avLst>
          </a:prstGeom>
          <a:ln w="9525">
            <a:solidFill>
              <a:srgbClr val="03031C"/>
            </a:solidFill>
            <a:prstDash val="solid"/>
          </a:ln>
        </p:spPr>
      </p:sp>
      <p:pic>
        <p:nvPicPr>
          <p:cNvPr id="15" name="Image 2" descr="preencoded.png">    </p:cNvPr>
          <p:cNvPicPr>
            <a:picLocks noChangeAspect="1"/>
          </p:cNvPicPr>
          <p:nvPr/>
        </p:nvPicPr>
        <p:blipFill>
          <a:blip r:embed="rId3"/>
          <a:stretch>
            <a:fillRect/>
          </a:stretch>
        </p:blipFill>
        <p:spPr>
          <a:xfrm>
            <a:off x="3332988" y="2340864"/>
            <a:ext cx="146304" cy="146304"/>
          </a:xfrm>
          <a:prstGeom prst="rect">
            <a:avLst/>
          </a:prstGeom>
        </p:spPr>
      </p:pic>
      <p:sp>
        <p:nvSpPr>
          <p:cNvPr id="16" name="Text 11"/>
          <p:cNvSpPr txBox="1"/>
          <p:nvPr/>
        </p:nvSpPr>
        <p:spPr>
          <a:xfrm>
            <a:off x="2697480" y="2624328"/>
            <a:ext cx="1417320" cy="237744"/>
          </a:xfrm>
          <a:prstGeom prst="rect">
            <a:avLst/>
          </a:prstGeom>
          <a:noFill/>
          <a:ln/>
        </p:spPr>
        <p:txBody>
          <a:bodyPr wrap="square" lIns="0" tIns="0" rIns="0" bIns="0" rtlCol="0" anchor="t"/>
          <a:lstStyle/>
          <a:p>
            <a:pPr algn="ctr" indent="0" marL="0">
              <a:buNone/>
            </a:pPr>
            <a:r>
              <a:rPr lang="en-US" sz="1150" b="1" dirty="0">
                <a:solidFill>
                  <a:srgbClr val="03031C"/>
                </a:solidFill>
                <a:latin typeface="Archivo" pitchFamily="34" charset="0"/>
                <a:ea typeface="Archivo" pitchFamily="34" charset="-122"/>
                <a:cs typeface="Archivo" pitchFamily="34" charset="-120"/>
              </a:rPr>
              <a:t>OTel Collector</a:t>
            </a:r>
            <a:endParaRPr lang="en-US" sz="1150" dirty="0"/>
          </a:p>
        </p:txBody>
      </p:sp>
      <p:sp>
        <p:nvSpPr>
          <p:cNvPr id="17" name="Text 12"/>
          <p:cNvSpPr txBox="1"/>
          <p:nvPr/>
        </p:nvSpPr>
        <p:spPr>
          <a:xfrm>
            <a:off x="2697480" y="2880360"/>
            <a:ext cx="1417320" cy="411480"/>
          </a:xfrm>
          <a:prstGeom prst="rect">
            <a:avLst/>
          </a:prstGeom>
          <a:noFill/>
          <a:ln/>
        </p:spPr>
        <p:txBody>
          <a:bodyPr wrap="square" lIns="0" tIns="0" rIns="0" bIns="0" rtlCol="0" anchor="t"/>
          <a:lstStyle/>
          <a:p>
            <a:pPr algn="ctr" indent="0" marL="0">
              <a:buNone/>
            </a:pPr>
            <a:r>
              <a:rPr lang="en-US" sz="850" dirty="0">
                <a:solidFill>
                  <a:srgbClr val="3D3A4D"/>
                </a:solidFill>
                <a:latin typeface="Archivo" pitchFamily="34" charset="0"/>
                <a:ea typeface="Archivo" pitchFamily="34" charset="-122"/>
                <a:cs typeface="Archivo" pitchFamily="34" charset="-120"/>
              </a:rPr>
              <a:t>OTLP in, logs from stdout</a:t>
            </a:r>
            <a:endParaRPr lang="en-US" sz="850" dirty="0"/>
          </a:p>
        </p:txBody>
      </p:sp>
      <p:sp>
        <p:nvSpPr>
          <p:cNvPr id="18" name="Shape 13"/>
          <p:cNvSpPr/>
          <p:nvPr/>
        </p:nvSpPr>
        <p:spPr>
          <a:xfrm>
            <a:off x="5212080" y="1783080"/>
            <a:ext cx="1508760" cy="914400"/>
          </a:xfrm>
          <a:prstGeom prst="roundRect">
            <a:avLst>
              <a:gd name="adj" fmla="val 11000"/>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9" name="Shape 14"/>
          <p:cNvSpPr/>
          <p:nvPr/>
        </p:nvSpPr>
        <p:spPr>
          <a:xfrm>
            <a:off x="5829300" y="1911096"/>
            <a:ext cx="274320" cy="274320"/>
          </a:xfrm>
          <a:prstGeom prst="roundRect">
            <a:avLst>
              <a:gd name="adj" fmla="val 20000"/>
            </a:avLst>
          </a:prstGeom>
          <a:ln w="9525">
            <a:solidFill>
              <a:srgbClr val="03031C"/>
            </a:solidFill>
            <a:prstDash val="solid"/>
          </a:ln>
        </p:spPr>
      </p:sp>
      <p:pic>
        <p:nvPicPr>
          <p:cNvPr id="20" name="Image 3" descr="preencoded.png">    </p:cNvPr>
          <p:cNvPicPr>
            <a:picLocks noChangeAspect="1"/>
          </p:cNvPicPr>
          <p:nvPr/>
        </p:nvPicPr>
        <p:blipFill>
          <a:blip r:embed="rId4"/>
          <a:stretch>
            <a:fillRect/>
          </a:stretch>
        </p:blipFill>
        <p:spPr>
          <a:xfrm>
            <a:off x="5893308" y="1975104"/>
            <a:ext cx="146304" cy="146304"/>
          </a:xfrm>
          <a:prstGeom prst="rect">
            <a:avLst/>
          </a:prstGeom>
        </p:spPr>
      </p:pic>
      <p:sp>
        <p:nvSpPr>
          <p:cNvPr id="21" name="Text 15"/>
          <p:cNvSpPr txBox="1"/>
          <p:nvPr/>
        </p:nvSpPr>
        <p:spPr>
          <a:xfrm>
            <a:off x="5303520" y="2258568"/>
            <a:ext cx="1325880" cy="237744"/>
          </a:xfrm>
          <a:prstGeom prst="rect">
            <a:avLst/>
          </a:prstGeom>
          <a:noFill/>
          <a:ln/>
        </p:spPr>
        <p:txBody>
          <a:bodyPr wrap="square" lIns="0" tIns="0" rIns="0" bIns="0" rtlCol="0" anchor="t"/>
          <a:lstStyle/>
          <a:p>
            <a:pPr algn="ctr" indent="0" marL="0">
              <a:buNone/>
            </a:pPr>
            <a:r>
              <a:rPr lang="en-US" sz="1150" b="1" dirty="0">
                <a:solidFill>
                  <a:srgbClr val="03031C"/>
                </a:solidFill>
                <a:latin typeface="Archivo" pitchFamily="34" charset="0"/>
                <a:ea typeface="Archivo" pitchFamily="34" charset="-122"/>
                <a:cs typeface="Archivo" pitchFamily="34" charset="-120"/>
              </a:rPr>
              <a:t>Prometheus</a:t>
            </a:r>
            <a:endParaRPr lang="en-US" sz="1150" dirty="0"/>
          </a:p>
        </p:txBody>
      </p:sp>
      <p:sp>
        <p:nvSpPr>
          <p:cNvPr id="22" name="Text 16"/>
          <p:cNvSpPr txBox="1"/>
          <p:nvPr/>
        </p:nvSpPr>
        <p:spPr>
          <a:xfrm>
            <a:off x="5303520" y="2514600"/>
            <a:ext cx="1325880" cy="137160"/>
          </a:xfrm>
          <a:prstGeom prst="rect">
            <a:avLst/>
          </a:prstGeom>
          <a:noFill/>
          <a:ln/>
        </p:spPr>
        <p:txBody>
          <a:bodyPr wrap="square" lIns="0" tIns="0" rIns="0" bIns="0" rtlCol="0" anchor="t"/>
          <a:lstStyle/>
          <a:p>
            <a:pPr algn="ctr" indent="0" marL="0">
              <a:buNone/>
            </a:pPr>
            <a:r>
              <a:rPr lang="en-US" sz="850" dirty="0">
                <a:solidFill>
                  <a:srgbClr val="3D3A4D"/>
                </a:solidFill>
                <a:latin typeface="Archivo" pitchFamily="34" charset="0"/>
                <a:ea typeface="Archivo" pitchFamily="34" charset="-122"/>
                <a:cs typeface="Archivo" pitchFamily="34" charset="-120"/>
              </a:rPr>
              <a:t>metrics · yours today</a:t>
            </a:r>
            <a:endParaRPr lang="en-US" sz="850" dirty="0"/>
          </a:p>
        </p:txBody>
      </p:sp>
      <p:sp>
        <p:nvSpPr>
          <p:cNvPr id="23" name="Shape 17"/>
          <p:cNvSpPr/>
          <p:nvPr/>
        </p:nvSpPr>
        <p:spPr>
          <a:xfrm>
            <a:off x="5212080" y="3108960"/>
            <a:ext cx="1508760" cy="914400"/>
          </a:xfrm>
          <a:prstGeom prst="roundRect">
            <a:avLst>
              <a:gd name="adj" fmla="val 11000"/>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4" name="Shape 18"/>
          <p:cNvSpPr/>
          <p:nvPr/>
        </p:nvSpPr>
        <p:spPr>
          <a:xfrm>
            <a:off x="5829300" y="3236976"/>
            <a:ext cx="274320" cy="274320"/>
          </a:xfrm>
          <a:prstGeom prst="roundRect">
            <a:avLst>
              <a:gd name="adj" fmla="val 20000"/>
            </a:avLst>
          </a:prstGeom>
          <a:ln w="9525">
            <a:solidFill>
              <a:srgbClr val="03031C"/>
            </a:solidFill>
            <a:prstDash val="solid"/>
          </a:ln>
        </p:spPr>
      </p:sp>
      <p:pic>
        <p:nvPicPr>
          <p:cNvPr id="25" name="Image 4" descr="preencoded.png">    </p:cNvPr>
          <p:cNvPicPr>
            <a:picLocks noChangeAspect="1"/>
          </p:cNvPicPr>
          <p:nvPr/>
        </p:nvPicPr>
        <p:blipFill>
          <a:blip r:embed="rId5"/>
          <a:stretch>
            <a:fillRect/>
          </a:stretch>
        </p:blipFill>
        <p:spPr>
          <a:xfrm>
            <a:off x="5893308" y="3300984"/>
            <a:ext cx="146304" cy="146304"/>
          </a:xfrm>
          <a:prstGeom prst="rect">
            <a:avLst/>
          </a:prstGeom>
        </p:spPr>
      </p:pic>
      <p:sp>
        <p:nvSpPr>
          <p:cNvPr id="26" name="Text 19"/>
          <p:cNvSpPr txBox="1"/>
          <p:nvPr/>
        </p:nvSpPr>
        <p:spPr>
          <a:xfrm>
            <a:off x="5303520" y="3584448"/>
            <a:ext cx="1325880" cy="237744"/>
          </a:xfrm>
          <a:prstGeom prst="rect">
            <a:avLst/>
          </a:prstGeom>
          <a:noFill/>
          <a:ln/>
        </p:spPr>
        <p:txBody>
          <a:bodyPr wrap="square" lIns="0" tIns="0" rIns="0" bIns="0" rtlCol="0" anchor="t"/>
          <a:lstStyle/>
          <a:p>
            <a:pPr algn="ctr" indent="0" marL="0">
              <a:buNone/>
            </a:pPr>
            <a:r>
              <a:rPr lang="en-US" sz="1150" b="1" dirty="0">
                <a:solidFill>
                  <a:srgbClr val="03031C"/>
                </a:solidFill>
                <a:latin typeface="Archivo" pitchFamily="34" charset="0"/>
                <a:ea typeface="Archivo" pitchFamily="34" charset="-122"/>
                <a:cs typeface="Archivo" pitchFamily="34" charset="-120"/>
              </a:rPr>
              <a:t>Loki</a:t>
            </a:r>
            <a:endParaRPr lang="en-US" sz="1150" dirty="0"/>
          </a:p>
        </p:txBody>
      </p:sp>
      <p:sp>
        <p:nvSpPr>
          <p:cNvPr id="27" name="Text 20"/>
          <p:cNvSpPr txBox="1"/>
          <p:nvPr/>
        </p:nvSpPr>
        <p:spPr>
          <a:xfrm>
            <a:off x="5303520" y="3840480"/>
            <a:ext cx="1325880" cy="137160"/>
          </a:xfrm>
          <a:prstGeom prst="rect">
            <a:avLst/>
          </a:prstGeom>
          <a:noFill/>
          <a:ln/>
        </p:spPr>
        <p:txBody>
          <a:bodyPr wrap="square" lIns="0" tIns="0" rIns="0" bIns="0" rtlCol="0" anchor="t"/>
          <a:lstStyle/>
          <a:p>
            <a:pPr algn="ctr" indent="0" marL="0">
              <a:buNone/>
            </a:pPr>
            <a:r>
              <a:rPr lang="en-US" sz="850" dirty="0">
                <a:solidFill>
                  <a:srgbClr val="3D3A4D"/>
                </a:solidFill>
                <a:latin typeface="Archivo" pitchFamily="34" charset="0"/>
                <a:ea typeface="Archivo" pitchFamily="34" charset="-122"/>
                <a:cs typeface="Archivo" pitchFamily="34" charset="-120"/>
              </a:rPr>
              <a:t>logs · yours today</a:t>
            </a:r>
            <a:endParaRPr lang="en-US" sz="850" dirty="0"/>
          </a:p>
        </p:txBody>
      </p:sp>
      <p:sp>
        <p:nvSpPr>
          <p:cNvPr id="28" name="Shape 21"/>
          <p:cNvSpPr/>
          <p:nvPr/>
        </p:nvSpPr>
        <p:spPr>
          <a:xfrm>
            <a:off x="7342632" y="2148840"/>
            <a:ext cx="1371600" cy="1188720"/>
          </a:xfrm>
          <a:prstGeom prst="roundRect">
            <a:avLst>
              <a:gd name="adj" fmla="val 8462"/>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9" name="Shape 22"/>
          <p:cNvSpPr/>
          <p:nvPr/>
        </p:nvSpPr>
        <p:spPr>
          <a:xfrm>
            <a:off x="7891272" y="2276856"/>
            <a:ext cx="274320" cy="274320"/>
          </a:xfrm>
          <a:prstGeom prst="roundRect">
            <a:avLst>
              <a:gd name="adj" fmla="val 20000"/>
            </a:avLst>
          </a:prstGeom>
          <a:ln w="9525">
            <a:solidFill>
              <a:srgbClr val="03031C"/>
            </a:solidFill>
            <a:prstDash val="solid"/>
          </a:ln>
        </p:spPr>
      </p:sp>
      <p:pic>
        <p:nvPicPr>
          <p:cNvPr id="30" name="Image 5" descr="preencoded.png">    </p:cNvPr>
          <p:cNvPicPr>
            <a:picLocks noChangeAspect="1"/>
          </p:cNvPicPr>
          <p:nvPr/>
        </p:nvPicPr>
        <p:blipFill>
          <a:blip r:embed="rId6"/>
          <a:stretch>
            <a:fillRect/>
          </a:stretch>
        </p:blipFill>
        <p:spPr>
          <a:xfrm>
            <a:off x="7955280" y="2340864"/>
            <a:ext cx="146304" cy="146304"/>
          </a:xfrm>
          <a:prstGeom prst="rect">
            <a:avLst/>
          </a:prstGeom>
        </p:spPr>
      </p:pic>
      <p:sp>
        <p:nvSpPr>
          <p:cNvPr id="31" name="Text 23"/>
          <p:cNvSpPr txBox="1"/>
          <p:nvPr/>
        </p:nvSpPr>
        <p:spPr>
          <a:xfrm>
            <a:off x="7434072" y="2624328"/>
            <a:ext cx="1188720" cy="237744"/>
          </a:xfrm>
          <a:prstGeom prst="rect">
            <a:avLst/>
          </a:prstGeom>
          <a:noFill/>
          <a:ln/>
        </p:spPr>
        <p:txBody>
          <a:bodyPr wrap="square" lIns="0" tIns="0" rIns="0" bIns="0" rtlCol="0" anchor="t"/>
          <a:lstStyle/>
          <a:p>
            <a:pPr algn="ctr" indent="0" marL="0">
              <a:buNone/>
            </a:pPr>
            <a:r>
              <a:rPr lang="en-US" sz="1150" b="1" dirty="0">
                <a:solidFill>
                  <a:srgbClr val="03031C"/>
                </a:solidFill>
                <a:latin typeface="Archivo" pitchFamily="34" charset="0"/>
                <a:ea typeface="Archivo" pitchFamily="34" charset="-122"/>
                <a:cs typeface="Archivo" pitchFamily="34" charset="-120"/>
              </a:rPr>
              <a:t>Grafana</a:t>
            </a:r>
            <a:endParaRPr lang="en-US" sz="1150" dirty="0"/>
          </a:p>
        </p:txBody>
      </p:sp>
      <p:sp>
        <p:nvSpPr>
          <p:cNvPr id="32" name="Text 24"/>
          <p:cNvSpPr txBox="1"/>
          <p:nvPr/>
        </p:nvSpPr>
        <p:spPr>
          <a:xfrm>
            <a:off x="7434072" y="2880360"/>
            <a:ext cx="1188720" cy="411480"/>
          </a:xfrm>
          <a:prstGeom prst="rect">
            <a:avLst/>
          </a:prstGeom>
          <a:noFill/>
          <a:ln/>
        </p:spPr>
        <p:txBody>
          <a:bodyPr wrap="square" lIns="0" tIns="0" rIns="0" bIns="0" rtlCol="0" anchor="t"/>
          <a:lstStyle/>
          <a:p>
            <a:pPr algn="ctr" indent="0" marL="0">
              <a:buNone/>
            </a:pPr>
            <a:r>
              <a:rPr lang="en-US" sz="850" dirty="0">
                <a:solidFill>
                  <a:srgbClr val="3D3A4D"/>
                </a:solidFill>
                <a:latin typeface="Archivo" pitchFamily="34" charset="0"/>
                <a:ea typeface="Archivo" pitchFamily="34" charset="-122"/>
                <a:cs typeface="Archivo" pitchFamily="34" charset="-120"/>
              </a:rPr>
              <a:t>ready-made dashboards</a:t>
            </a:r>
            <a:endParaRPr lang="en-US" sz="850" dirty="0"/>
          </a:p>
        </p:txBody>
      </p:sp>
      <p:sp>
        <p:nvSpPr>
          <p:cNvPr id="33" name="Shape 25"/>
          <p:cNvSpPr/>
          <p:nvPr/>
        </p:nvSpPr>
        <p:spPr>
          <a:xfrm>
            <a:off x="1984248" y="2743200"/>
            <a:ext cx="621792" cy="0"/>
          </a:xfrm>
          <a:prstGeom prst="line">
            <a:avLst/>
          </a:prstGeom>
          <a:noFill/>
          <a:ln w="9525">
            <a:solidFill>
              <a:srgbClr val="03031C"/>
            </a:solidFill>
            <a:prstDash val="solid"/>
            <a:tailEnd type="open"/>
          </a:ln>
        </p:spPr>
      </p:sp>
      <p:sp>
        <p:nvSpPr>
          <p:cNvPr id="34" name="Text 26"/>
          <p:cNvSpPr txBox="1"/>
          <p:nvPr/>
        </p:nvSpPr>
        <p:spPr>
          <a:xfrm>
            <a:off x="1892808" y="2514600"/>
            <a:ext cx="804672" cy="164592"/>
          </a:xfrm>
          <a:prstGeom prst="rect">
            <a:avLst/>
          </a:prstGeom>
          <a:noFill/>
          <a:ln/>
        </p:spPr>
        <p:txBody>
          <a:bodyPr wrap="square" lIns="0" tIns="0" rIns="0" bIns="0" rtlCol="0" anchor="t"/>
          <a:lstStyle/>
          <a:p>
            <a:pPr algn="ctr" indent="0" marL="0">
              <a:buNone/>
            </a:pPr>
            <a:r>
              <a:rPr lang="en-US" sz="650" spc="80" kern="0" dirty="0">
                <a:solidFill>
                  <a:srgbClr val="6B6879"/>
                </a:solidFill>
                <a:latin typeface="Space Mono" pitchFamily="34" charset="0"/>
                <a:ea typeface="Space Mono" pitchFamily="34" charset="-122"/>
                <a:cs typeface="Space Mono" pitchFamily="34" charset="-120"/>
              </a:rPr>
              <a:t>OTLP · JSON LOGS</a:t>
            </a:r>
            <a:endParaRPr lang="en-US" sz="650" dirty="0"/>
          </a:p>
        </p:txBody>
      </p:sp>
      <p:sp>
        <p:nvSpPr>
          <p:cNvPr id="35" name="Shape 27"/>
          <p:cNvSpPr/>
          <p:nvPr/>
        </p:nvSpPr>
        <p:spPr>
          <a:xfrm flipV="1">
            <a:off x="4206240" y="2240280"/>
            <a:ext cx="1005840" cy="320040"/>
          </a:xfrm>
          <a:prstGeom prst="line">
            <a:avLst/>
          </a:prstGeom>
          <a:noFill/>
          <a:ln w="9525">
            <a:solidFill>
              <a:srgbClr val="03031C"/>
            </a:solidFill>
            <a:prstDash val="solid"/>
            <a:tailEnd type="open"/>
          </a:ln>
        </p:spPr>
      </p:sp>
      <p:sp>
        <p:nvSpPr>
          <p:cNvPr id="36" name="Text 28"/>
          <p:cNvSpPr txBox="1"/>
          <p:nvPr/>
        </p:nvSpPr>
        <p:spPr>
          <a:xfrm>
            <a:off x="4114800" y="1938528"/>
            <a:ext cx="1188720" cy="164592"/>
          </a:xfrm>
          <a:prstGeom prst="rect">
            <a:avLst/>
          </a:prstGeom>
          <a:noFill/>
          <a:ln/>
        </p:spPr>
        <p:txBody>
          <a:bodyPr wrap="square" lIns="0" tIns="0" rIns="0" bIns="0" rtlCol="0" anchor="t"/>
          <a:lstStyle/>
          <a:p>
            <a:pPr algn="ctr" indent="0" marL="0">
              <a:buNone/>
            </a:pPr>
            <a:r>
              <a:rPr lang="en-US" sz="650" spc="80" kern="0" dirty="0">
                <a:solidFill>
                  <a:srgbClr val="6B6879"/>
                </a:solidFill>
                <a:latin typeface="Space Mono" pitchFamily="34" charset="0"/>
                <a:ea typeface="Space Mono" pitchFamily="34" charset="-122"/>
                <a:cs typeface="Space Mono" pitchFamily="34" charset="-120"/>
              </a:rPr>
              <a:t>METRICS</a:t>
            </a:r>
            <a:endParaRPr lang="en-US" sz="650" dirty="0"/>
          </a:p>
        </p:txBody>
      </p:sp>
      <p:sp>
        <p:nvSpPr>
          <p:cNvPr id="37" name="Shape 29"/>
          <p:cNvSpPr/>
          <p:nvPr/>
        </p:nvSpPr>
        <p:spPr>
          <a:xfrm>
            <a:off x="4206240" y="2926080"/>
            <a:ext cx="1005840" cy="640080"/>
          </a:xfrm>
          <a:prstGeom prst="line">
            <a:avLst/>
          </a:prstGeom>
          <a:noFill/>
          <a:ln w="9525">
            <a:solidFill>
              <a:srgbClr val="03031C"/>
            </a:solidFill>
            <a:prstDash val="solid"/>
            <a:tailEnd type="open"/>
          </a:ln>
        </p:spPr>
      </p:sp>
      <p:sp>
        <p:nvSpPr>
          <p:cNvPr id="38" name="Text 30"/>
          <p:cNvSpPr txBox="1"/>
          <p:nvPr/>
        </p:nvSpPr>
        <p:spPr>
          <a:xfrm>
            <a:off x="4114800" y="3401568"/>
            <a:ext cx="1188720" cy="164592"/>
          </a:xfrm>
          <a:prstGeom prst="rect">
            <a:avLst/>
          </a:prstGeom>
          <a:noFill/>
          <a:ln/>
        </p:spPr>
        <p:txBody>
          <a:bodyPr wrap="square" lIns="0" tIns="0" rIns="0" bIns="0" rtlCol="0" anchor="t"/>
          <a:lstStyle/>
          <a:p>
            <a:pPr algn="ctr" indent="0" marL="0">
              <a:buNone/>
            </a:pPr>
            <a:r>
              <a:rPr lang="en-US" sz="650" spc="80" kern="0" dirty="0">
                <a:solidFill>
                  <a:srgbClr val="6B6879"/>
                </a:solidFill>
                <a:latin typeface="Space Mono" pitchFamily="34" charset="0"/>
                <a:ea typeface="Space Mono" pitchFamily="34" charset="-122"/>
                <a:cs typeface="Space Mono" pitchFamily="34" charset="-120"/>
              </a:rPr>
              <a:t>LOGS</a:t>
            </a:r>
            <a:endParaRPr lang="en-US" sz="650" dirty="0"/>
          </a:p>
        </p:txBody>
      </p:sp>
      <p:sp>
        <p:nvSpPr>
          <p:cNvPr id="39" name="Shape 31"/>
          <p:cNvSpPr/>
          <p:nvPr/>
        </p:nvSpPr>
        <p:spPr>
          <a:xfrm>
            <a:off x="6720840" y="2240280"/>
            <a:ext cx="621792" cy="320040"/>
          </a:xfrm>
          <a:prstGeom prst="line">
            <a:avLst/>
          </a:prstGeom>
          <a:noFill/>
          <a:ln w="9525">
            <a:solidFill>
              <a:srgbClr val="03031C"/>
            </a:solidFill>
            <a:prstDash val="solid"/>
            <a:tailEnd type="open"/>
          </a:ln>
        </p:spPr>
      </p:sp>
      <p:sp>
        <p:nvSpPr>
          <p:cNvPr id="40" name="Shape 32"/>
          <p:cNvSpPr/>
          <p:nvPr/>
        </p:nvSpPr>
        <p:spPr>
          <a:xfrm flipV="1">
            <a:off x="6720840" y="2926080"/>
            <a:ext cx="621792" cy="640080"/>
          </a:xfrm>
          <a:prstGeom prst="line">
            <a:avLst/>
          </a:prstGeom>
          <a:noFill/>
          <a:ln w="9525">
            <a:solidFill>
              <a:srgbClr val="03031C"/>
            </a:solidFill>
            <a:prstDash val="solid"/>
            <a:tailEnd type="open"/>
          </a:ln>
        </p:spPr>
      </p:sp>
      <p:sp>
        <p:nvSpPr>
          <p:cNvPr id="41" name="Shape 33"/>
          <p:cNvSpPr/>
          <p:nvPr/>
        </p:nvSpPr>
        <p:spPr>
          <a:xfrm>
            <a:off x="2606040" y="3749040"/>
            <a:ext cx="1600200" cy="502920"/>
          </a:xfrm>
          <a:prstGeom prst="roundRect">
            <a:avLst>
              <a:gd name="adj" fmla="val 14545"/>
            </a:avLst>
          </a:prstGeom>
          <a:solidFill>
            <a:srgbClr val="F8F7FC"/>
          </a:solidFill>
          <a:ln w="9525">
            <a:solidFill>
              <a:srgbClr val="6B6879"/>
            </a:solidFill>
            <a:prstDash val="dash"/>
          </a:ln>
        </p:spPr>
      </p:sp>
      <p:sp>
        <p:nvSpPr>
          <p:cNvPr id="42" name="Text 34"/>
          <p:cNvSpPr txBox="1"/>
          <p:nvPr/>
        </p:nvSpPr>
        <p:spPr>
          <a:xfrm>
            <a:off x="2697480" y="3794760"/>
            <a:ext cx="1417320" cy="411480"/>
          </a:xfrm>
          <a:prstGeom prst="rect">
            <a:avLst/>
          </a:prstGeom>
          <a:noFill/>
          <a:ln/>
        </p:spPr>
        <p:txBody>
          <a:bodyPr wrap="square" lIns="0" tIns="0" rIns="0" bIns="0" rtlCol="0" anchor="t"/>
          <a:lstStyle/>
          <a:p>
            <a:pPr algn="ctr" indent="0" marL="0">
              <a:buNone/>
            </a:pPr>
            <a:r>
              <a:rPr lang="en-US" sz="950" b="1" dirty="0">
                <a:solidFill>
                  <a:srgbClr val="6B6879"/>
                </a:solidFill>
                <a:latin typeface="Archivo" pitchFamily="34" charset="0"/>
                <a:ea typeface="Archivo" pitchFamily="34" charset="-122"/>
                <a:cs typeface="Archivo" pitchFamily="34" charset="-120"/>
              </a:rPr>
              <a:t>Traces · later</a:t>
            </a:r>
            <a:endParaRPr lang="en-US" sz="950" dirty="0"/>
          </a:p>
          <a:p>
            <a:pPr algn="ctr" indent="0" marL="0">
              <a:buNone/>
            </a:pPr>
            <a:r>
              <a:rPr lang="en-US" sz="800" dirty="0">
                <a:solidFill>
                  <a:srgbClr val="6B6879"/>
                </a:solidFill>
                <a:latin typeface="Archivo" pitchFamily="34" charset="0"/>
                <a:ea typeface="Archivo" pitchFamily="34" charset="-122"/>
                <a:cs typeface="Archivo" pitchFamily="34" charset="-120"/>
              </a:rPr>
              <a:t>same collector → Tempo</a:t>
            </a:r>
            <a:endParaRPr lang="en-US" sz="950" dirty="0"/>
          </a:p>
        </p:txBody>
      </p:sp>
      <p:sp>
        <p:nvSpPr>
          <p:cNvPr id="43" name="Shape 35"/>
          <p:cNvSpPr/>
          <p:nvPr/>
        </p:nvSpPr>
        <p:spPr>
          <a:xfrm>
            <a:off x="429768" y="3749040"/>
            <a:ext cx="1554480" cy="502920"/>
          </a:xfrm>
          <a:prstGeom prst="roundRect">
            <a:avLst>
              <a:gd name="adj" fmla="val 14545"/>
            </a:avLst>
          </a:prstGeom>
          <a:solidFill>
            <a:srgbClr val="F8F7FC"/>
          </a:solidFill>
          <a:ln w="9525">
            <a:solidFill>
              <a:srgbClr val="6B6879"/>
            </a:solidFill>
            <a:prstDash val="dash"/>
          </a:ln>
        </p:spPr>
      </p:sp>
      <p:sp>
        <p:nvSpPr>
          <p:cNvPr id="44" name="Text 36"/>
          <p:cNvSpPr txBox="1"/>
          <p:nvPr/>
        </p:nvSpPr>
        <p:spPr>
          <a:xfrm>
            <a:off x="502920" y="3794760"/>
            <a:ext cx="1408176" cy="411480"/>
          </a:xfrm>
          <a:prstGeom prst="rect">
            <a:avLst/>
          </a:prstGeom>
          <a:noFill/>
          <a:ln/>
        </p:spPr>
        <p:txBody>
          <a:bodyPr wrap="square" lIns="0" tIns="0" rIns="0" bIns="0" rtlCol="0" anchor="t"/>
          <a:lstStyle/>
          <a:p>
            <a:pPr algn="ctr" indent="0" marL="0">
              <a:buNone/>
            </a:pPr>
            <a:r>
              <a:rPr lang="en-US" sz="950" b="1" dirty="0">
                <a:solidFill>
                  <a:srgbClr val="6B6879"/>
                </a:solidFill>
                <a:latin typeface="Archivo" pitchFamily="34" charset="0"/>
                <a:ea typeface="Archivo" pitchFamily="34" charset="-122"/>
                <a:cs typeface="Archivo" pitchFamily="34" charset="-120"/>
              </a:rPr>
              <a:t>SQL database · optional</a:t>
            </a:r>
            <a:endParaRPr lang="en-US" sz="950" dirty="0"/>
          </a:p>
          <a:p>
            <a:pPr algn="ctr" indent="0" marL="0">
              <a:buNone/>
            </a:pPr>
            <a:r>
              <a:rPr lang="en-US" sz="800" dirty="0">
                <a:solidFill>
                  <a:srgbClr val="6B6879"/>
                </a:solidFill>
                <a:latin typeface="Archivo" pitchFamily="34" charset="0"/>
                <a:ea typeface="Archivo" pitchFamily="34" charset="-122"/>
                <a:cs typeface="Archivo" pitchFamily="34" charset="-120"/>
              </a:rPr>
              <a:t>Pump SQL for long-term records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How it works  ·  07</a:t>
            </a:r>
            <a:endParaRPr lang="en-US" sz="700" dirty="0"/>
          </a:p>
        </p:txBody>
      </p:sp>
      <p:sp>
        <p:nvSpPr>
          <p:cNvPr id="4" name="Text 1"/>
          <p:cNvSpPr txBox="1"/>
          <p:nvPr/>
        </p:nvSpPr>
        <p:spPr>
          <a:xfrm>
            <a:off x="429768" y="420624"/>
            <a:ext cx="1100023"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HOW IT WORKS</a:t>
            </a:r>
            <a:endParaRPr lang="en-US" sz="750" dirty="0"/>
          </a:p>
        </p:txBody>
      </p:sp>
      <p:sp>
        <p:nvSpPr>
          <p:cNvPr id="5" name="Shape 2"/>
          <p:cNvSpPr/>
          <p:nvPr/>
        </p:nvSpPr>
        <p:spPr>
          <a:xfrm>
            <a:off x="2975610" y="930402"/>
            <a:ext cx="4226941"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Your questions,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answered in configuration.</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Each question maps to one dimension on a gateway metric. No code in your APIs.</a:t>
            </a:r>
            <a:endParaRPr lang="en-US" sz="1150" dirty="0"/>
          </a:p>
        </p:txBody>
      </p:sp>
      <p:sp>
        <p:nvSpPr>
          <p:cNvPr id="8" name="Shape 5"/>
          <p:cNvSpPr/>
          <p:nvPr/>
        </p:nvSpPr>
        <p:spPr>
          <a:xfrm>
            <a:off x="429768" y="1828800"/>
            <a:ext cx="4754880" cy="2432304"/>
          </a:xfrm>
          <a:prstGeom prst="roundRect">
            <a:avLst>
              <a:gd name="adj" fmla="val 4135"/>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901952"/>
          <a:ext cx="4608576" cy="914400"/>
        </p:xfrm>
        <a:graphic>
          <a:graphicData uri="http://schemas.openxmlformats.org/drawingml/2006/table">
            <a:tbl>
              <a:tblPr/>
              <a:tblGrid>
                <a:gridCol w="1783080"/>
                <a:gridCol w="2825496"/>
              </a:tblGrid>
              <a:tr h="320040">
                <a:tc>
                  <a:txBody>
                    <a:bodyPr/>
                    <a:lstStyle/>
                    <a:p>
                      <a:pPr indent="0" marL="0">
                        <a:buNone/>
                      </a:pPr>
                      <a:r>
                        <a:rPr lang="en-US" sz="700" b="1" spc="80" kern="0" dirty="0">
                          <a:solidFill>
                            <a:srgbClr val="03031C"/>
                          </a:solidFill>
                          <a:latin typeface="Space Mono" pitchFamily="34" charset="0"/>
                          <a:ea typeface="Space Mono" pitchFamily="34" charset="-122"/>
                          <a:cs typeface="Space Mono" pitchFamily="34" charset="-120"/>
                        </a:rPr>
                        <a:t>QUESTION</a:t>
                      </a:r>
                      <a:endParaRPr lang="en-US" sz="700" dirty="0">
                        <a:latin typeface="Space Mono" charset="0"/>
                        <a:ea typeface="Space Mono" charset="0"/>
                        <a:cs typeface="Space Mon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6DCFB"/>
                    </a:solidFill>
                  </a:tcPr>
                </a:tc>
                <a:tc>
                  <a:txBody>
                    <a:bodyPr/>
                    <a:lstStyle/>
                    <a:p>
                      <a:pPr indent="0" marL="0">
                        <a:buNone/>
                      </a:pPr>
                      <a:r>
                        <a:rPr lang="en-US" sz="700" b="1" spc="80" kern="0" dirty="0">
                          <a:solidFill>
                            <a:srgbClr val="03031C"/>
                          </a:solidFill>
                          <a:latin typeface="Space Mono" pitchFamily="34" charset="0"/>
                          <a:ea typeface="Space Mono" pitchFamily="34" charset="-122"/>
                          <a:cs typeface="Space Mono" pitchFamily="34" charset="-120"/>
                        </a:rPr>
                        <a:t>DIMENSION  (SOURCE · KEY)</a:t>
                      </a:r>
                      <a:endParaRPr lang="en-US" sz="700" dirty="0">
                        <a:latin typeface="Space Mono" charset="0"/>
                        <a:ea typeface="Space Mono" charset="0"/>
                        <a:cs typeface="Space Mon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E6DCFB"/>
                    </a:solidFill>
                  </a:tcPr>
                </a:tc>
              </a:tr>
              <a:tr h="320040">
                <a:tc>
                  <a:txBody>
                    <a:bodyPr/>
                    <a:lstStyle/>
                    <a:p>
                      <a:pPr indent="0" marL="0">
                        <a:buNone/>
                      </a:pPr>
                      <a:r>
                        <a:rPr lang="en-US" sz="900" b="1" dirty="0">
                          <a:solidFill>
                            <a:srgbClr val="03031C"/>
                          </a:solidFill>
                          <a:latin typeface="Archivo" pitchFamily="34" charset="0"/>
                          <a:ea typeface="Archivo" pitchFamily="34" charset="-122"/>
                          <a:cs typeface="Archivo" pitchFamily="34" charset="-120"/>
                        </a:rPr>
                        <a:t>Most-used endpoints</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900" dirty="0">
                          <a:solidFill>
                            <a:srgbClr val="3D3A4D"/>
                          </a:solidFill>
                          <a:latin typeface="Archivo" pitchFamily="34" charset="0"/>
                          <a:ea typeface="Archivo" pitchFamily="34" charset="-122"/>
                          <a:cs typeface="Archivo" pitchFamily="34" charset="-120"/>
                        </a:rPr>
                        <a:t>metadata · endpoint  (tracked templates)</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r>
              <a:tr h="320040">
                <a:tc>
                  <a:txBody>
                    <a:bodyPr/>
                    <a:lstStyle/>
                    <a:p>
                      <a:pPr indent="0" marL="0">
                        <a:buNone/>
                      </a:pPr>
                      <a:r>
                        <a:rPr lang="en-US" sz="900" b="1" dirty="0">
                          <a:solidFill>
                            <a:srgbClr val="03031C"/>
                          </a:solidFill>
                          <a:latin typeface="Archivo" pitchFamily="34" charset="0"/>
                          <a:ea typeface="Archivo" pitchFamily="34" charset="-122"/>
                          <a:cs typeface="Archivo" pitchFamily="34" charset="-120"/>
                        </a:rPr>
                        <a:t>…by API key</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900" dirty="0">
                          <a:solidFill>
                            <a:srgbClr val="3D3A4D"/>
                          </a:solidFill>
                          <a:latin typeface="Archivo" pitchFamily="34" charset="0"/>
                          <a:ea typeface="Archivo" pitchFamily="34" charset="-122"/>
                          <a:cs typeface="Archivo" pitchFamily="34" charset="-120"/>
                        </a:rPr>
                        <a:t>session · alias  +  context · hashed_api_key (plugin)</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r>
              <a:tr h="320040">
                <a:tc>
                  <a:txBody>
                    <a:bodyPr/>
                    <a:lstStyle/>
                    <a:p>
                      <a:pPr indent="0" marL="0">
                        <a:buNone/>
                      </a:pPr>
                      <a:r>
                        <a:rPr lang="en-US" sz="900" b="1" dirty="0">
                          <a:solidFill>
                            <a:srgbClr val="03031C"/>
                          </a:solidFill>
                          <a:latin typeface="Archivo" pitchFamily="34" charset="0"/>
                          <a:ea typeface="Archivo" pitchFamily="34" charset="-122"/>
                          <a:cs typeface="Archivo" pitchFamily="34" charset="-120"/>
                        </a:rPr>
                        <a:t>Query parameters in use</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900" dirty="0">
                          <a:solidFill>
                            <a:srgbClr val="3D3A4D"/>
                          </a:solidFill>
                          <a:latin typeface="Archivo" pitchFamily="34" charset="0"/>
                          <a:ea typeface="Archivo" pitchFamily="34" charset="-122"/>
                          <a:cs typeface="Archivo" pitchFamily="34" charset="-120"/>
                        </a:rPr>
                        <a:t>context · request_data_&lt;name&gt;</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r>
              <a:tr h="320040">
                <a:tc>
                  <a:txBody>
                    <a:bodyPr/>
                    <a:lstStyle/>
                    <a:p>
                      <a:pPr indent="0" marL="0">
                        <a:buNone/>
                      </a:pPr>
                      <a:r>
                        <a:rPr lang="en-US" sz="900" b="1" dirty="0">
                          <a:solidFill>
                            <a:srgbClr val="03031C"/>
                          </a:solidFill>
                          <a:latin typeface="Archivo" pitchFamily="34" charset="0"/>
                          <a:ea typeface="Archivo" pitchFamily="34" charset="-122"/>
                          <a:cs typeface="Archivo" pitchFamily="34" charset="-120"/>
                        </a:rPr>
                        <a:t>Calls per API by API key</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900" dirty="0">
                          <a:solidFill>
                            <a:srgbClr val="3D3A4D"/>
                          </a:solidFill>
                          <a:latin typeface="Archivo" pitchFamily="34" charset="0"/>
                          <a:ea typeface="Archivo" pitchFamily="34" charset="-122"/>
                          <a:cs typeface="Archivo" pitchFamily="34" charset="-120"/>
                        </a:rPr>
                        <a:t>metadata · api_name  +  session · alias</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r>
              <a:tr h="320040">
                <a:tc>
                  <a:txBody>
                    <a:bodyPr/>
                    <a:lstStyle/>
                    <a:p>
                      <a:pPr indent="0" marL="0">
                        <a:buNone/>
                      </a:pPr>
                      <a:r>
                        <a:rPr lang="en-US" sz="900" b="1" dirty="0">
                          <a:solidFill>
                            <a:srgbClr val="03031C"/>
                          </a:solidFill>
                          <a:latin typeface="Archivo" pitchFamily="34" charset="0"/>
                          <a:ea typeface="Archivo" pitchFamily="34" charset="-122"/>
                          <a:cs typeface="Archivo" pitchFamily="34" charset="-120"/>
                        </a:rPr>
                        <a:t>Latency</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900" dirty="0">
                          <a:solidFill>
                            <a:srgbClr val="3D3A4D"/>
                          </a:solidFill>
                          <a:latin typeface="Archivo" pitchFamily="34" charset="0"/>
                          <a:ea typeface="Archivo" pitchFamily="34" charset="-122"/>
                          <a:cs typeface="Archivo" pitchFamily="34" charset="-120"/>
                        </a:rPr>
                        <a:t>histogram · total, gateway, upstream</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r>
              <a:tr h="320040">
                <a:tc>
                  <a:txBody>
                    <a:bodyPr/>
                    <a:lstStyle/>
                    <a:p>
                      <a:pPr indent="0" marL="0">
                        <a:buNone/>
                      </a:pPr>
                      <a:r>
                        <a:rPr lang="en-US" sz="900" b="1" dirty="0">
                          <a:solidFill>
                            <a:srgbClr val="03031C"/>
                          </a:solidFill>
                          <a:latin typeface="Archivo" pitchFamily="34" charset="0"/>
                          <a:ea typeface="Archivo" pitchFamily="34" charset="-122"/>
                          <a:cs typeface="Archivo" pitchFamily="34" charset="-120"/>
                        </a:rPr>
                        <a:t>Error rates and calls</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c>
                  <a:txBody>
                    <a:bodyPr/>
                    <a:lstStyle/>
                    <a:p>
                      <a:pPr indent="0" marL="0">
                        <a:buNone/>
                      </a:pPr>
                      <a:r>
                        <a:rPr lang="en-US" sz="900" dirty="0">
                          <a:solidFill>
                            <a:srgbClr val="3D3A4D"/>
                          </a:solidFill>
                          <a:latin typeface="Archivo" pitchFamily="34" charset="0"/>
                          <a:ea typeface="Archivo" pitchFamily="34" charset="-122"/>
                          <a:cs typeface="Archivo" pitchFamily="34" charset="-120"/>
                        </a:rPr>
                        <a:t>metadata · response_code</a:t>
                      </a:r>
                      <a:endParaRPr lang="en-US" sz="900" dirty="0">
                        <a:latin typeface="Archivo" charset="0"/>
                        <a:ea typeface="Archivo" charset="0"/>
                        <a:cs typeface="Archivo" charset="0"/>
                      </a:endParaRPr>
                    </a:p>
                  </a:txBody>
                  <a:tcPr marL="91440" marR="91440" marT="18288" marB="18288" anchor="ctr">
                    <a:lnL w="6350" cap="flat" cmpd="sng" algn="ctr">
                      <a:solidFill>
                        <a:srgbClr val="E3E1EA"/>
                      </a:solidFill>
                      <a:prstDash val="solid"/>
                      <a:round/>
                      <a:headEnd type="none" w="med" len="med"/>
                      <a:tailEnd type="none" w="med" len="med"/>
                    </a:lnL>
                    <a:lnR w="6350" cap="flat" cmpd="sng" algn="ctr">
                      <a:solidFill>
                        <a:srgbClr val="E3E1EA"/>
                      </a:solidFill>
                      <a:prstDash val="solid"/>
                      <a:round/>
                      <a:headEnd type="none" w="med" len="med"/>
                      <a:tailEnd type="none" w="med" len="med"/>
                    </a:lnR>
                    <a:lnT w="6350" cap="flat" cmpd="sng" algn="ctr">
                      <a:solidFill>
                        <a:srgbClr val="E3E1EA"/>
                      </a:solidFill>
                      <a:prstDash val="solid"/>
                      <a:round/>
                      <a:headEnd type="none" w="med" len="med"/>
                      <a:tailEnd type="none" w="med" len="med"/>
                    </a:lnT>
                    <a:lnB w="6350" cap="flat" cmpd="sng" algn="ctr">
                      <a:solidFill>
                        <a:srgbClr val="E3E1EA"/>
                      </a:solidFill>
                      <a:prstDash val="solid"/>
                      <a:round/>
                      <a:headEnd type="none" w="med" len="med"/>
                      <a:tailEnd type="none" w="med" len="med"/>
                    </a:lnB>
                    <a:solidFill>
                      <a:srgbClr val="FFFFFF"/>
                    </a:solidFill>
                  </a:tcPr>
                </a:tc>
              </a:tr>
            </a:tbl>
          </a:graphicData>
        </a:graphic>
      </p:graphicFrame>
      <p:sp>
        <p:nvSpPr>
          <p:cNvPr id="10" name="Shape 6"/>
          <p:cNvSpPr/>
          <p:nvPr/>
        </p:nvSpPr>
        <p:spPr>
          <a:xfrm>
            <a:off x="5458968" y="1828800"/>
            <a:ext cx="3255264" cy="2432304"/>
          </a:xfrm>
          <a:prstGeom prst="roundRect">
            <a:avLst>
              <a:gd name="adj" fmla="val 4135"/>
            </a:avLst>
          </a:prstGeom>
          <a:solidFill>
            <a:srgbClr val="1C1B26"/>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1" name="Text 7"/>
          <p:cNvSpPr txBox="1"/>
          <p:nvPr/>
        </p:nvSpPr>
        <p:spPr>
          <a:xfrm>
            <a:off x="5641848" y="1975104"/>
            <a:ext cx="2980944" cy="182880"/>
          </a:xfrm>
          <a:prstGeom prst="rect">
            <a:avLst/>
          </a:prstGeom>
          <a:noFill/>
          <a:ln/>
        </p:spPr>
        <p:txBody>
          <a:bodyPr wrap="square" lIns="0" tIns="0" rIns="0" bIns="0" rtlCol="0" anchor="t"/>
          <a:lstStyle/>
          <a:p>
            <a:pPr indent="0" marL="0">
              <a:buNone/>
            </a:pPr>
            <a:r>
              <a:rPr lang="en-US" sz="650" spc="120" kern="0" dirty="0">
                <a:solidFill>
                  <a:srgbClr val="A9A6B6"/>
                </a:solidFill>
                <a:latin typeface="Space Mono" pitchFamily="34" charset="0"/>
                <a:ea typeface="Space Mono" pitchFamily="34" charset="-122"/>
                <a:cs typeface="Space Mono" pitchFamily="34" charset="-120"/>
              </a:rPr>
              <a:t>GATEWAY CONFIG · EXCERPT</a:t>
            </a:r>
            <a:endParaRPr lang="en-US" sz="650" dirty="0"/>
          </a:p>
        </p:txBody>
      </p:sp>
      <p:sp>
        <p:nvSpPr>
          <p:cNvPr id="12" name="Text 8"/>
          <p:cNvSpPr txBox="1"/>
          <p:nvPr/>
        </p:nvSpPr>
        <p:spPr>
          <a:xfrm>
            <a:off x="5641848" y="2231136"/>
            <a:ext cx="2980944" cy="1929384"/>
          </a:xfrm>
          <a:prstGeom prst="rect">
            <a:avLst/>
          </a:prstGeom>
          <a:noFill/>
          <a:ln/>
        </p:spPr>
        <p:txBody>
          <a:bodyPr wrap="square" lIns="0" tIns="0" rIns="0" bIns="0" rtlCol="0" anchor="t"/>
          <a:lstStyle/>
          <a:p>
            <a:pPr indent="0" marL="0">
              <a:buNone/>
            </a:pPr>
            <a:r>
              <a:rPr lang="en-US" sz="700" dirty="0">
                <a:solidFill>
                  <a:srgbClr val="E6E4EE"/>
                </a:solidFill>
                <a:latin typeface="Space Mono" pitchFamily="34" charset="0"/>
                <a:ea typeface="Space Mono" pitchFamily="34" charset="-122"/>
                <a:cs typeface="Space Mono" pitchFamily="34" charset="-120"/>
              </a:rPr>
              <a:t>{</a:t>
            </a:r>
            <a:endParaRPr lang="en-US" sz="700" dirty="0"/>
          </a:p>
          <a:p>
            <a:pPr indent="0" marL="0">
              <a:buNone/>
            </a:pPr>
            <a:r>
              <a:rPr lang="en-US" sz="700" dirty="0">
                <a:solidFill>
                  <a:srgbClr val="E6E4EE"/>
                </a:solidFill>
                <a:latin typeface="Space Mono" pitchFamily="34" charset="0"/>
                <a:ea typeface="Space Mono" pitchFamily="34" charset="-122"/>
                <a:cs typeface="Space Mono" pitchFamily="34" charset="-120"/>
              </a:rPr>
              <a:t>  "name": </a:t>
            </a:r>
            <a:pPr indent="0" marL="0">
              <a:buNone/>
            </a:pPr>
            <a:r>
              <a:rPr lang="en-US" sz="700" dirty="0">
                <a:solidFill>
                  <a:srgbClr val="20EDBA"/>
                </a:solidFill>
                <a:latin typeface="Space Mono" pitchFamily="34" charset="0"/>
                <a:ea typeface="Space Mono" pitchFamily="34" charset="-122"/>
                <a:cs typeface="Space Mono" pitchFamily="34" charset="-120"/>
              </a:rPr>
              <a:t>"tyk.consumer.requests"</a:t>
            </a:r>
            <a:pPr indent="0" marL="0">
              <a:buNone/>
            </a:pPr>
            <a:r>
              <a:rPr lang="en-US" sz="700" dirty="0">
                <a:solidFill>
                  <a:srgbClr val="E6E4EE"/>
                </a:solidFill>
                <a:latin typeface="Space Mono" pitchFamily="34" charset="0"/>
                <a:ea typeface="Space Mono" pitchFamily="34" charset="-122"/>
                <a:cs typeface="Space Mono" pitchFamily="34" charset="-120"/>
              </a:rPr>
              <a:t>,</a:t>
            </a:r>
            <a:endParaRPr lang="en-US" sz="700" dirty="0"/>
          </a:p>
          <a:p>
            <a:pPr indent="0" marL="0">
              <a:buNone/>
            </a:pPr>
            <a:r>
              <a:rPr lang="en-US" sz="700" dirty="0">
                <a:solidFill>
                  <a:srgbClr val="E6E4EE"/>
                </a:solidFill>
                <a:latin typeface="Space Mono" pitchFamily="34" charset="0"/>
                <a:ea typeface="Space Mono" pitchFamily="34" charset="-122"/>
                <a:cs typeface="Space Mono" pitchFamily="34" charset="-120"/>
              </a:rPr>
              <a:t>  "type": </a:t>
            </a:r>
            <a:pPr indent="0" marL="0">
              <a:buNone/>
            </a:pPr>
            <a:r>
              <a:rPr lang="en-US" sz="700" dirty="0">
                <a:solidFill>
                  <a:srgbClr val="20EDBA"/>
                </a:solidFill>
                <a:latin typeface="Space Mono" pitchFamily="34" charset="0"/>
                <a:ea typeface="Space Mono" pitchFamily="34" charset="-122"/>
                <a:cs typeface="Space Mono" pitchFamily="34" charset="-120"/>
              </a:rPr>
              <a:t>"counter"</a:t>
            </a:r>
            <a:pPr indent="0" marL="0">
              <a:buNone/>
            </a:pPr>
            <a:r>
              <a:rPr lang="en-US" sz="700" dirty="0">
                <a:solidFill>
                  <a:srgbClr val="E6E4EE"/>
                </a:solidFill>
                <a:latin typeface="Space Mono" pitchFamily="34" charset="0"/>
                <a:ea typeface="Space Mono" pitchFamily="34" charset="-122"/>
                <a:cs typeface="Space Mono" pitchFamily="34" charset="-120"/>
              </a:rPr>
              <a:t>,</a:t>
            </a:r>
            <a:endParaRPr lang="en-US" sz="700" dirty="0"/>
          </a:p>
          <a:p>
            <a:pPr indent="0" marL="0">
              <a:buNone/>
            </a:pPr>
            <a:r>
              <a:rPr lang="en-US" sz="700" dirty="0">
                <a:solidFill>
                  <a:srgbClr val="E6E4EE"/>
                </a:solidFill>
                <a:latin typeface="Space Mono" pitchFamily="34" charset="0"/>
                <a:ea typeface="Space Mono" pitchFamily="34" charset="-122"/>
                <a:cs typeface="Space Mono" pitchFamily="34" charset="-120"/>
              </a:rPr>
              <a:t>  "dimensions": [</a:t>
            </a:r>
            <a:endParaRPr lang="en-US" sz="700" dirty="0"/>
          </a:p>
          <a:p>
            <a:pPr indent="0" marL="0">
              <a:buNone/>
            </a:pPr>
            <a:r>
              <a:rPr lang="en-US" sz="700" dirty="0">
                <a:solidFill>
                  <a:srgbClr val="E6E4EE"/>
                </a:solidFill>
                <a:latin typeface="Space Mono" pitchFamily="34" charset="0"/>
                <a:ea typeface="Space Mono" pitchFamily="34" charset="-122"/>
                <a:cs typeface="Space Mono" pitchFamily="34" charset="-120"/>
              </a:rPr>
              <a:t>    { "source": </a:t>
            </a:r>
            <a:pPr indent="0" marL="0">
              <a:buNone/>
            </a:pPr>
            <a:r>
              <a:rPr lang="en-US" sz="700" dirty="0">
                <a:solidFill>
                  <a:srgbClr val="20EDBA"/>
                </a:solidFill>
                <a:latin typeface="Space Mono" pitchFamily="34" charset="0"/>
                <a:ea typeface="Space Mono" pitchFamily="34" charset="-122"/>
                <a:cs typeface="Space Mono" pitchFamily="34" charset="-120"/>
              </a:rPr>
              <a:t>"metadata"</a:t>
            </a:r>
            <a:pPr indent="0" marL="0">
              <a:buNone/>
            </a:pPr>
            <a:r>
              <a:rPr lang="en-US" sz="700" dirty="0">
                <a:solidFill>
                  <a:srgbClr val="E6E4EE"/>
                </a:solidFill>
                <a:latin typeface="Space Mono" pitchFamily="34" charset="0"/>
                <a:ea typeface="Space Mono" pitchFamily="34" charset="-122"/>
                <a:cs typeface="Space Mono" pitchFamily="34" charset="-120"/>
              </a:rPr>
              <a:t>, "key": </a:t>
            </a:r>
            <a:pPr indent="0" marL="0">
              <a:buNone/>
            </a:pPr>
            <a:r>
              <a:rPr lang="en-US" sz="700" dirty="0">
                <a:solidFill>
                  <a:srgbClr val="20EDBA"/>
                </a:solidFill>
                <a:latin typeface="Space Mono" pitchFamily="34" charset="0"/>
                <a:ea typeface="Space Mono" pitchFamily="34" charset="-122"/>
                <a:cs typeface="Space Mono" pitchFamily="34" charset="-120"/>
              </a:rPr>
              <a:t>"endpoint"</a:t>
            </a:r>
            <a:pPr indent="0" marL="0">
              <a:buNone/>
            </a:pPr>
            <a:r>
              <a:rPr lang="en-US" sz="700" dirty="0">
                <a:solidFill>
                  <a:srgbClr val="E6E4EE"/>
                </a:solidFill>
                <a:latin typeface="Space Mono" pitchFamily="34" charset="0"/>
                <a:ea typeface="Space Mono" pitchFamily="34" charset="-122"/>
                <a:cs typeface="Space Mono" pitchFamily="34" charset="-120"/>
              </a:rPr>
              <a:t> },</a:t>
            </a:r>
            <a:endParaRPr lang="en-US" sz="700" dirty="0"/>
          </a:p>
          <a:p>
            <a:pPr indent="0" marL="0">
              <a:buNone/>
            </a:pPr>
            <a:r>
              <a:rPr lang="en-US" sz="700" dirty="0">
                <a:solidFill>
                  <a:srgbClr val="E6E4EE"/>
                </a:solidFill>
                <a:latin typeface="Space Mono" pitchFamily="34" charset="0"/>
                <a:ea typeface="Space Mono" pitchFamily="34" charset="-122"/>
                <a:cs typeface="Space Mono" pitchFamily="34" charset="-120"/>
              </a:rPr>
              <a:t>    { "source": </a:t>
            </a:r>
            <a:pPr indent="0" marL="0">
              <a:buNone/>
            </a:pPr>
            <a:r>
              <a:rPr lang="en-US" sz="700" dirty="0">
                <a:solidFill>
                  <a:srgbClr val="20EDBA"/>
                </a:solidFill>
                <a:latin typeface="Space Mono" pitchFamily="34" charset="0"/>
                <a:ea typeface="Space Mono" pitchFamily="34" charset="-122"/>
                <a:cs typeface="Space Mono" pitchFamily="34" charset="-120"/>
              </a:rPr>
              <a:t>"session"</a:t>
            </a:r>
            <a:pPr indent="0" marL="0">
              <a:buNone/>
            </a:pPr>
            <a:r>
              <a:rPr lang="en-US" sz="700" dirty="0">
                <a:solidFill>
                  <a:srgbClr val="E6E4EE"/>
                </a:solidFill>
                <a:latin typeface="Space Mono" pitchFamily="34" charset="0"/>
                <a:ea typeface="Space Mono" pitchFamily="34" charset="-122"/>
                <a:cs typeface="Space Mono" pitchFamily="34" charset="-120"/>
              </a:rPr>
              <a:t>, "key": </a:t>
            </a:r>
            <a:pPr indent="0" marL="0">
              <a:buNone/>
            </a:pPr>
            <a:r>
              <a:rPr lang="en-US" sz="700" dirty="0">
                <a:solidFill>
                  <a:srgbClr val="20EDBA"/>
                </a:solidFill>
                <a:latin typeface="Space Mono" pitchFamily="34" charset="0"/>
                <a:ea typeface="Space Mono" pitchFamily="34" charset="-122"/>
                <a:cs typeface="Space Mono" pitchFamily="34" charset="-120"/>
              </a:rPr>
              <a:t>"alias"</a:t>
            </a:r>
            <a:pPr indent="0" marL="0">
              <a:buNone/>
            </a:pPr>
            <a:r>
              <a:rPr lang="en-US" sz="700" dirty="0">
                <a:solidFill>
                  <a:srgbClr val="E6E4EE"/>
                </a:solidFill>
                <a:latin typeface="Space Mono" pitchFamily="34" charset="0"/>
                <a:ea typeface="Space Mono" pitchFamily="34" charset="-122"/>
                <a:cs typeface="Space Mono" pitchFamily="34" charset="-120"/>
              </a:rPr>
              <a:t>,</a:t>
            </a:r>
            <a:endParaRPr lang="en-US" sz="700" dirty="0"/>
          </a:p>
          <a:p>
            <a:pPr indent="0" marL="0">
              <a:buNone/>
            </a:pPr>
            <a:r>
              <a:rPr lang="en-US" sz="700" dirty="0">
                <a:solidFill>
                  <a:srgbClr val="E6E4EE"/>
                </a:solidFill>
                <a:latin typeface="Space Mono" pitchFamily="34" charset="0"/>
                <a:ea typeface="Space Mono" pitchFamily="34" charset="-122"/>
                <a:cs typeface="Space Mono" pitchFamily="34" charset="-120"/>
              </a:rPr>
              <a:t>      "label": </a:t>
            </a:r>
            <a:pPr indent="0" marL="0">
              <a:buNone/>
            </a:pPr>
            <a:r>
              <a:rPr lang="en-US" sz="700" dirty="0">
                <a:solidFill>
                  <a:srgbClr val="20EDBA"/>
                </a:solidFill>
                <a:latin typeface="Space Mono" pitchFamily="34" charset="0"/>
                <a:ea typeface="Space Mono" pitchFamily="34" charset="-122"/>
                <a:cs typeface="Space Mono" pitchFamily="34" charset="-120"/>
              </a:rPr>
              <a:t>"consumer"</a:t>
            </a:r>
            <a:pPr indent="0" marL="0">
              <a:buNone/>
            </a:pPr>
            <a:r>
              <a:rPr lang="en-US" sz="700" dirty="0">
                <a:solidFill>
                  <a:srgbClr val="E6E4EE"/>
                </a:solidFill>
                <a:latin typeface="Space Mono" pitchFamily="34" charset="0"/>
                <a:ea typeface="Space Mono" pitchFamily="34" charset="-122"/>
                <a:cs typeface="Space Mono" pitchFamily="34" charset="-120"/>
              </a:rPr>
              <a:t> }</a:t>
            </a:r>
            <a:endParaRPr lang="en-US" sz="700" dirty="0"/>
          </a:p>
          <a:p>
            <a:pPr indent="0" marL="0">
              <a:buNone/>
            </a:pPr>
            <a:r>
              <a:rPr lang="en-US" sz="700" dirty="0">
                <a:solidFill>
                  <a:srgbClr val="E6E4EE"/>
                </a:solidFill>
                <a:latin typeface="Space Mono" pitchFamily="34" charset="0"/>
                <a:ea typeface="Space Mono" pitchFamily="34" charset="-122"/>
                <a:cs typeface="Space Mono" pitchFamily="34" charset="-120"/>
              </a:rPr>
              <a:t>  ],</a:t>
            </a:r>
            <a:endParaRPr lang="en-US" sz="700" dirty="0"/>
          </a:p>
          <a:p>
            <a:pPr indent="0" marL="0">
              <a:buNone/>
            </a:pPr>
            <a:r>
              <a:rPr lang="en-US" sz="700" dirty="0">
                <a:solidFill>
                  <a:srgbClr val="E6E4EE"/>
                </a:solidFill>
                <a:latin typeface="Space Mono" pitchFamily="34" charset="0"/>
                <a:ea typeface="Space Mono" pitchFamily="34" charset="-122"/>
                <a:cs typeface="Space Mono" pitchFamily="34" charset="-120"/>
              </a:rPr>
              <a:t>  "filters": { "api_ids": [</a:t>
            </a:r>
            <a:endParaRPr lang="en-US" sz="700" dirty="0"/>
          </a:p>
          <a:p>
            <a:pPr indent="0" marL="0">
              <a:buNone/>
            </a:pPr>
            <a:r>
              <a:rPr lang="en-US" sz="700" dirty="0">
                <a:solidFill>
                  <a:srgbClr val="E6E4EE"/>
                </a:solidFill>
                <a:latin typeface="Space Mono" pitchFamily="34" charset="0"/>
                <a:ea typeface="Space Mono" pitchFamily="34" charset="-122"/>
                <a:cs typeface="Space Mono" pitchFamily="34" charset="-120"/>
              </a:rPr>
              <a:t>    </a:t>
            </a:r>
            <a:pPr indent="0" marL="0">
              <a:buNone/>
            </a:pPr>
            <a:r>
              <a:rPr lang="en-US" sz="700" dirty="0">
                <a:solidFill>
                  <a:srgbClr val="20EDBA"/>
                </a:solidFill>
                <a:latin typeface="Space Mono" pitchFamily="34" charset="0"/>
                <a:ea typeface="Space Mono" pitchFamily="34" charset="-122"/>
                <a:cs typeface="Space Mono" pitchFamily="34" charset="-120"/>
              </a:rPr>
              <a:t>"demo-project-management"</a:t>
            </a:r>
            <a:pPr indent="0" marL="0">
              <a:buNone/>
            </a:pPr>
            <a:r>
              <a:rPr lang="en-US" sz="700" dirty="0">
                <a:solidFill>
                  <a:srgbClr val="E6E4EE"/>
                </a:solidFill>
                <a:latin typeface="Space Mono" pitchFamily="34" charset="0"/>
                <a:ea typeface="Space Mono" pitchFamily="34" charset="-122"/>
                <a:cs typeface="Space Mono" pitchFamily="34" charset="-120"/>
              </a:rPr>
              <a:t>, … ] }</a:t>
            </a:r>
            <a:endParaRPr lang="en-US" sz="700" dirty="0"/>
          </a:p>
          <a:p>
            <a:pPr indent="0" marL="0">
              <a:buNone/>
            </a:pPr>
            <a:r>
              <a:rPr lang="en-US" sz="700" dirty="0">
                <a:solidFill>
                  <a:srgbClr val="E6E4EE"/>
                </a:solidFill>
                <a:latin typeface="Space Mono" pitchFamily="34" charset="0"/>
                <a:ea typeface="Space Mono" pitchFamily="34" charset="-122"/>
                <a:cs typeface="Space Mono" pitchFamily="34" charset="-120"/>
              </a:rPr>
              <a:t>}</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4F7"/>
        </a:solidFill>
      </p:bgPr>
    </p:bg>
    <p:spTree>
      <p:nvGrpSpPr>
        <p:cNvPr id="1" name=""/>
        <p:cNvGrpSpPr/>
        <p:nvPr/>
      </p:nvGrpSpPr>
      <p:grpSpPr>
        <a:xfrm>
          <a:off x="0" y="0"/>
          <a:ext cx="0" cy="0"/>
          <a:chOff x="0" y="0"/>
          <a:chExt cx="0" cy="0"/>
        </a:xfrm>
      </p:grpSpPr>
      <p:sp>
        <p:nvSpPr>
          <p:cNvPr id="2" name="Text 0"/>
          <p:cNvSpPr txBox="1"/>
          <p:nvPr/>
        </p:nvSpPr>
        <p:spPr>
          <a:xfrm>
            <a:off x="612648" y="868680"/>
            <a:ext cx="2286000" cy="1005840"/>
          </a:xfrm>
          <a:prstGeom prst="rect">
            <a:avLst/>
          </a:prstGeom>
          <a:noFill/>
          <a:ln/>
        </p:spPr>
        <p:txBody>
          <a:bodyPr wrap="square" lIns="0" tIns="0" rIns="0" bIns="0" rtlCol="0" anchor="t"/>
          <a:lstStyle/>
          <a:p>
            <a:pPr indent="0" marL="0">
              <a:buNone/>
            </a:pPr>
            <a:r>
              <a:rPr lang="en-US" sz="7200" b="1" spc="-200" kern="0" dirty="0">
                <a:solidFill>
                  <a:srgbClr val="03031C"/>
                </a:solidFill>
                <a:latin typeface="Archivo" pitchFamily="34" charset="0"/>
                <a:ea typeface="Archivo" pitchFamily="34" charset="-122"/>
                <a:cs typeface="Archivo" pitchFamily="34" charset="-120"/>
              </a:rPr>
              <a:t>02</a:t>
            </a:r>
            <a:endParaRPr lang="en-US" sz="7200" dirty="0"/>
          </a:p>
        </p:txBody>
      </p:sp>
      <p:sp>
        <p:nvSpPr>
          <p:cNvPr id="3" name="Text 1"/>
          <p:cNvSpPr txBox="1"/>
          <p:nvPr/>
        </p:nvSpPr>
        <p:spPr>
          <a:xfrm>
            <a:off x="612648" y="1920240"/>
            <a:ext cx="879881" cy="201168"/>
          </a:xfrm>
          <a:prstGeom prst="roundRect">
            <a:avLst>
              <a:gd name="adj" fmla="val 50000"/>
            </a:avLst>
          </a:prstGeom>
          <a:solidFill>
            <a:srgbClr val="EDE4F7"/>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LIVE DEMO</a:t>
            </a:r>
            <a:endParaRPr lang="en-US" sz="750" dirty="0"/>
          </a:p>
        </p:txBody>
      </p:sp>
      <p:sp>
        <p:nvSpPr>
          <p:cNvPr id="4" name="Shape 2"/>
          <p:cNvSpPr/>
          <p:nvPr/>
        </p:nvSpPr>
        <p:spPr>
          <a:xfrm>
            <a:off x="594360" y="2803733"/>
            <a:ext cx="3303803" cy="128382"/>
          </a:xfrm>
          <a:prstGeom prst="rect">
            <a:avLst/>
          </a:prstGeom>
          <a:solidFill>
            <a:srgbClr val="BDF3DC"/>
          </a:solidFill>
          <a:ln/>
        </p:spPr>
      </p:sp>
      <p:sp>
        <p:nvSpPr>
          <p:cNvPr id="5" name="Text 3"/>
          <p:cNvSpPr txBox="1"/>
          <p:nvPr/>
        </p:nvSpPr>
        <p:spPr>
          <a:xfrm>
            <a:off x="612648" y="2240280"/>
            <a:ext cx="3931920" cy="804672"/>
          </a:xfrm>
          <a:prstGeom prst="rect">
            <a:avLst/>
          </a:prstGeom>
          <a:noFill/>
          <a:ln/>
        </p:spPr>
        <p:txBody>
          <a:bodyPr wrap="square" lIns="0" tIns="0" rIns="0" bIns="0" rtlCol="0" anchor="t"/>
          <a:lstStyle/>
          <a:p>
            <a:pPr indent="0" marL="0">
              <a:lnSpc>
                <a:spcPts val="2808"/>
              </a:lnSpc>
              <a:buNone/>
            </a:pPr>
            <a:r>
              <a:rPr lang="en-US" sz="2600" b="1" spc="-40" kern="0" dirty="0">
                <a:solidFill>
                  <a:srgbClr val="03031C"/>
                </a:solidFill>
                <a:latin typeface="Archivo" pitchFamily="34" charset="0"/>
                <a:ea typeface="Archivo" pitchFamily="34" charset="-122"/>
                <a:cs typeface="Archivo" pitchFamily="34" charset="-120"/>
              </a:rPr>
              <a:t>The API Consumer</a:t>
            </a:r>
            <a:endParaRPr lang="en-US" sz="2600" dirty="0"/>
          </a:p>
          <a:p>
            <a:pPr indent="0" marL="0">
              <a:lnSpc>
                <a:spcPts val="2808"/>
              </a:lnSpc>
              <a:buNone/>
            </a:pPr>
            <a:r>
              <a:rPr lang="en-US" sz="2600" b="1" spc="-40" kern="0" dirty="0">
                <a:solidFill>
                  <a:srgbClr val="03031C"/>
                </a:solidFill>
                <a:latin typeface="Archivo" pitchFamily="34" charset="0"/>
                <a:ea typeface="Archivo" pitchFamily="34" charset="-122"/>
                <a:cs typeface="Archivo" pitchFamily="34" charset="-120"/>
              </a:rPr>
              <a:t>Insights dashboard.</a:t>
            </a:r>
            <a:endParaRPr lang="en-US" sz="2600" dirty="0"/>
          </a:p>
        </p:txBody>
      </p:sp>
      <p:sp>
        <p:nvSpPr>
          <p:cNvPr id="6" name="Text 4"/>
          <p:cNvSpPr txBox="1"/>
          <p:nvPr/>
        </p:nvSpPr>
        <p:spPr>
          <a:xfrm>
            <a:off x="612648" y="3136392"/>
            <a:ext cx="3657600" cy="640080"/>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Three APIs, six consumer applications, one dashboard row per question.</a:t>
            </a:r>
            <a:endParaRPr lang="en-US" sz="1150" dirty="0"/>
          </a:p>
        </p:txBody>
      </p:sp>
      <p:sp>
        <p:nvSpPr>
          <p:cNvPr id="7" name="Shape 5"/>
          <p:cNvSpPr/>
          <p:nvPr/>
        </p:nvSpPr>
        <p:spPr>
          <a:xfrm>
            <a:off x="612648" y="3977640"/>
            <a:ext cx="310896" cy="45720"/>
          </a:xfrm>
          <a:prstGeom prst="roundRect">
            <a:avLst>
              <a:gd name="adj" fmla="val 50000"/>
            </a:avLst>
          </a:prstGeom>
          <a:solidFill>
            <a:srgbClr val="20EDBA"/>
          </a:solidFill>
          <a:ln/>
        </p:spPr>
      </p:sp>
      <p:sp>
        <p:nvSpPr>
          <p:cNvPr id="8" name="Shape 6"/>
          <p:cNvSpPr/>
          <p:nvPr/>
        </p:nvSpPr>
        <p:spPr>
          <a:xfrm>
            <a:off x="978408" y="3977640"/>
            <a:ext cx="310896" cy="45720"/>
          </a:xfrm>
          <a:prstGeom prst="roundRect">
            <a:avLst>
              <a:gd name="adj" fmla="val 50000"/>
            </a:avLst>
          </a:prstGeom>
          <a:solidFill>
            <a:srgbClr val="20EDBA"/>
          </a:solidFill>
          <a:ln/>
        </p:spPr>
      </p:sp>
      <p:sp>
        <p:nvSpPr>
          <p:cNvPr id="9" name="Shape 7"/>
          <p:cNvSpPr/>
          <p:nvPr/>
        </p:nvSpPr>
        <p:spPr>
          <a:xfrm>
            <a:off x="1344168" y="3977640"/>
            <a:ext cx="310896" cy="45720"/>
          </a:xfrm>
          <a:prstGeom prst="roundRect">
            <a:avLst>
              <a:gd name="adj" fmla="val 50000"/>
            </a:avLst>
          </a:prstGeom>
          <a:solidFill>
            <a:srgbClr val="D6CDE8"/>
          </a:solidFill>
          <a:ln/>
        </p:spPr>
      </p:sp>
      <p:sp>
        <p:nvSpPr>
          <p:cNvPr id="10" name="Shape 8"/>
          <p:cNvSpPr/>
          <p:nvPr/>
        </p:nvSpPr>
        <p:spPr>
          <a:xfrm>
            <a:off x="4572000" y="0"/>
            <a:ext cx="4572000" cy="5143500"/>
          </a:xfrm>
          <a:prstGeom prst="rect">
            <a:avLst/>
          </a:prstGeom>
          <a:solidFill>
            <a:srgbClr val="E9DAF9"/>
          </a:solidFill>
          <a:ln w="9525">
            <a:solidFill>
              <a:srgbClr val="03031C"/>
            </a:solidFill>
            <a:prstDash val="solid"/>
          </a:ln>
        </p:spPr>
      </p:sp>
      <p:pic>
        <p:nvPicPr>
          <p:cNvPr id="11" name="Image 0" descr="Tyk">    </p:cNvPr>
          <p:cNvPicPr>
            <a:picLocks noChangeAspect="1"/>
          </p:cNvPicPr>
          <p:nvPr/>
        </p:nvPicPr>
        <p:blipFill>
          <a:blip r:embed="rId1"/>
          <a:stretch>
            <a:fillRect/>
          </a:stretch>
        </p:blipFill>
        <p:spPr>
          <a:xfrm>
            <a:off x="6172200" y="1885950"/>
            <a:ext cx="1371600" cy="1371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Walkthrough  ·  09</a:t>
            </a:r>
            <a:endParaRPr lang="en-US" sz="700" dirty="0"/>
          </a:p>
        </p:txBody>
      </p:sp>
      <p:sp>
        <p:nvSpPr>
          <p:cNvPr id="4" name="Text 1"/>
          <p:cNvSpPr txBox="1"/>
          <p:nvPr/>
        </p:nvSpPr>
        <p:spPr>
          <a:xfrm>
            <a:off x="429768" y="420624"/>
            <a:ext cx="1026643"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WALKTHROUGH</a:t>
            </a:r>
            <a:endParaRPr lang="en-US" sz="750" dirty="0"/>
          </a:p>
        </p:txBody>
      </p:sp>
      <p:sp>
        <p:nvSpPr>
          <p:cNvPr id="5" name="Shape 2"/>
          <p:cNvSpPr/>
          <p:nvPr/>
        </p:nvSpPr>
        <p:spPr>
          <a:xfrm>
            <a:off x="2700655" y="930402"/>
            <a:ext cx="1938083"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The numbers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at a glance.</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Calls, errors and latency for every demo API in the last 10m, with API, key and endpoint filters on every panel.</a:t>
            </a:r>
            <a:endParaRPr lang="en-US" sz="1150" dirty="0"/>
          </a:p>
        </p:txBody>
      </p:sp>
      <p:sp>
        <p:nvSpPr>
          <p:cNvPr id="8" name="Shape 5"/>
          <p:cNvSpPr/>
          <p:nvPr/>
        </p:nvSpPr>
        <p:spPr>
          <a:xfrm>
            <a:off x="429768" y="1828800"/>
            <a:ext cx="1691640" cy="1143000"/>
          </a:xfrm>
          <a:prstGeom prst="roundRect">
            <a:avLst>
              <a:gd name="adj" fmla="val 8800"/>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9" name="Text 6"/>
          <p:cNvSpPr txBox="1"/>
          <p:nvPr/>
        </p:nvSpPr>
        <p:spPr>
          <a:xfrm>
            <a:off x="594360" y="2011680"/>
            <a:ext cx="1417320" cy="502920"/>
          </a:xfrm>
          <a:prstGeom prst="rect">
            <a:avLst/>
          </a:prstGeom>
          <a:noFill/>
          <a:ln/>
        </p:spPr>
        <p:txBody>
          <a:bodyPr wrap="square" lIns="0" tIns="0" rIns="0" bIns="0" rtlCol="0" anchor="t"/>
          <a:lstStyle/>
          <a:p>
            <a:pPr indent="0" marL="0">
              <a:buNone/>
            </a:pPr>
            <a:r>
              <a:rPr lang="en-US" sz="2600" b="1" dirty="0">
                <a:solidFill>
                  <a:srgbClr val="8438FA"/>
                </a:solidFill>
                <a:latin typeface="Archivo" pitchFamily="34" charset="0"/>
                <a:ea typeface="Archivo" pitchFamily="34" charset="-122"/>
                <a:cs typeface="Archivo" pitchFamily="34" charset="-120"/>
              </a:rPr>
              <a:t>8.9k</a:t>
            </a:r>
            <a:endParaRPr lang="en-US" sz="2600" dirty="0"/>
          </a:p>
        </p:txBody>
      </p:sp>
      <p:sp>
        <p:nvSpPr>
          <p:cNvPr id="10" name="Text 7"/>
          <p:cNvSpPr txBox="1"/>
          <p:nvPr/>
        </p:nvSpPr>
        <p:spPr>
          <a:xfrm>
            <a:off x="594360" y="2606040"/>
            <a:ext cx="1417320" cy="201168"/>
          </a:xfrm>
          <a:prstGeom prst="rect">
            <a:avLst/>
          </a:prstGeom>
          <a:noFill/>
          <a:ln/>
        </p:spPr>
        <p:txBody>
          <a:bodyPr wrap="square" lIns="0" tIns="0" rIns="0" bIns="0" rtlCol="0" anchor="t"/>
          <a:lstStyle/>
          <a:p>
            <a:pPr indent="0" marL="0">
              <a:buNone/>
            </a:pPr>
            <a:r>
              <a:rPr lang="en-US" sz="650" spc="100" kern="0" dirty="0">
                <a:solidFill>
                  <a:srgbClr val="6B6879"/>
                </a:solidFill>
                <a:latin typeface="Space Mono" pitchFamily="34" charset="0"/>
                <a:ea typeface="Space Mono" pitchFamily="34" charset="-122"/>
                <a:cs typeface="Space Mono" pitchFamily="34" charset="-120"/>
              </a:rPr>
              <a:t>CALLS</a:t>
            </a:r>
            <a:endParaRPr lang="en-US" sz="650" dirty="0"/>
          </a:p>
        </p:txBody>
      </p:sp>
      <p:sp>
        <p:nvSpPr>
          <p:cNvPr id="11" name="Shape 8"/>
          <p:cNvSpPr/>
          <p:nvPr/>
        </p:nvSpPr>
        <p:spPr>
          <a:xfrm>
            <a:off x="2286000" y="1828800"/>
            <a:ext cx="1691640" cy="1143000"/>
          </a:xfrm>
          <a:prstGeom prst="roundRect">
            <a:avLst>
              <a:gd name="adj" fmla="val 8800"/>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2" name="Text 9"/>
          <p:cNvSpPr txBox="1"/>
          <p:nvPr/>
        </p:nvSpPr>
        <p:spPr>
          <a:xfrm>
            <a:off x="2450592" y="2011680"/>
            <a:ext cx="1417320" cy="502920"/>
          </a:xfrm>
          <a:prstGeom prst="rect">
            <a:avLst/>
          </a:prstGeom>
          <a:noFill/>
          <a:ln/>
        </p:spPr>
        <p:txBody>
          <a:bodyPr wrap="square" lIns="0" tIns="0" rIns="0" bIns="0" rtlCol="0" anchor="t"/>
          <a:lstStyle/>
          <a:p>
            <a:pPr indent="0" marL="0">
              <a:buNone/>
            </a:pPr>
            <a:r>
              <a:rPr lang="en-US" sz="2600" b="1" dirty="0">
                <a:solidFill>
                  <a:srgbClr val="8438FA"/>
                </a:solidFill>
                <a:latin typeface="Archivo" pitchFamily="34" charset="0"/>
                <a:ea typeface="Archivo" pitchFamily="34" charset="-122"/>
                <a:cs typeface="Archivo" pitchFamily="34" charset="-120"/>
              </a:rPr>
              <a:t>6.2%</a:t>
            </a:r>
            <a:endParaRPr lang="en-US" sz="2600" dirty="0"/>
          </a:p>
        </p:txBody>
      </p:sp>
      <p:sp>
        <p:nvSpPr>
          <p:cNvPr id="13" name="Text 10"/>
          <p:cNvSpPr txBox="1"/>
          <p:nvPr/>
        </p:nvSpPr>
        <p:spPr>
          <a:xfrm>
            <a:off x="2450592" y="2606040"/>
            <a:ext cx="1417320" cy="201168"/>
          </a:xfrm>
          <a:prstGeom prst="rect">
            <a:avLst/>
          </a:prstGeom>
          <a:noFill/>
          <a:ln/>
        </p:spPr>
        <p:txBody>
          <a:bodyPr wrap="square" lIns="0" tIns="0" rIns="0" bIns="0" rtlCol="0" anchor="t"/>
          <a:lstStyle/>
          <a:p>
            <a:pPr indent="0" marL="0">
              <a:buNone/>
            </a:pPr>
            <a:r>
              <a:rPr lang="en-US" sz="650" spc="100" kern="0" dirty="0">
                <a:solidFill>
                  <a:srgbClr val="6B6879"/>
                </a:solidFill>
                <a:latin typeface="Space Mono" pitchFamily="34" charset="0"/>
                <a:ea typeface="Space Mono" pitchFamily="34" charset="-122"/>
                <a:cs typeface="Space Mono" pitchFamily="34" charset="-120"/>
              </a:rPr>
              <a:t>ERROR RATE · 4XX + 5XX</a:t>
            </a:r>
            <a:endParaRPr lang="en-US" sz="650" dirty="0"/>
          </a:p>
        </p:txBody>
      </p:sp>
      <p:sp>
        <p:nvSpPr>
          <p:cNvPr id="14" name="Shape 11"/>
          <p:cNvSpPr/>
          <p:nvPr/>
        </p:nvSpPr>
        <p:spPr>
          <a:xfrm>
            <a:off x="429768" y="3154680"/>
            <a:ext cx="1691640" cy="1143000"/>
          </a:xfrm>
          <a:prstGeom prst="roundRect">
            <a:avLst>
              <a:gd name="adj" fmla="val 8800"/>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5" name="Text 12"/>
          <p:cNvSpPr txBox="1"/>
          <p:nvPr/>
        </p:nvSpPr>
        <p:spPr>
          <a:xfrm>
            <a:off x="594360" y="3337560"/>
            <a:ext cx="1417320" cy="502920"/>
          </a:xfrm>
          <a:prstGeom prst="rect">
            <a:avLst/>
          </a:prstGeom>
          <a:noFill/>
          <a:ln/>
        </p:spPr>
        <p:txBody>
          <a:bodyPr wrap="square" lIns="0" tIns="0" rIns="0" bIns="0" rtlCol="0" anchor="t"/>
          <a:lstStyle/>
          <a:p>
            <a:pPr indent="0" marL="0">
              <a:buNone/>
            </a:pPr>
            <a:r>
              <a:rPr lang="en-US" sz="2600" b="1" dirty="0">
                <a:solidFill>
                  <a:srgbClr val="8438FA"/>
                </a:solidFill>
                <a:latin typeface="Archivo" pitchFamily="34" charset="0"/>
                <a:ea typeface="Archivo" pitchFamily="34" charset="-122"/>
                <a:cs typeface="Archivo" pitchFamily="34" charset="-120"/>
              </a:rPr>
              <a:t>531 ms</a:t>
            </a:r>
            <a:endParaRPr lang="en-US" sz="2600" dirty="0"/>
          </a:p>
        </p:txBody>
      </p:sp>
      <p:sp>
        <p:nvSpPr>
          <p:cNvPr id="16" name="Text 13"/>
          <p:cNvSpPr txBox="1"/>
          <p:nvPr/>
        </p:nvSpPr>
        <p:spPr>
          <a:xfrm>
            <a:off x="594360" y="3931920"/>
            <a:ext cx="1417320" cy="201168"/>
          </a:xfrm>
          <a:prstGeom prst="rect">
            <a:avLst/>
          </a:prstGeom>
          <a:noFill/>
          <a:ln/>
        </p:spPr>
        <p:txBody>
          <a:bodyPr wrap="square" lIns="0" tIns="0" rIns="0" bIns="0" rtlCol="0" anchor="t"/>
          <a:lstStyle/>
          <a:p>
            <a:pPr indent="0" marL="0">
              <a:buNone/>
            </a:pPr>
            <a:r>
              <a:rPr lang="en-US" sz="650" spc="100" kern="0" dirty="0">
                <a:solidFill>
                  <a:srgbClr val="6B6879"/>
                </a:solidFill>
                <a:latin typeface="Space Mono" pitchFamily="34" charset="0"/>
                <a:ea typeface="Space Mono" pitchFamily="34" charset="-122"/>
                <a:cs typeface="Space Mono" pitchFamily="34" charset="-120"/>
              </a:rPr>
              <a:t>P95 LATENCY</a:t>
            </a:r>
            <a:endParaRPr lang="en-US" sz="650" dirty="0"/>
          </a:p>
        </p:txBody>
      </p:sp>
      <p:sp>
        <p:nvSpPr>
          <p:cNvPr id="17" name="Shape 14"/>
          <p:cNvSpPr/>
          <p:nvPr/>
        </p:nvSpPr>
        <p:spPr>
          <a:xfrm>
            <a:off x="2286000" y="3154680"/>
            <a:ext cx="1691640" cy="1143000"/>
          </a:xfrm>
          <a:prstGeom prst="roundRect">
            <a:avLst>
              <a:gd name="adj" fmla="val 8800"/>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8" name="Text 15"/>
          <p:cNvSpPr txBox="1"/>
          <p:nvPr/>
        </p:nvSpPr>
        <p:spPr>
          <a:xfrm>
            <a:off x="2450592" y="3337560"/>
            <a:ext cx="1417320" cy="502920"/>
          </a:xfrm>
          <a:prstGeom prst="rect">
            <a:avLst/>
          </a:prstGeom>
          <a:noFill/>
          <a:ln/>
        </p:spPr>
        <p:txBody>
          <a:bodyPr wrap="square" lIns="0" tIns="0" rIns="0" bIns="0" rtlCol="0" anchor="t"/>
          <a:lstStyle/>
          <a:p>
            <a:pPr indent="0" marL="0">
              <a:buNone/>
            </a:pPr>
            <a:r>
              <a:rPr lang="en-US" sz="2600" b="1" dirty="0">
                <a:solidFill>
                  <a:srgbClr val="8438FA"/>
                </a:solidFill>
                <a:latin typeface="Archivo" pitchFamily="34" charset="0"/>
                <a:ea typeface="Archivo" pitchFamily="34" charset="-122"/>
                <a:cs typeface="Archivo" pitchFamily="34" charset="-120"/>
              </a:rPr>
              <a:t>6</a:t>
            </a:r>
            <a:endParaRPr lang="en-US" sz="2600" dirty="0"/>
          </a:p>
        </p:txBody>
      </p:sp>
      <p:sp>
        <p:nvSpPr>
          <p:cNvPr id="19" name="Text 16"/>
          <p:cNvSpPr txBox="1"/>
          <p:nvPr/>
        </p:nvSpPr>
        <p:spPr>
          <a:xfrm>
            <a:off x="2450592" y="3931920"/>
            <a:ext cx="1417320" cy="201168"/>
          </a:xfrm>
          <a:prstGeom prst="rect">
            <a:avLst/>
          </a:prstGeom>
          <a:noFill/>
          <a:ln/>
        </p:spPr>
        <p:txBody>
          <a:bodyPr wrap="square" lIns="0" tIns="0" rIns="0" bIns="0" rtlCol="0" anchor="t"/>
          <a:lstStyle/>
          <a:p>
            <a:pPr indent="0" marL="0">
              <a:buNone/>
            </a:pPr>
            <a:r>
              <a:rPr lang="en-US" sz="650" spc="100" kern="0" dirty="0">
                <a:solidFill>
                  <a:srgbClr val="6B6879"/>
                </a:solidFill>
                <a:latin typeface="Space Mono" pitchFamily="34" charset="0"/>
                <a:ea typeface="Space Mono" pitchFamily="34" charset="-122"/>
                <a:cs typeface="Space Mono" pitchFamily="34" charset="-120"/>
              </a:rPr>
              <a:t>ACTIVE API KEYS</a:t>
            </a:r>
            <a:endParaRPr lang="en-US" sz="650" dirty="0"/>
          </a:p>
        </p:txBody>
      </p:sp>
      <p:sp>
        <p:nvSpPr>
          <p:cNvPr id="20" name="Shape 17"/>
          <p:cNvSpPr/>
          <p:nvPr/>
        </p:nvSpPr>
        <p:spPr>
          <a:xfrm>
            <a:off x="4461757" y="1828800"/>
            <a:ext cx="4060966" cy="2487168"/>
          </a:xfrm>
          <a:prstGeom prst="roundRect">
            <a:avLst>
              <a:gd name="adj" fmla="val 4044"/>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pic>
        <p:nvPicPr>
          <p:cNvPr id="21" name="Image 1" descr="Grafana dashboard panel">    </p:cNvPr>
          <p:cNvPicPr>
            <a:picLocks noChangeAspect="1"/>
          </p:cNvPicPr>
          <p:nvPr/>
        </p:nvPicPr>
        <p:blipFill>
          <a:blip r:embed="rId2"/>
          <a:stretch>
            <a:fillRect/>
          </a:stretch>
        </p:blipFill>
        <p:spPr>
          <a:xfrm>
            <a:off x="4516621" y="1883664"/>
            <a:ext cx="3951238" cy="23774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Walkthrough  ·  10</a:t>
            </a:r>
            <a:endParaRPr lang="en-US" sz="700" dirty="0"/>
          </a:p>
        </p:txBody>
      </p:sp>
      <p:sp>
        <p:nvSpPr>
          <p:cNvPr id="4" name="Text 1"/>
          <p:cNvSpPr txBox="1"/>
          <p:nvPr/>
        </p:nvSpPr>
        <p:spPr>
          <a:xfrm>
            <a:off x="429768" y="420624"/>
            <a:ext cx="586359"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USAGE</a:t>
            </a:r>
            <a:endParaRPr lang="en-US" sz="750" dirty="0"/>
          </a:p>
        </p:txBody>
      </p:sp>
      <p:sp>
        <p:nvSpPr>
          <p:cNvPr id="5" name="Shape 2"/>
          <p:cNvSpPr/>
          <p:nvPr/>
        </p:nvSpPr>
        <p:spPr>
          <a:xfrm>
            <a:off x="4030345" y="930402"/>
            <a:ext cx="3746881"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Most-used endpoints,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by API and by API key.</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Read across a row to see which apps call an endpoint; down a column to see what one app uses.</a:t>
            </a:r>
            <a:endParaRPr lang="en-US" sz="1150" dirty="0"/>
          </a:p>
        </p:txBody>
      </p:sp>
      <p:sp>
        <p:nvSpPr>
          <p:cNvPr id="8" name="Shape 5"/>
          <p:cNvSpPr/>
          <p:nvPr/>
        </p:nvSpPr>
        <p:spPr>
          <a:xfrm>
            <a:off x="429768" y="1810811"/>
            <a:ext cx="8284464" cy="2001939"/>
          </a:xfrm>
          <a:prstGeom prst="roundRect">
            <a:avLst>
              <a:gd name="adj" fmla="val 5024"/>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pic>
        <p:nvPicPr>
          <p:cNvPr id="9" name="Image 1" descr="Grafana dashboard panel">    </p:cNvPr>
          <p:cNvPicPr>
            <a:picLocks noChangeAspect="1"/>
          </p:cNvPicPr>
          <p:nvPr/>
        </p:nvPicPr>
        <p:blipFill>
          <a:blip r:embed="rId2"/>
          <a:stretch>
            <a:fillRect/>
          </a:stretch>
        </p:blipFill>
        <p:spPr>
          <a:xfrm>
            <a:off x="484632" y="1865675"/>
            <a:ext cx="8174736" cy="1892211"/>
          </a:xfrm>
          <a:prstGeom prst="rect">
            <a:avLst/>
          </a:prstGeom>
        </p:spPr>
      </p:pic>
      <p:sp>
        <p:nvSpPr>
          <p:cNvPr id="10" name="Shape 6"/>
          <p:cNvSpPr/>
          <p:nvPr/>
        </p:nvSpPr>
        <p:spPr>
          <a:xfrm>
            <a:off x="429768" y="4005072"/>
            <a:ext cx="4050792" cy="548640"/>
          </a:xfrm>
          <a:prstGeom prst="roundRect">
            <a:avLst>
              <a:gd name="adj" fmla="val 18333"/>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1" name="Text 7"/>
          <p:cNvSpPr txBox="1"/>
          <p:nvPr/>
        </p:nvSpPr>
        <p:spPr>
          <a:xfrm>
            <a:off x="594360" y="4023360"/>
            <a:ext cx="3721608" cy="512064"/>
          </a:xfrm>
          <a:prstGeom prst="rect">
            <a:avLst/>
          </a:prstGeom>
          <a:noFill/>
          <a:ln/>
        </p:spPr>
        <p:txBody>
          <a:bodyPr wrap="square" lIns="0" tIns="0" rIns="0" bIns="0" rtlCol="0" anchor="ctr"/>
          <a:lstStyle/>
          <a:p>
            <a:pPr indent="0" marL="0">
              <a:buNone/>
            </a:pPr>
            <a:r>
              <a:rPr lang="en-US" sz="1000" b="1" dirty="0">
                <a:solidFill>
                  <a:srgbClr val="03031C"/>
                </a:solidFill>
                <a:latin typeface="Archivo" pitchFamily="34" charset="0"/>
                <a:ea typeface="Archivo" pitchFamily="34" charset="-122"/>
                <a:cs typeface="Archivo" pitchFamily="34" charset="-120"/>
              </a:rPr>
              <a:t>Busiest endpoint  </a:t>
            </a:r>
            <a:pPr indent="0" marL="0">
              <a:buNone/>
            </a:pPr>
            <a:r>
              <a:rPr lang="en-US" sz="1000" dirty="0">
                <a:solidFill>
                  <a:srgbClr val="3D3A4D"/>
                </a:solidFill>
                <a:latin typeface="Archivo" pitchFamily="34" charset="0"/>
                <a:ea typeface="Archivo" pitchFamily="34" charset="-122"/>
                <a:cs typeface="Archivo" pitchFamily="34" charset="-120"/>
              </a:rPr>
              <a:t>Equipment &amp; Fleet API · GET /equipment/{id}/telemetry: 32% of all calls.</a:t>
            </a:r>
            <a:endParaRPr lang="en-US" sz="1000" dirty="0"/>
          </a:p>
        </p:txBody>
      </p:sp>
      <p:sp>
        <p:nvSpPr>
          <p:cNvPr id="12" name="Shape 8"/>
          <p:cNvSpPr/>
          <p:nvPr/>
        </p:nvSpPr>
        <p:spPr>
          <a:xfrm>
            <a:off x="4663440" y="4005072"/>
            <a:ext cx="4050792" cy="548640"/>
          </a:xfrm>
          <a:prstGeom prst="roundRect">
            <a:avLst>
              <a:gd name="adj" fmla="val 18333"/>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3" name="Text 9"/>
          <p:cNvSpPr txBox="1"/>
          <p:nvPr/>
        </p:nvSpPr>
        <p:spPr>
          <a:xfrm>
            <a:off x="4828032" y="4023360"/>
            <a:ext cx="3721608" cy="512064"/>
          </a:xfrm>
          <a:prstGeom prst="rect">
            <a:avLst/>
          </a:prstGeom>
          <a:noFill/>
          <a:ln/>
        </p:spPr>
        <p:txBody>
          <a:bodyPr wrap="square" lIns="0" tIns="0" rIns="0" bIns="0" rtlCol="0" anchor="ctr"/>
          <a:lstStyle/>
          <a:p>
            <a:pPr indent="0" marL="0">
              <a:buNone/>
            </a:pPr>
            <a:r>
              <a:rPr lang="en-US" sz="1000" b="1" dirty="0">
                <a:solidFill>
                  <a:srgbClr val="03031C"/>
                </a:solidFill>
                <a:latin typeface="Archivo" pitchFamily="34" charset="0"/>
                <a:ea typeface="Archivo" pitchFamily="34" charset="-122"/>
                <a:cs typeface="Archivo" pitchFamily="34" charset="-120"/>
              </a:rPr>
              <a:t>Try it live  </a:t>
            </a:r>
            <a:pPr indent="0" marL="0">
              <a:buNone/>
            </a:pPr>
            <a:r>
              <a:rPr lang="en-US" sz="1000" dirty="0">
                <a:solidFill>
                  <a:srgbClr val="3D3A4D"/>
                </a:solidFill>
                <a:latin typeface="Archivo" pitchFamily="34" charset="0"/>
                <a:ea typeface="Archivo" pitchFamily="34" charset="-122"/>
                <a:cs typeface="Archivo" pitchFamily="34" charset="-120"/>
              </a:rPr>
              <a:t>Set API = Project Management API and every panel follows the filter.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Walkthrough  ·  11</a:t>
            </a:r>
            <a:endParaRPr lang="en-US" sz="700" dirty="0"/>
          </a:p>
        </p:txBody>
      </p:sp>
      <p:sp>
        <p:nvSpPr>
          <p:cNvPr id="4" name="Text 1"/>
          <p:cNvSpPr txBox="1"/>
          <p:nvPr/>
        </p:nvSpPr>
        <p:spPr>
          <a:xfrm>
            <a:off x="429768" y="420624"/>
            <a:ext cx="1466926"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PAIN POINT SOLVED</a:t>
            </a:r>
            <a:endParaRPr lang="en-US" sz="750" dirty="0"/>
          </a:p>
        </p:txBody>
      </p:sp>
      <p:sp>
        <p:nvSpPr>
          <p:cNvPr id="5" name="Shape 2"/>
          <p:cNvSpPr/>
          <p:nvPr/>
        </p:nvSpPr>
        <p:spPr>
          <a:xfrm>
            <a:off x="3649663" y="930402"/>
            <a:ext cx="2018728"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Compare API keys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side by side.</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One row per key: volume, errors, rate-limit and access denials, and latency. Sort by any column.</a:t>
            </a:r>
            <a:endParaRPr lang="en-US" sz="1150" dirty="0"/>
          </a:p>
        </p:txBody>
      </p:sp>
      <p:sp>
        <p:nvSpPr>
          <p:cNvPr id="8" name="Shape 5"/>
          <p:cNvSpPr/>
          <p:nvPr/>
        </p:nvSpPr>
        <p:spPr>
          <a:xfrm>
            <a:off x="429768" y="2067231"/>
            <a:ext cx="8284464" cy="1443378"/>
          </a:xfrm>
          <a:prstGeom prst="roundRect">
            <a:avLst>
              <a:gd name="adj" fmla="val 6969"/>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pic>
        <p:nvPicPr>
          <p:cNvPr id="9" name="Image 1" descr="Grafana dashboard panel">    </p:cNvPr>
          <p:cNvPicPr>
            <a:picLocks noChangeAspect="1"/>
          </p:cNvPicPr>
          <p:nvPr/>
        </p:nvPicPr>
        <p:blipFill>
          <a:blip r:embed="rId2"/>
          <a:stretch>
            <a:fillRect/>
          </a:stretch>
        </p:blipFill>
        <p:spPr>
          <a:xfrm>
            <a:off x="484632" y="2122095"/>
            <a:ext cx="8174736" cy="1333650"/>
          </a:xfrm>
          <a:prstGeom prst="rect">
            <a:avLst/>
          </a:prstGeom>
        </p:spPr>
      </p:pic>
      <p:sp>
        <p:nvSpPr>
          <p:cNvPr id="10" name="Shape 6"/>
          <p:cNvSpPr/>
          <p:nvPr/>
        </p:nvSpPr>
        <p:spPr>
          <a:xfrm>
            <a:off x="429768" y="4005072"/>
            <a:ext cx="4050792" cy="548640"/>
          </a:xfrm>
          <a:prstGeom prst="roundRect">
            <a:avLst>
              <a:gd name="adj" fmla="val 18333"/>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1" name="Text 7"/>
          <p:cNvSpPr txBox="1"/>
          <p:nvPr/>
        </p:nvSpPr>
        <p:spPr>
          <a:xfrm>
            <a:off x="594360" y="4023360"/>
            <a:ext cx="3721608" cy="512064"/>
          </a:xfrm>
          <a:prstGeom prst="rect">
            <a:avLst/>
          </a:prstGeom>
          <a:noFill/>
          <a:ln/>
        </p:spPr>
        <p:txBody>
          <a:bodyPr wrap="square" lIns="0" tIns="0" rIns="0" bIns="0" rtlCol="0" anchor="ctr"/>
          <a:lstStyle/>
          <a:p>
            <a:pPr indent="0" marL="0">
              <a:buNone/>
            </a:pPr>
            <a:r>
              <a:rPr lang="en-US" sz="1000" b="1" dirty="0">
                <a:solidFill>
                  <a:srgbClr val="03031C"/>
                </a:solidFill>
                <a:latin typeface="Archivo" pitchFamily="34" charset="0"/>
                <a:ea typeface="Archivo" pitchFamily="34" charset="-122"/>
                <a:cs typeface="Archivo" pitchFamily="34" charset="-120"/>
              </a:rPr>
              <a:t>Top consumer  </a:t>
            </a:r>
            <a:pPr indent="0" marL="0">
              <a:buNone/>
            </a:pPr>
            <a:r>
              <a:rPr lang="en-US" sz="1000" dirty="0">
                <a:solidFill>
                  <a:srgbClr val="3D3A4D"/>
                </a:solidFill>
                <a:latin typeface="Archivo" pitchFamily="34" charset="0"/>
                <a:ea typeface="Archivo" pitchFamily="34" charset="-122"/>
                <a:cs typeface="Archivo" pitchFamily="34" charset="-120"/>
              </a:rPr>
              <a:t>iot-telemetry-hub: 40% of all calls.</a:t>
            </a:r>
            <a:endParaRPr lang="en-US" sz="1000" dirty="0"/>
          </a:p>
        </p:txBody>
      </p:sp>
      <p:sp>
        <p:nvSpPr>
          <p:cNvPr id="12" name="Shape 8"/>
          <p:cNvSpPr/>
          <p:nvPr/>
        </p:nvSpPr>
        <p:spPr>
          <a:xfrm>
            <a:off x="4663440" y="4005072"/>
            <a:ext cx="4050792" cy="548640"/>
          </a:xfrm>
          <a:prstGeom prst="roundRect">
            <a:avLst>
              <a:gd name="adj" fmla="val 18333"/>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3" name="Text 9"/>
          <p:cNvSpPr txBox="1"/>
          <p:nvPr/>
        </p:nvSpPr>
        <p:spPr>
          <a:xfrm>
            <a:off x="4828032" y="4023360"/>
            <a:ext cx="3721608" cy="512064"/>
          </a:xfrm>
          <a:prstGeom prst="rect">
            <a:avLst/>
          </a:prstGeom>
          <a:noFill/>
          <a:ln/>
        </p:spPr>
        <p:txBody>
          <a:bodyPr wrap="square" lIns="0" tIns="0" rIns="0" bIns="0" rtlCol="0" anchor="ctr"/>
          <a:lstStyle/>
          <a:p>
            <a:pPr indent="0" marL="0">
              <a:buNone/>
            </a:pPr>
            <a:r>
              <a:rPr lang="en-US" sz="1000" b="1" dirty="0">
                <a:solidFill>
                  <a:srgbClr val="03031C"/>
                </a:solidFill>
                <a:latin typeface="Archivo" pitchFamily="34" charset="0"/>
                <a:ea typeface="Archivo" pitchFamily="34" charset="-122"/>
                <a:cs typeface="Archivo" pitchFamily="34" charset="-120"/>
              </a:rPr>
              <a:t>Problems by key  </a:t>
            </a:r>
            <a:pPr indent="0" marL="0">
              <a:buNone/>
            </a:pPr>
            <a:r>
              <a:rPr lang="en-US" sz="1000" dirty="0">
                <a:solidFill>
                  <a:srgbClr val="3D3A4D"/>
                </a:solidFill>
                <a:latin typeface="Archivo" pitchFamily="34" charset="0"/>
                <a:ea typeface="Archivo" pitchFamily="34" charset="-122"/>
                <a:cs typeface="Archivo" pitchFamily="34" charset="-120"/>
              </a:rPr>
              <a:t>ERP 10.2% upstream 5xx · intranet 359 rate-limited · subcontractor 28 denied.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Walkthrough  ·  12</a:t>
            </a:r>
            <a:endParaRPr lang="en-US" sz="700" dirty="0"/>
          </a:p>
        </p:txBody>
      </p:sp>
      <p:sp>
        <p:nvSpPr>
          <p:cNvPr id="4" name="Text 1"/>
          <p:cNvSpPr txBox="1"/>
          <p:nvPr/>
        </p:nvSpPr>
        <p:spPr>
          <a:xfrm>
            <a:off x="429768" y="420624"/>
            <a:ext cx="586359"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USAGE</a:t>
            </a:r>
            <a:endParaRPr lang="en-US" sz="750" dirty="0"/>
          </a:p>
        </p:txBody>
      </p:sp>
      <p:sp>
        <p:nvSpPr>
          <p:cNvPr id="5" name="Shape 2"/>
          <p:cNvSpPr/>
          <p:nvPr/>
        </p:nvSpPr>
        <p:spPr>
          <a:xfrm>
            <a:off x="4514850" y="930402"/>
            <a:ext cx="3402076"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Which query parameters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are used, and where.</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You declare which parameters to track, so values stay bounded and query strings never reach the logs.</a:t>
            </a:r>
            <a:endParaRPr lang="en-US" sz="1150" dirty="0"/>
          </a:p>
        </p:txBody>
      </p:sp>
      <p:sp>
        <p:nvSpPr>
          <p:cNvPr id="8" name="Shape 5"/>
          <p:cNvSpPr/>
          <p:nvPr/>
        </p:nvSpPr>
        <p:spPr>
          <a:xfrm>
            <a:off x="429768" y="2143083"/>
            <a:ext cx="2468880" cy="1895177"/>
          </a:xfrm>
          <a:prstGeom prst="roundRect">
            <a:avLst>
              <a:gd name="adj" fmla="val 5307"/>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pic>
        <p:nvPicPr>
          <p:cNvPr id="9" name="Image 1" descr="Grafana dashboard panel">    </p:cNvPr>
          <p:cNvPicPr>
            <a:picLocks noChangeAspect="1"/>
          </p:cNvPicPr>
          <p:nvPr/>
        </p:nvPicPr>
        <p:blipFill>
          <a:blip r:embed="rId2"/>
          <a:stretch>
            <a:fillRect/>
          </a:stretch>
        </p:blipFill>
        <p:spPr>
          <a:xfrm>
            <a:off x="484632" y="2197947"/>
            <a:ext cx="2359152" cy="1785449"/>
          </a:xfrm>
          <a:prstGeom prst="rect">
            <a:avLst/>
          </a:prstGeom>
        </p:spPr>
      </p:pic>
      <p:sp>
        <p:nvSpPr>
          <p:cNvPr id="10" name="Shape 6"/>
          <p:cNvSpPr/>
          <p:nvPr/>
        </p:nvSpPr>
        <p:spPr>
          <a:xfrm>
            <a:off x="3127248" y="2123660"/>
            <a:ext cx="5586984" cy="864176"/>
          </a:xfrm>
          <a:prstGeom prst="roundRect">
            <a:avLst>
              <a:gd name="adj" fmla="val 11639"/>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pic>
        <p:nvPicPr>
          <p:cNvPr id="11" name="Image 2" descr="Grafana dashboard panel">    </p:cNvPr>
          <p:cNvPicPr>
            <a:picLocks noChangeAspect="1"/>
          </p:cNvPicPr>
          <p:nvPr/>
        </p:nvPicPr>
        <p:blipFill>
          <a:blip r:embed="rId3"/>
          <a:stretch>
            <a:fillRect/>
          </a:stretch>
        </p:blipFill>
        <p:spPr>
          <a:xfrm>
            <a:off x="3182112" y="2178524"/>
            <a:ext cx="5477256" cy="754448"/>
          </a:xfrm>
          <a:prstGeom prst="rect">
            <a:avLst/>
          </a:prstGeom>
        </p:spPr>
      </p:pic>
      <p:sp>
        <p:nvSpPr>
          <p:cNvPr id="12" name="Shape 7"/>
          <p:cNvSpPr/>
          <p:nvPr/>
        </p:nvSpPr>
        <p:spPr>
          <a:xfrm>
            <a:off x="3127248" y="3529584"/>
            <a:ext cx="5586984" cy="896112"/>
          </a:xfrm>
          <a:prstGeom prst="roundRect">
            <a:avLst>
              <a:gd name="adj" fmla="val 11224"/>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3" name="Text 8"/>
          <p:cNvSpPr txBox="1"/>
          <p:nvPr/>
        </p:nvSpPr>
        <p:spPr>
          <a:xfrm>
            <a:off x="3310128" y="3584448"/>
            <a:ext cx="5221224" cy="786384"/>
          </a:xfrm>
          <a:prstGeom prst="rect">
            <a:avLst/>
          </a:prstGeom>
          <a:noFill/>
          <a:ln/>
        </p:spPr>
        <p:txBody>
          <a:bodyPr wrap="square" lIns="0" tIns="0" rIns="0" bIns="0" rtlCol="0" anchor="ctr"/>
          <a:lstStyle/>
          <a:p>
            <a:pPr indent="0" marL="0">
              <a:buNone/>
            </a:pPr>
            <a:r>
              <a:rPr lang="en-US" sz="1050" b="1" dirty="0">
                <a:solidFill>
                  <a:srgbClr val="03031C"/>
                </a:solidFill>
                <a:latin typeface="Archivo" pitchFamily="34" charset="0"/>
                <a:ea typeface="Archivo" pitchFamily="34" charset="-122"/>
                <a:cs typeface="Archivo" pitchFamily="34" charset="-120"/>
              </a:rPr>
              <a:t>Insight  </a:t>
            </a:r>
            <a:pPr indent="0" marL="0">
              <a:buNone/>
            </a:pPr>
            <a:r>
              <a:rPr lang="en-US" sz="1050" dirty="0">
                <a:solidFill>
                  <a:srgbClr val="3D3A4D"/>
                </a:solidFill>
                <a:latin typeface="Archivo" pitchFamily="34" charset="0"/>
                <a:ea typeface="Archivo" pitchFamily="34" charset="-122"/>
                <a:cs typeface="Archivo" pitchFamily="34" charset="-120"/>
              </a:rPr>
              <a:t>bi-reporting asks for limit=500 on 100% of its paginated calls. That makes it a candidate for caching or a scheduled export, and it explains why its latency is the highest.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Walkthrough  ·  13</a:t>
            </a:r>
            <a:endParaRPr lang="en-US" sz="700" dirty="0"/>
          </a:p>
        </p:txBody>
      </p:sp>
      <p:sp>
        <p:nvSpPr>
          <p:cNvPr id="4" name="Text 1"/>
          <p:cNvSpPr txBox="1"/>
          <p:nvPr/>
        </p:nvSpPr>
        <p:spPr>
          <a:xfrm>
            <a:off x="429768" y="420624"/>
            <a:ext cx="1466926"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WHAT MATTERS MOST</a:t>
            </a:r>
            <a:endParaRPr lang="en-US" sz="750" dirty="0"/>
          </a:p>
        </p:txBody>
      </p:sp>
      <p:sp>
        <p:nvSpPr>
          <p:cNvPr id="5" name="Shape 2"/>
          <p:cNvSpPr/>
          <p:nvPr/>
        </p:nvSpPr>
        <p:spPr>
          <a:xfrm>
            <a:off x="2565400" y="930402"/>
            <a:ext cx="3430016"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Latency, and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where the time goes.</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P50, P95 and P99 per endpoint, and the gateway’s share of every request.</a:t>
            </a:r>
            <a:endParaRPr lang="en-US" sz="1150" dirty="0"/>
          </a:p>
        </p:txBody>
      </p:sp>
      <p:sp>
        <p:nvSpPr>
          <p:cNvPr id="8" name="Shape 5"/>
          <p:cNvSpPr/>
          <p:nvPr/>
        </p:nvSpPr>
        <p:spPr>
          <a:xfrm>
            <a:off x="429768" y="1973288"/>
            <a:ext cx="4846320" cy="1494105"/>
          </a:xfrm>
          <a:prstGeom prst="roundRect">
            <a:avLst>
              <a:gd name="adj" fmla="val 6732"/>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pic>
        <p:nvPicPr>
          <p:cNvPr id="9" name="Image 1" descr="Grafana dashboard panel">    </p:cNvPr>
          <p:cNvPicPr>
            <a:picLocks noChangeAspect="1"/>
          </p:cNvPicPr>
          <p:nvPr/>
        </p:nvPicPr>
        <p:blipFill>
          <a:blip r:embed="rId2"/>
          <a:stretch>
            <a:fillRect/>
          </a:stretch>
        </p:blipFill>
        <p:spPr>
          <a:xfrm>
            <a:off x="484632" y="2028152"/>
            <a:ext cx="4736592" cy="1384377"/>
          </a:xfrm>
          <a:prstGeom prst="rect">
            <a:avLst/>
          </a:prstGeom>
        </p:spPr>
      </p:pic>
      <p:sp>
        <p:nvSpPr>
          <p:cNvPr id="10" name="Shape 6"/>
          <p:cNvSpPr/>
          <p:nvPr/>
        </p:nvSpPr>
        <p:spPr>
          <a:xfrm>
            <a:off x="5504688" y="2042284"/>
            <a:ext cx="3209544" cy="1356112"/>
          </a:xfrm>
          <a:prstGeom prst="roundRect">
            <a:avLst>
              <a:gd name="adj" fmla="val 7417"/>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pic>
        <p:nvPicPr>
          <p:cNvPr id="11" name="Image 2" descr="Grafana dashboard panel">    </p:cNvPr>
          <p:cNvPicPr>
            <a:picLocks noChangeAspect="1"/>
          </p:cNvPicPr>
          <p:nvPr/>
        </p:nvPicPr>
        <p:blipFill>
          <a:blip r:embed="rId3"/>
          <a:stretch>
            <a:fillRect/>
          </a:stretch>
        </p:blipFill>
        <p:spPr>
          <a:xfrm>
            <a:off x="5559552" y="2097148"/>
            <a:ext cx="3099816" cy="1246384"/>
          </a:xfrm>
          <a:prstGeom prst="rect">
            <a:avLst/>
          </a:prstGeom>
        </p:spPr>
      </p:pic>
      <p:sp>
        <p:nvSpPr>
          <p:cNvPr id="12" name="Shape 7"/>
          <p:cNvSpPr/>
          <p:nvPr/>
        </p:nvSpPr>
        <p:spPr>
          <a:xfrm>
            <a:off x="429768" y="3794760"/>
            <a:ext cx="1645920" cy="658368"/>
          </a:xfrm>
          <a:prstGeom prst="roundRect">
            <a:avLst>
              <a:gd name="adj" fmla="val 15278"/>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3" name="Text 8"/>
          <p:cNvSpPr txBox="1"/>
          <p:nvPr/>
        </p:nvSpPr>
        <p:spPr>
          <a:xfrm>
            <a:off x="576072" y="3840480"/>
            <a:ext cx="1371600" cy="329184"/>
          </a:xfrm>
          <a:prstGeom prst="rect">
            <a:avLst/>
          </a:prstGeom>
          <a:noFill/>
          <a:ln/>
        </p:spPr>
        <p:txBody>
          <a:bodyPr wrap="square" lIns="0" tIns="0" rIns="0" bIns="0" rtlCol="0" anchor="ctr"/>
          <a:lstStyle/>
          <a:p>
            <a:pPr indent="0" marL="0">
              <a:buNone/>
            </a:pPr>
            <a:r>
              <a:rPr lang="en-US" sz="1700" b="1" dirty="0">
                <a:solidFill>
                  <a:srgbClr val="8438FA"/>
                </a:solidFill>
                <a:latin typeface="Archivo" pitchFamily="34" charset="0"/>
                <a:ea typeface="Archivo" pitchFamily="34" charset="-122"/>
                <a:cs typeface="Archivo" pitchFamily="34" charset="-120"/>
              </a:rPr>
              <a:t>104 ms</a:t>
            </a:r>
            <a:endParaRPr lang="en-US" sz="1700" dirty="0"/>
          </a:p>
        </p:txBody>
      </p:sp>
      <p:sp>
        <p:nvSpPr>
          <p:cNvPr id="14" name="Text 9"/>
          <p:cNvSpPr txBox="1"/>
          <p:nvPr/>
        </p:nvSpPr>
        <p:spPr>
          <a:xfrm>
            <a:off x="576072" y="4178808"/>
            <a:ext cx="1417320" cy="182880"/>
          </a:xfrm>
          <a:prstGeom prst="rect">
            <a:avLst/>
          </a:prstGeom>
          <a:noFill/>
          <a:ln/>
        </p:spPr>
        <p:txBody>
          <a:bodyPr wrap="square" lIns="0" tIns="0" rIns="0" bIns="0" rtlCol="0" anchor="t"/>
          <a:lstStyle/>
          <a:p>
            <a:pPr indent="0" marL="0">
              <a:buNone/>
            </a:pPr>
            <a:r>
              <a:rPr lang="en-US" sz="650" spc="80" kern="0" dirty="0">
                <a:solidFill>
                  <a:srgbClr val="6B6879"/>
                </a:solidFill>
                <a:latin typeface="Space Mono" pitchFamily="34" charset="0"/>
                <a:ea typeface="Space Mono" pitchFamily="34" charset="-122"/>
                <a:cs typeface="Space Mono" pitchFamily="34" charset="-120"/>
              </a:rPr>
              <a:t>TYK GATEWAY · P95</a:t>
            </a:r>
            <a:endParaRPr lang="en-US" sz="650" dirty="0"/>
          </a:p>
        </p:txBody>
      </p:sp>
      <p:sp>
        <p:nvSpPr>
          <p:cNvPr id="15" name="Shape 10"/>
          <p:cNvSpPr/>
          <p:nvPr/>
        </p:nvSpPr>
        <p:spPr>
          <a:xfrm>
            <a:off x="2212848" y="3794760"/>
            <a:ext cx="1645920" cy="658368"/>
          </a:xfrm>
          <a:prstGeom prst="roundRect">
            <a:avLst>
              <a:gd name="adj" fmla="val 15278"/>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6" name="Text 11"/>
          <p:cNvSpPr txBox="1"/>
          <p:nvPr/>
        </p:nvSpPr>
        <p:spPr>
          <a:xfrm>
            <a:off x="2359152" y="3840480"/>
            <a:ext cx="1371600" cy="329184"/>
          </a:xfrm>
          <a:prstGeom prst="rect">
            <a:avLst/>
          </a:prstGeom>
          <a:noFill/>
          <a:ln/>
        </p:spPr>
        <p:txBody>
          <a:bodyPr wrap="square" lIns="0" tIns="0" rIns="0" bIns="0" rtlCol="0" anchor="ctr"/>
          <a:lstStyle/>
          <a:p>
            <a:pPr indent="0" marL="0">
              <a:buNone/>
            </a:pPr>
            <a:r>
              <a:rPr lang="en-US" sz="1700" b="1" dirty="0">
                <a:solidFill>
                  <a:srgbClr val="8438FA"/>
                </a:solidFill>
                <a:latin typeface="Archivo" pitchFamily="34" charset="0"/>
                <a:ea typeface="Archivo" pitchFamily="34" charset="-122"/>
                <a:cs typeface="Archivo" pitchFamily="34" charset="-120"/>
              </a:rPr>
              <a:t>488 ms</a:t>
            </a:r>
            <a:endParaRPr lang="en-US" sz="1700" dirty="0"/>
          </a:p>
        </p:txBody>
      </p:sp>
      <p:sp>
        <p:nvSpPr>
          <p:cNvPr id="17" name="Text 12"/>
          <p:cNvSpPr txBox="1"/>
          <p:nvPr/>
        </p:nvSpPr>
        <p:spPr>
          <a:xfrm>
            <a:off x="2359152" y="4178808"/>
            <a:ext cx="1417320" cy="182880"/>
          </a:xfrm>
          <a:prstGeom prst="rect">
            <a:avLst/>
          </a:prstGeom>
          <a:noFill/>
          <a:ln/>
        </p:spPr>
        <p:txBody>
          <a:bodyPr wrap="square" lIns="0" tIns="0" rIns="0" bIns="0" rtlCol="0" anchor="t"/>
          <a:lstStyle/>
          <a:p>
            <a:pPr indent="0" marL="0">
              <a:buNone/>
            </a:pPr>
            <a:r>
              <a:rPr lang="en-US" sz="650" spc="80" kern="0" dirty="0">
                <a:solidFill>
                  <a:srgbClr val="6B6879"/>
                </a:solidFill>
                <a:latin typeface="Space Mono" pitchFamily="34" charset="0"/>
                <a:ea typeface="Space Mono" pitchFamily="34" charset="-122"/>
                <a:cs typeface="Space Mono" pitchFamily="34" charset="-120"/>
              </a:rPr>
              <a:t>UPSTREAM · P95</a:t>
            </a:r>
            <a:endParaRPr lang="en-US" sz="650" dirty="0"/>
          </a:p>
        </p:txBody>
      </p:sp>
      <p:sp>
        <p:nvSpPr>
          <p:cNvPr id="18" name="Text 13"/>
          <p:cNvSpPr txBox="1"/>
          <p:nvPr/>
        </p:nvSpPr>
        <p:spPr>
          <a:xfrm>
            <a:off x="4178808" y="3794760"/>
            <a:ext cx="4535424" cy="658368"/>
          </a:xfrm>
          <a:prstGeom prst="rect">
            <a:avLst/>
          </a:prstGeom>
          <a:noFill/>
          <a:ln/>
        </p:spPr>
        <p:txBody>
          <a:bodyPr wrap="square" lIns="0" tIns="0" rIns="0" bIns="0" rtlCol="0" anchor="ctr"/>
          <a:lstStyle/>
          <a:p>
            <a:pPr indent="0" marL="0">
              <a:buNone/>
            </a:pPr>
            <a:r>
              <a:rPr lang="en-US" sz="1050" b="1" dirty="0">
                <a:solidFill>
                  <a:srgbClr val="03031C"/>
                </a:solidFill>
                <a:latin typeface="Archivo" pitchFamily="34" charset="0"/>
                <a:ea typeface="Archivo" pitchFamily="34" charset="-122"/>
                <a:cs typeface="Archivo" pitchFamily="34" charset="-120"/>
              </a:rPr>
              <a:t>Slow calls are in the backend, not the gateway. </a:t>
            </a:r>
            <a:pPr indent="0" marL="0">
              <a:buNone/>
            </a:pPr>
            <a:r>
              <a:rPr lang="en-US" sz="1050" dirty="0">
                <a:solidFill>
                  <a:srgbClr val="3D3A4D"/>
                </a:solidFill>
                <a:latin typeface="Archivo" pitchFamily="34" charset="0"/>
                <a:ea typeface="Archivo" pitchFamily="34" charset="-122"/>
                <a:cs typeface="Archivo" pitchFamily="34" charset="-120"/>
              </a:rPr>
              <a:t>Report generation is the slowest endpoint, so the conversation goes straight to the team that owns it.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Walkthrough  ·  14</a:t>
            </a:r>
            <a:endParaRPr lang="en-US" sz="700" dirty="0"/>
          </a:p>
        </p:txBody>
      </p:sp>
      <p:sp>
        <p:nvSpPr>
          <p:cNvPr id="4" name="Text 1"/>
          <p:cNvSpPr txBox="1"/>
          <p:nvPr/>
        </p:nvSpPr>
        <p:spPr>
          <a:xfrm>
            <a:off x="429768" y="420624"/>
            <a:ext cx="1466926"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WHAT MATTERS MOST</a:t>
            </a:r>
            <a:endParaRPr lang="en-US" sz="750" dirty="0"/>
          </a:p>
        </p:txBody>
      </p:sp>
      <p:sp>
        <p:nvSpPr>
          <p:cNvPr id="5" name="Shape 2"/>
          <p:cNvSpPr/>
          <p:nvPr/>
        </p:nvSpPr>
        <p:spPr>
          <a:xfrm>
            <a:off x="2310130" y="930402"/>
            <a:ext cx="3249676"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Error rates,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explained by cause.</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Every failing endpoint, API key and status code, so each error has an owner and an action.</a:t>
            </a:r>
            <a:endParaRPr lang="en-US" sz="1150" dirty="0"/>
          </a:p>
        </p:txBody>
      </p:sp>
      <p:sp>
        <p:nvSpPr>
          <p:cNvPr id="8" name="Shape 5"/>
          <p:cNvSpPr/>
          <p:nvPr/>
        </p:nvSpPr>
        <p:spPr>
          <a:xfrm>
            <a:off x="514479" y="1755648"/>
            <a:ext cx="8115041" cy="1280160"/>
          </a:xfrm>
          <a:prstGeom prst="roundRect">
            <a:avLst>
              <a:gd name="adj" fmla="val 7857"/>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pic>
        <p:nvPicPr>
          <p:cNvPr id="9" name="Image 1" descr="Grafana dashboard panel">    </p:cNvPr>
          <p:cNvPicPr>
            <a:picLocks noChangeAspect="1"/>
          </p:cNvPicPr>
          <p:nvPr/>
        </p:nvPicPr>
        <p:blipFill>
          <a:blip r:embed="rId2"/>
          <a:stretch>
            <a:fillRect/>
          </a:stretch>
        </p:blipFill>
        <p:spPr>
          <a:xfrm>
            <a:off x="569343" y="1810512"/>
            <a:ext cx="8005313" cy="1170432"/>
          </a:xfrm>
          <a:prstGeom prst="rect">
            <a:avLst/>
          </a:prstGeom>
        </p:spPr>
      </p:pic>
      <p:sp>
        <p:nvSpPr>
          <p:cNvPr id="10" name="Shape 6"/>
          <p:cNvSpPr/>
          <p:nvPr/>
        </p:nvSpPr>
        <p:spPr>
          <a:xfrm>
            <a:off x="429768" y="3246120"/>
            <a:ext cx="1947672" cy="1143000"/>
          </a:xfrm>
          <a:prstGeom prst="roundRect">
            <a:avLst>
              <a:gd name="adj" fmla="val 8800"/>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1" name="Text 7"/>
          <p:cNvSpPr txBox="1"/>
          <p:nvPr/>
        </p:nvSpPr>
        <p:spPr>
          <a:xfrm>
            <a:off x="594360" y="3319272"/>
            <a:ext cx="1673352" cy="457200"/>
          </a:xfrm>
          <a:prstGeom prst="rect">
            <a:avLst/>
          </a:prstGeom>
          <a:noFill/>
          <a:ln/>
        </p:spPr>
        <p:txBody>
          <a:bodyPr wrap="square" lIns="0" tIns="0" rIns="0" bIns="0" rtlCol="0" anchor="t"/>
          <a:lstStyle/>
          <a:p>
            <a:pPr indent="0" marL="0">
              <a:buNone/>
            </a:pPr>
            <a:r>
              <a:rPr lang="en-US" sz="2200" b="1" dirty="0">
                <a:solidFill>
                  <a:srgbClr val="8438FA"/>
                </a:solidFill>
                <a:latin typeface="Archivo" pitchFamily="34" charset="0"/>
                <a:ea typeface="Archivo" pitchFamily="34" charset="-122"/>
                <a:cs typeface="Archivo" pitchFamily="34" charset="-120"/>
              </a:rPr>
              <a:t>403</a:t>
            </a:r>
            <a:endParaRPr lang="en-US" sz="2200" dirty="0"/>
          </a:p>
        </p:txBody>
      </p:sp>
      <p:sp>
        <p:nvSpPr>
          <p:cNvPr id="12" name="Text 8"/>
          <p:cNvSpPr txBox="1"/>
          <p:nvPr/>
        </p:nvSpPr>
        <p:spPr>
          <a:xfrm>
            <a:off x="594360" y="3794760"/>
            <a:ext cx="1673352" cy="548640"/>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Key not allowed on this API. Fix the policy.</a:t>
            </a:r>
            <a:endParaRPr lang="en-US" sz="950" dirty="0"/>
          </a:p>
        </p:txBody>
      </p:sp>
      <p:sp>
        <p:nvSpPr>
          <p:cNvPr id="13" name="Shape 9"/>
          <p:cNvSpPr/>
          <p:nvPr/>
        </p:nvSpPr>
        <p:spPr>
          <a:xfrm>
            <a:off x="2542032" y="3246120"/>
            <a:ext cx="1947672" cy="1143000"/>
          </a:xfrm>
          <a:prstGeom prst="roundRect">
            <a:avLst>
              <a:gd name="adj" fmla="val 8800"/>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4" name="Text 10"/>
          <p:cNvSpPr txBox="1"/>
          <p:nvPr/>
        </p:nvSpPr>
        <p:spPr>
          <a:xfrm>
            <a:off x="2706624" y="3319272"/>
            <a:ext cx="1673352" cy="457200"/>
          </a:xfrm>
          <a:prstGeom prst="rect">
            <a:avLst/>
          </a:prstGeom>
          <a:noFill/>
          <a:ln/>
        </p:spPr>
        <p:txBody>
          <a:bodyPr wrap="square" lIns="0" tIns="0" rIns="0" bIns="0" rtlCol="0" anchor="t"/>
          <a:lstStyle/>
          <a:p>
            <a:pPr indent="0" marL="0">
              <a:buNone/>
            </a:pPr>
            <a:r>
              <a:rPr lang="en-US" sz="2200" b="1" dirty="0">
                <a:solidFill>
                  <a:srgbClr val="8438FA"/>
                </a:solidFill>
                <a:latin typeface="Archivo" pitchFamily="34" charset="0"/>
                <a:ea typeface="Archivo" pitchFamily="34" charset="-122"/>
                <a:cs typeface="Archivo" pitchFamily="34" charset="-120"/>
              </a:rPr>
              <a:t>404</a:t>
            </a:r>
            <a:endParaRPr lang="en-US" sz="2200" dirty="0"/>
          </a:p>
        </p:txBody>
      </p:sp>
      <p:sp>
        <p:nvSpPr>
          <p:cNvPr id="15" name="Text 11"/>
          <p:cNvSpPr txBox="1"/>
          <p:nvPr/>
        </p:nvSpPr>
        <p:spPr>
          <a:xfrm>
            <a:off x="2706624" y="3794760"/>
            <a:ext cx="1673352" cy="548640"/>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Unknown or retired endpoint. Update the client.</a:t>
            </a:r>
            <a:endParaRPr lang="en-US" sz="950" dirty="0"/>
          </a:p>
        </p:txBody>
      </p:sp>
      <p:sp>
        <p:nvSpPr>
          <p:cNvPr id="16" name="Shape 12"/>
          <p:cNvSpPr/>
          <p:nvPr/>
        </p:nvSpPr>
        <p:spPr>
          <a:xfrm>
            <a:off x="4654296" y="3246120"/>
            <a:ext cx="1947672" cy="1143000"/>
          </a:xfrm>
          <a:prstGeom prst="roundRect">
            <a:avLst>
              <a:gd name="adj" fmla="val 8800"/>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7" name="Text 13"/>
          <p:cNvSpPr txBox="1"/>
          <p:nvPr/>
        </p:nvSpPr>
        <p:spPr>
          <a:xfrm>
            <a:off x="4818888" y="3319272"/>
            <a:ext cx="1673352" cy="457200"/>
          </a:xfrm>
          <a:prstGeom prst="rect">
            <a:avLst/>
          </a:prstGeom>
          <a:noFill/>
          <a:ln/>
        </p:spPr>
        <p:txBody>
          <a:bodyPr wrap="square" lIns="0" tIns="0" rIns="0" bIns="0" rtlCol="0" anchor="t"/>
          <a:lstStyle/>
          <a:p>
            <a:pPr indent="0" marL="0">
              <a:buNone/>
            </a:pPr>
            <a:r>
              <a:rPr lang="en-US" sz="2200" b="1" dirty="0">
                <a:solidFill>
                  <a:srgbClr val="8438FA"/>
                </a:solidFill>
                <a:latin typeface="Archivo" pitchFamily="34" charset="0"/>
                <a:ea typeface="Archivo" pitchFamily="34" charset="-122"/>
                <a:cs typeface="Archivo" pitchFamily="34" charset="-120"/>
              </a:rPr>
              <a:t>429</a:t>
            </a:r>
            <a:endParaRPr lang="en-US" sz="2200" dirty="0"/>
          </a:p>
        </p:txBody>
      </p:sp>
      <p:sp>
        <p:nvSpPr>
          <p:cNvPr id="18" name="Text 14"/>
          <p:cNvSpPr txBox="1"/>
          <p:nvPr/>
        </p:nvSpPr>
        <p:spPr>
          <a:xfrm>
            <a:off x="4818888" y="3794760"/>
            <a:ext cx="1673352" cy="548640"/>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Rate limit reached. Raise it or spread the load.</a:t>
            </a:r>
            <a:endParaRPr lang="en-US" sz="950" dirty="0"/>
          </a:p>
        </p:txBody>
      </p:sp>
      <p:sp>
        <p:nvSpPr>
          <p:cNvPr id="19" name="Shape 15"/>
          <p:cNvSpPr/>
          <p:nvPr/>
        </p:nvSpPr>
        <p:spPr>
          <a:xfrm>
            <a:off x="6766560" y="3246120"/>
            <a:ext cx="1947672" cy="1143000"/>
          </a:xfrm>
          <a:prstGeom prst="roundRect">
            <a:avLst>
              <a:gd name="adj" fmla="val 8800"/>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0" name="Text 16"/>
          <p:cNvSpPr txBox="1"/>
          <p:nvPr/>
        </p:nvSpPr>
        <p:spPr>
          <a:xfrm>
            <a:off x="6931152" y="3319272"/>
            <a:ext cx="1673352" cy="457200"/>
          </a:xfrm>
          <a:prstGeom prst="rect">
            <a:avLst/>
          </a:prstGeom>
          <a:noFill/>
          <a:ln/>
        </p:spPr>
        <p:txBody>
          <a:bodyPr wrap="square" lIns="0" tIns="0" rIns="0" bIns="0" rtlCol="0" anchor="t"/>
          <a:lstStyle/>
          <a:p>
            <a:pPr indent="0" marL="0">
              <a:buNone/>
            </a:pPr>
            <a:r>
              <a:rPr lang="en-US" sz="2200" b="1" dirty="0">
                <a:solidFill>
                  <a:srgbClr val="8438FA"/>
                </a:solidFill>
                <a:latin typeface="Archivo" pitchFamily="34" charset="0"/>
                <a:ea typeface="Archivo" pitchFamily="34" charset="-122"/>
                <a:cs typeface="Archivo" pitchFamily="34" charset="-120"/>
              </a:rPr>
              <a:t>5xx</a:t>
            </a:r>
            <a:endParaRPr lang="en-US" sz="2200" dirty="0"/>
          </a:p>
        </p:txBody>
      </p:sp>
      <p:sp>
        <p:nvSpPr>
          <p:cNvPr id="21" name="Text 17"/>
          <p:cNvSpPr txBox="1"/>
          <p:nvPr/>
        </p:nvSpPr>
        <p:spPr>
          <a:xfrm>
            <a:off x="6931152" y="3794760"/>
            <a:ext cx="1673352" cy="548640"/>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Upstream failure. Escalate to the API owner.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Walkthrough  ·  15</a:t>
            </a:r>
            <a:endParaRPr lang="en-US" sz="700" dirty="0"/>
          </a:p>
        </p:txBody>
      </p:sp>
      <p:sp>
        <p:nvSpPr>
          <p:cNvPr id="4" name="Text 1"/>
          <p:cNvSpPr txBox="1"/>
          <p:nvPr/>
        </p:nvSpPr>
        <p:spPr>
          <a:xfrm>
            <a:off x="429768" y="420624"/>
            <a:ext cx="512978"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LOGS</a:t>
            </a:r>
            <a:endParaRPr lang="en-US" sz="750" dirty="0"/>
          </a:p>
        </p:txBody>
      </p:sp>
      <p:sp>
        <p:nvSpPr>
          <p:cNvPr id="5" name="Shape 2"/>
          <p:cNvSpPr/>
          <p:nvPr/>
        </p:nvSpPr>
        <p:spPr>
          <a:xfrm>
            <a:off x="3147695" y="930402"/>
            <a:ext cx="2587689"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Logs, in the Loki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you already run.</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Metrics tell you something is wrong. The access logs show you the individual calls.</a:t>
            </a:r>
            <a:endParaRPr lang="en-US" sz="1150" dirty="0"/>
          </a:p>
        </p:txBody>
      </p:sp>
      <p:sp>
        <p:nvSpPr>
          <p:cNvPr id="8" name="Shape 5"/>
          <p:cNvSpPr/>
          <p:nvPr/>
        </p:nvSpPr>
        <p:spPr>
          <a:xfrm>
            <a:off x="429768" y="2081981"/>
            <a:ext cx="5394960" cy="2008239"/>
          </a:xfrm>
          <a:prstGeom prst="roundRect">
            <a:avLst>
              <a:gd name="adj" fmla="val 5009"/>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pic>
        <p:nvPicPr>
          <p:cNvPr id="9" name="Image 1" descr="Grafana dashboard panel">    </p:cNvPr>
          <p:cNvPicPr>
            <a:picLocks noChangeAspect="1"/>
          </p:cNvPicPr>
          <p:nvPr/>
        </p:nvPicPr>
        <p:blipFill>
          <a:blip r:embed="rId2"/>
          <a:stretch>
            <a:fillRect/>
          </a:stretch>
        </p:blipFill>
        <p:spPr>
          <a:xfrm>
            <a:off x="484632" y="2136845"/>
            <a:ext cx="5285232" cy="1898511"/>
          </a:xfrm>
          <a:prstGeom prst="rect">
            <a:avLst/>
          </a:prstGeom>
        </p:spPr>
      </p:pic>
      <p:sp>
        <p:nvSpPr>
          <p:cNvPr id="10" name="Shape 6"/>
          <p:cNvSpPr/>
          <p:nvPr/>
        </p:nvSpPr>
        <p:spPr>
          <a:xfrm>
            <a:off x="6053328" y="1783080"/>
            <a:ext cx="2660904" cy="786384"/>
          </a:xfrm>
          <a:prstGeom prst="roundRect">
            <a:avLst>
              <a:gd name="adj" fmla="val 12791"/>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1" name="Shape 7"/>
          <p:cNvSpPr/>
          <p:nvPr/>
        </p:nvSpPr>
        <p:spPr>
          <a:xfrm>
            <a:off x="6181344" y="1911096"/>
            <a:ext cx="274320" cy="274320"/>
          </a:xfrm>
          <a:prstGeom prst="roundRect">
            <a:avLst>
              <a:gd name="adj" fmla="val 20000"/>
            </a:avLst>
          </a:prstGeom>
          <a:ln w="9525">
            <a:solidFill>
              <a:srgbClr val="03031C"/>
            </a:solidFill>
            <a:prstDash val="solid"/>
          </a:ln>
        </p:spPr>
      </p:sp>
      <p:pic>
        <p:nvPicPr>
          <p:cNvPr id="12" name="Image 2" descr="preencoded.png">    </p:cNvPr>
          <p:cNvPicPr>
            <a:picLocks noChangeAspect="1"/>
          </p:cNvPicPr>
          <p:nvPr/>
        </p:nvPicPr>
        <p:blipFill>
          <a:blip r:embed="rId3"/>
          <a:stretch>
            <a:fillRect/>
          </a:stretch>
        </p:blipFill>
        <p:spPr>
          <a:xfrm>
            <a:off x="6245352" y="1975104"/>
            <a:ext cx="146304" cy="146304"/>
          </a:xfrm>
          <a:prstGeom prst="rect">
            <a:avLst/>
          </a:prstGeom>
        </p:spPr>
      </p:pic>
      <p:sp>
        <p:nvSpPr>
          <p:cNvPr id="13" name="Text 8"/>
          <p:cNvSpPr txBox="1"/>
          <p:nvPr/>
        </p:nvSpPr>
        <p:spPr>
          <a:xfrm>
            <a:off x="6565392" y="1874520"/>
            <a:ext cx="2039112" cy="658368"/>
          </a:xfrm>
          <a:prstGeom prst="rect">
            <a:avLst/>
          </a:prstGeom>
          <a:noFill/>
          <a:ln/>
        </p:spPr>
        <p:txBody>
          <a:bodyPr wrap="square" lIns="0" tIns="0" rIns="0" bIns="0" rtlCol="0" anchor="t"/>
          <a:lstStyle/>
          <a:p>
            <a:pPr indent="0" marL="0">
              <a:buNone/>
            </a:pPr>
            <a:r>
              <a:rPr lang="en-US" sz="1050" b="1" dirty="0">
                <a:solidFill>
                  <a:srgbClr val="03031C"/>
                </a:solidFill>
                <a:latin typeface="Archivo" pitchFamily="34" charset="0"/>
                <a:ea typeface="Archivo" pitchFamily="34" charset="-122"/>
                <a:cs typeface="Archivo" pitchFamily="34" charset="-120"/>
              </a:rPr>
              <a:t>Structured JSON</a:t>
            </a:r>
            <a:endParaRPr lang="en-US" sz="1050" dirty="0"/>
          </a:p>
          <a:p>
            <a:pPr indent="0" marL="0">
              <a:buNone/>
            </a:pPr>
            <a:r>
              <a:rPr lang="en-US" sz="850" dirty="0">
                <a:solidFill>
                  <a:srgbClr val="3D3A4D"/>
                </a:solidFill>
                <a:latin typeface="Archivo" pitchFamily="34" charset="0"/>
                <a:ea typeface="Archivo" pitchFamily="34" charset="-122"/>
                <a:cs typeface="Archivo" pitchFamily="34" charset="-120"/>
              </a:rPr>
              <a:t>API, path, status, latency split and response flag on every call.</a:t>
            </a:r>
            <a:endParaRPr lang="en-US" sz="1050" dirty="0"/>
          </a:p>
        </p:txBody>
      </p:sp>
      <p:sp>
        <p:nvSpPr>
          <p:cNvPr id="14" name="Shape 9"/>
          <p:cNvSpPr/>
          <p:nvPr/>
        </p:nvSpPr>
        <p:spPr>
          <a:xfrm>
            <a:off x="6053328" y="2688336"/>
            <a:ext cx="2660904" cy="786384"/>
          </a:xfrm>
          <a:prstGeom prst="roundRect">
            <a:avLst>
              <a:gd name="adj" fmla="val 12791"/>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5" name="Shape 10"/>
          <p:cNvSpPr/>
          <p:nvPr/>
        </p:nvSpPr>
        <p:spPr>
          <a:xfrm>
            <a:off x="6181344" y="2816352"/>
            <a:ext cx="274320" cy="274320"/>
          </a:xfrm>
          <a:prstGeom prst="roundRect">
            <a:avLst>
              <a:gd name="adj" fmla="val 20000"/>
            </a:avLst>
          </a:prstGeom>
          <a:ln w="9525">
            <a:solidFill>
              <a:srgbClr val="03031C"/>
            </a:solidFill>
            <a:prstDash val="solid"/>
          </a:ln>
        </p:spPr>
      </p:sp>
      <p:pic>
        <p:nvPicPr>
          <p:cNvPr id="16" name="Image 3" descr="preencoded.png">    </p:cNvPr>
          <p:cNvPicPr>
            <a:picLocks noChangeAspect="1"/>
          </p:cNvPicPr>
          <p:nvPr/>
        </p:nvPicPr>
        <p:blipFill>
          <a:blip r:embed="rId4"/>
          <a:stretch>
            <a:fillRect/>
          </a:stretch>
        </p:blipFill>
        <p:spPr>
          <a:xfrm>
            <a:off x="6245352" y="2880360"/>
            <a:ext cx="146304" cy="146304"/>
          </a:xfrm>
          <a:prstGeom prst="rect">
            <a:avLst/>
          </a:prstGeom>
        </p:spPr>
      </p:pic>
      <p:sp>
        <p:nvSpPr>
          <p:cNvPr id="17" name="Text 11"/>
          <p:cNvSpPr txBox="1"/>
          <p:nvPr/>
        </p:nvSpPr>
        <p:spPr>
          <a:xfrm>
            <a:off x="6565392" y="2779776"/>
            <a:ext cx="2039112" cy="658368"/>
          </a:xfrm>
          <a:prstGeom prst="rect">
            <a:avLst/>
          </a:prstGeom>
          <a:noFill/>
          <a:ln/>
        </p:spPr>
        <p:txBody>
          <a:bodyPr wrap="square" lIns="0" tIns="0" rIns="0" bIns="0" rtlCol="0" anchor="t"/>
          <a:lstStyle/>
          <a:p>
            <a:pPr indent="0" marL="0">
              <a:buNone/>
            </a:pPr>
            <a:r>
              <a:rPr lang="en-US" sz="1050" b="1" dirty="0">
                <a:solidFill>
                  <a:srgbClr val="03031C"/>
                </a:solidFill>
                <a:latin typeface="Archivo" pitchFamily="34" charset="0"/>
                <a:ea typeface="Archivo" pitchFamily="34" charset="-122"/>
                <a:cs typeface="Archivo" pitchFamily="34" charset="-120"/>
              </a:rPr>
              <a:t>Private by default</a:t>
            </a:r>
            <a:endParaRPr lang="en-US" sz="1050" dirty="0"/>
          </a:p>
          <a:p>
            <a:pPr indent="0" marL="0">
              <a:buNone/>
            </a:pPr>
            <a:r>
              <a:rPr lang="en-US" sz="850" dirty="0">
                <a:solidFill>
                  <a:srgbClr val="3D3A4D"/>
                </a:solidFill>
                <a:latin typeface="Archivo" pitchFamily="34" charset="0"/>
                <a:ea typeface="Archivo" pitchFamily="34" charset="-122"/>
                <a:cs typeface="Archivo" pitchFamily="34" charset="-120"/>
              </a:rPr>
              <a:t>API keys are hashed; query strings are not logged.</a:t>
            </a:r>
            <a:endParaRPr lang="en-US" sz="1050" dirty="0"/>
          </a:p>
        </p:txBody>
      </p:sp>
      <p:sp>
        <p:nvSpPr>
          <p:cNvPr id="18" name="Shape 12"/>
          <p:cNvSpPr/>
          <p:nvPr/>
        </p:nvSpPr>
        <p:spPr>
          <a:xfrm>
            <a:off x="6053328" y="3593592"/>
            <a:ext cx="2660904" cy="786384"/>
          </a:xfrm>
          <a:prstGeom prst="roundRect">
            <a:avLst>
              <a:gd name="adj" fmla="val 12791"/>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9" name="Shape 13"/>
          <p:cNvSpPr/>
          <p:nvPr/>
        </p:nvSpPr>
        <p:spPr>
          <a:xfrm>
            <a:off x="6181344" y="3721608"/>
            <a:ext cx="274320" cy="274320"/>
          </a:xfrm>
          <a:prstGeom prst="roundRect">
            <a:avLst>
              <a:gd name="adj" fmla="val 20000"/>
            </a:avLst>
          </a:prstGeom>
          <a:ln w="9525">
            <a:solidFill>
              <a:srgbClr val="03031C"/>
            </a:solidFill>
            <a:prstDash val="solid"/>
          </a:ln>
        </p:spPr>
      </p:sp>
      <p:pic>
        <p:nvPicPr>
          <p:cNvPr id="20" name="Image 4" descr="preencoded.png">    </p:cNvPr>
          <p:cNvPicPr>
            <a:picLocks noChangeAspect="1"/>
          </p:cNvPicPr>
          <p:nvPr/>
        </p:nvPicPr>
        <p:blipFill>
          <a:blip r:embed="rId5"/>
          <a:stretch>
            <a:fillRect/>
          </a:stretch>
        </p:blipFill>
        <p:spPr>
          <a:xfrm>
            <a:off x="6245352" y="3785616"/>
            <a:ext cx="146304" cy="146304"/>
          </a:xfrm>
          <a:prstGeom prst="rect">
            <a:avLst/>
          </a:prstGeom>
        </p:spPr>
      </p:pic>
      <p:sp>
        <p:nvSpPr>
          <p:cNvPr id="21" name="Text 14"/>
          <p:cNvSpPr txBox="1"/>
          <p:nvPr/>
        </p:nvSpPr>
        <p:spPr>
          <a:xfrm>
            <a:off x="6565392" y="3685032"/>
            <a:ext cx="2039112" cy="658368"/>
          </a:xfrm>
          <a:prstGeom prst="rect">
            <a:avLst/>
          </a:prstGeom>
          <a:noFill/>
          <a:ln/>
        </p:spPr>
        <p:txBody>
          <a:bodyPr wrap="square" lIns="0" tIns="0" rIns="0" bIns="0" rtlCol="0" anchor="t"/>
          <a:lstStyle/>
          <a:p>
            <a:pPr indent="0" marL="0">
              <a:buNone/>
            </a:pPr>
            <a:r>
              <a:rPr lang="en-US" sz="1050" b="1" dirty="0">
                <a:solidFill>
                  <a:srgbClr val="03031C"/>
                </a:solidFill>
                <a:latin typeface="Archivo" pitchFamily="34" charset="0"/>
                <a:ea typeface="Archivo" pitchFamily="34" charset="-122"/>
                <a:cs typeface="Archivo" pitchFamily="34" charset="-120"/>
              </a:rPr>
              <a:t>Ready for traces</a:t>
            </a:r>
            <a:endParaRPr lang="en-US" sz="1050" dirty="0"/>
          </a:p>
          <a:p>
            <a:pPr indent="0" marL="0">
              <a:buNone/>
            </a:pPr>
            <a:r>
              <a:rPr lang="en-US" sz="850" dirty="0">
                <a:solidFill>
                  <a:srgbClr val="3D3A4D"/>
                </a:solidFill>
                <a:latin typeface="Archivo" pitchFamily="34" charset="0"/>
                <a:ea typeface="Archivo" pitchFamily="34" charset="-122"/>
                <a:cs typeface="Archivo" pitchFamily="34" charset="-120"/>
              </a:rPr>
              <a:t>Every line already carries a trace ID, for when you adopt tracing.</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Recap  ·  16</a:t>
            </a:r>
            <a:endParaRPr lang="en-US" sz="700" dirty="0"/>
          </a:p>
        </p:txBody>
      </p:sp>
      <p:sp>
        <p:nvSpPr>
          <p:cNvPr id="4" name="Text 1"/>
          <p:cNvSpPr txBox="1"/>
          <p:nvPr/>
        </p:nvSpPr>
        <p:spPr>
          <a:xfrm>
            <a:off x="429768" y="420624"/>
            <a:ext cx="586359"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RECAP</a:t>
            </a:r>
            <a:endParaRPr lang="en-US" sz="750" dirty="0"/>
          </a:p>
        </p:txBody>
      </p:sp>
      <p:sp>
        <p:nvSpPr>
          <p:cNvPr id="5" name="Shape 2"/>
          <p:cNvSpPr/>
          <p:nvPr/>
        </p:nvSpPr>
        <p:spPr>
          <a:xfrm>
            <a:off x="1381760" y="930402"/>
            <a:ext cx="1384999"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What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you saw.</a:t>
            </a:r>
            <a:endParaRPr lang="en-US" sz="2500" dirty="0"/>
          </a:p>
        </p:txBody>
      </p:sp>
      <p:sp>
        <p:nvSpPr>
          <p:cNvPr id="7" name="Shape 4"/>
          <p:cNvSpPr/>
          <p:nvPr/>
        </p:nvSpPr>
        <p:spPr>
          <a:xfrm>
            <a:off x="429768" y="1463040"/>
            <a:ext cx="2639568" cy="1417320"/>
          </a:xfrm>
          <a:prstGeom prst="roundRect">
            <a:avLst>
              <a:gd name="adj" fmla="val 7097"/>
            </a:avLst>
          </a:prstGeom>
          <a:solidFill>
            <a:srgbClr val="8438FA"/>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8" name="Text 5"/>
          <p:cNvSpPr txBox="1"/>
          <p:nvPr/>
        </p:nvSpPr>
        <p:spPr>
          <a:xfrm>
            <a:off x="612648" y="1645920"/>
            <a:ext cx="2273808" cy="274320"/>
          </a:xfrm>
          <a:prstGeom prst="rect">
            <a:avLst/>
          </a:prstGeom>
          <a:noFill/>
          <a:ln/>
        </p:spPr>
        <p:txBody>
          <a:bodyPr wrap="square" lIns="0" tIns="0" rIns="0" bIns="0" rtlCol="0" anchor="t"/>
          <a:lstStyle/>
          <a:p>
            <a:pPr indent="0" marL="0">
              <a:buNone/>
            </a:pPr>
            <a:r>
              <a:rPr lang="en-US" sz="1250" b="1" dirty="0">
                <a:solidFill>
                  <a:srgbClr val="FFFFFF"/>
                </a:solidFill>
                <a:latin typeface="Archivo" pitchFamily="34" charset="0"/>
                <a:ea typeface="Archivo" pitchFamily="34" charset="-122"/>
                <a:cs typeface="Archivo" pitchFamily="34" charset="-120"/>
              </a:rPr>
              <a:t>Usage by endpoint and key</a:t>
            </a:r>
            <a:endParaRPr lang="en-US" sz="1250" dirty="0"/>
          </a:p>
        </p:txBody>
      </p:sp>
      <p:sp>
        <p:nvSpPr>
          <p:cNvPr id="9" name="Text 6"/>
          <p:cNvSpPr txBox="1"/>
          <p:nvPr/>
        </p:nvSpPr>
        <p:spPr>
          <a:xfrm>
            <a:off x="612648" y="1965960"/>
            <a:ext cx="2273808" cy="640080"/>
          </a:xfrm>
          <a:prstGeom prst="rect">
            <a:avLst/>
          </a:prstGeom>
          <a:noFill/>
          <a:ln/>
        </p:spPr>
        <p:txBody>
          <a:bodyPr wrap="square" lIns="0" tIns="0" rIns="0" bIns="0" rtlCol="0" anchor="t"/>
          <a:lstStyle/>
          <a:p>
            <a:pPr indent="0" marL="0">
              <a:buNone/>
            </a:pPr>
            <a:r>
              <a:rPr lang="en-US" sz="1000" dirty="0">
                <a:solidFill>
                  <a:srgbClr val="FFFFFF"/>
                </a:solidFill>
                <a:latin typeface="Archivo" pitchFamily="34" charset="0"/>
                <a:ea typeface="Archivo" pitchFamily="34" charset="-122"/>
                <a:cs typeface="Archivo" pitchFamily="34" charset="-120"/>
              </a:rPr>
              <a:t>Every endpoint, broken down by the consumer app that calls it.</a:t>
            </a:r>
            <a:endParaRPr lang="en-US" sz="1000" dirty="0"/>
          </a:p>
        </p:txBody>
      </p:sp>
      <p:sp>
        <p:nvSpPr>
          <p:cNvPr id="10" name="Shape 7"/>
          <p:cNvSpPr/>
          <p:nvPr/>
        </p:nvSpPr>
        <p:spPr>
          <a:xfrm>
            <a:off x="3252216" y="1463040"/>
            <a:ext cx="2639568" cy="1417320"/>
          </a:xfrm>
          <a:prstGeom prst="roundRect">
            <a:avLst>
              <a:gd name="adj" fmla="val 7097"/>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1" name="Text 8"/>
          <p:cNvSpPr txBox="1"/>
          <p:nvPr/>
        </p:nvSpPr>
        <p:spPr>
          <a:xfrm>
            <a:off x="3435096" y="1645920"/>
            <a:ext cx="2273808" cy="274320"/>
          </a:xfrm>
          <a:prstGeom prst="rect">
            <a:avLst/>
          </a:prstGeom>
          <a:noFill/>
          <a:ln/>
        </p:spPr>
        <p:txBody>
          <a:bodyPr wrap="square" lIns="0" tIns="0" rIns="0" bIns="0" rtlCol="0" anchor="t"/>
          <a:lstStyle/>
          <a:p>
            <a:pPr indent="0" marL="0">
              <a:buNone/>
            </a:pPr>
            <a:r>
              <a:rPr lang="en-US" sz="1250" b="1" dirty="0">
                <a:solidFill>
                  <a:srgbClr val="03031C"/>
                </a:solidFill>
                <a:latin typeface="Archivo" pitchFamily="34" charset="0"/>
                <a:ea typeface="Archivo" pitchFamily="34" charset="-122"/>
                <a:cs typeface="Archivo" pitchFamily="34" charset="-120"/>
              </a:rPr>
              <a:t>Keys you can compare</a:t>
            </a:r>
            <a:endParaRPr lang="en-US" sz="1250" dirty="0"/>
          </a:p>
        </p:txBody>
      </p:sp>
      <p:sp>
        <p:nvSpPr>
          <p:cNvPr id="12" name="Text 9"/>
          <p:cNvSpPr txBox="1"/>
          <p:nvPr/>
        </p:nvSpPr>
        <p:spPr>
          <a:xfrm>
            <a:off x="3435096" y="1965960"/>
            <a:ext cx="2273808" cy="64008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Aliases and key hashes replace key fragments, so every app has a readable name.</a:t>
            </a:r>
            <a:endParaRPr lang="en-US" sz="1000" dirty="0"/>
          </a:p>
        </p:txBody>
      </p:sp>
      <p:sp>
        <p:nvSpPr>
          <p:cNvPr id="13" name="Shape 10"/>
          <p:cNvSpPr/>
          <p:nvPr/>
        </p:nvSpPr>
        <p:spPr>
          <a:xfrm>
            <a:off x="6074664" y="1463040"/>
            <a:ext cx="2639568" cy="1417320"/>
          </a:xfrm>
          <a:prstGeom prst="roundRect">
            <a:avLst>
              <a:gd name="adj" fmla="val 7097"/>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4" name="Text 11"/>
          <p:cNvSpPr txBox="1"/>
          <p:nvPr/>
        </p:nvSpPr>
        <p:spPr>
          <a:xfrm>
            <a:off x="6257544" y="1645920"/>
            <a:ext cx="2273808" cy="274320"/>
          </a:xfrm>
          <a:prstGeom prst="rect">
            <a:avLst/>
          </a:prstGeom>
          <a:noFill/>
          <a:ln/>
        </p:spPr>
        <p:txBody>
          <a:bodyPr wrap="square" lIns="0" tIns="0" rIns="0" bIns="0" rtlCol="0" anchor="t"/>
          <a:lstStyle/>
          <a:p>
            <a:pPr indent="0" marL="0">
              <a:buNone/>
            </a:pPr>
            <a:r>
              <a:rPr lang="en-US" sz="1250" b="1" dirty="0">
                <a:solidFill>
                  <a:srgbClr val="03031C"/>
                </a:solidFill>
                <a:latin typeface="Archivo" pitchFamily="34" charset="0"/>
                <a:ea typeface="Archivo" pitchFamily="34" charset="-122"/>
                <a:cs typeface="Archivo" pitchFamily="34" charset="-120"/>
              </a:rPr>
              <a:t>Query parameters in use</a:t>
            </a:r>
            <a:endParaRPr lang="en-US" sz="1250" dirty="0"/>
          </a:p>
        </p:txBody>
      </p:sp>
      <p:sp>
        <p:nvSpPr>
          <p:cNvPr id="15" name="Text 12"/>
          <p:cNvSpPr txBox="1"/>
          <p:nvPr/>
        </p:nvSpPr>
        <p:spPr>
          <a:xfrm>
            <a:off x="6257544" y="1965960"/>
            <a:ext cx="2273808" cy="64008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Declared parameters, counted per endpoint and per key.</a:t>
            </a:r>
            <a:endParaRPr lang="en-US" sz="1000" dirty="0"/>
          </a:p>
        </p:txBody>
      </p:sp>
      <p:sp>
        <p:nvSpPr>
          <p:cNvPr id="16" name="Shape 13"/>
          <p:cNvSpPr/>
          <p:nvPr/>
        </p:nvSpPr>
        <p:spPr>
          <a:xfrm>
            <a:off x="429768" y="3081528"/>
            <a:ext cx="2639568" cy="1417320"/>
          </a:xfrm>
          <a:prstGeom prst="roundRect">
            <a:avLst>
              <a:gd name="adj" fmla="val 7097"/>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7" name="Text 14"/>
          <p:cNvSpPr txBox="1"/>
          <p:nvPr/>
        </p:nvSpPr>
        <p:spPr>
          <a:xfrm>
            <a:off x="612648" y="3264408"/>
            <a:ext cx="2273808" cy="274320"/>
          </a:xfrm>
          <a:prstGeom prst="rect">
            <a:avLst/>
          </a:prstGeom>
          <a:noFill/>
          <a:ln/>
        </p:spPr>
        <p:txBody>
          <a:bodyPr wrap="square" lIns="0" tIns="0" rIns="0" bIns="0" rtlCol="0" anchor="t"/>
          <a:lstStyle/>
          <a:p>
            <a:pPr indent="0" marL="0">
              <a:buNone/>
            </a:pPr>
            <a:r>
              <a:rPr lang="en-US" sz="1250" b="1" dirty="0">
                <a:solidFill>
                  <a:srgbClr val="03031C"/>
                </a:solidFill>
                <a:latin typeface="Archivo" pitchFamily="34" charset="0"/>
                <a:ea typeface="Archivo" pitchFamily="34" charset="-122"/>
                <a:cs typeface="Archivo" pitchFamily="34" charset="-120"/>
              </a:rPr>
              <a:t>Latency with attribution</a:t>
            </a:r>
            <a:endParaRPr lang="en-US" sz="1250" dirty="0"/>
          </a:p>
        </p:txBody>
      </p:sp>
      <p:sp>
        <p:nvSpPr>
          <p:cNvPr id="18" name="Text 15"/>
          <p:cNvSpPr txBox="1"/>
          <p:nvPr/>
        </p:nvSpPr>
        <p:spPr>
          <a:xfrm>
            <a:off x="612648" y="3584448"/>
            <a:ext cx="2273808" cy="64008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Gateway time and backend time, separated on every request.</a:t>
            </a:r>
            <a:endParaRPr lang="en-US" sz="1000" dirty="0"/>
          </a:p>
        </p:txBody>
      </p:sp>
      <p:sp>
        <p:nvSpPr>
          <p:cNvPr id="19" name="Shape 16"/>
          <p:cNvSpPr/>
          <p:nvPr/>
        </p:nvSpPr>
        <p:spPr>
          <a:xfrm>
            <a:off x="3252216" y="3081528"/>
            <a:ext cx="2639568" cy="1417320"/>
          </a:xfrm>
          <a:prstGeom prst="roundRect">
            <a:avLst>
              <a:gd name="adj" fmla="val 7097"/>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0" name="Text 17"/>
          <p:cNvSpPr txBox="1"/>
          <p:nvPr/>
        </p:nvSpPr>
        <p:spPr>
          <a:xfrm>
            <a:off x="3435096" y="3264408"/>
            <a:ext cx="2273808" cy="274320"/>
          </a:xfrm>
          <a:prstGeom prst="rect">
            <a:avLst/>
          </a:prstGeom>
          <a:noFill/>
          <a:ln/>
        </p:spPr>
        <p:txBody>
          <a:bodyPr wrap="square" lIns="0" tIns="0" rIns="0" bIns="0" rtlCol="0" anchor="t"/>
          <a:lstStyle/>
          <a:p>
            <a:pPr indent="0" marL="0">
              <a:buNone/>
            </a:pPr>
            <a:r>
              <a:rPr lang="en-US" sz="1250" b="1" dirty="0">
                <a:solidFill>
                  <a:srgbClr val="03031C"/>
                </a:solidFill>
                <a:latin typeface="Archivo" pitchFamily="34" charset="0"/>
                <a:ea typeface="Archivo" pitchFamily="34" charset="-122"/>
                <a:cs typeface="Archivo" pitchFamily="34" charset="-120"/>
              </a:rPr>
              <a:t>Errors with a cause</a:t>
            </a:r>
            <a:endParaRPr lang="en-US" sz="1250" dirty="0"/>
          </a:p>
        </p:txBody>
      </p:sp>
      <p:sp>
        <p:nvSpPr>
          <p:cNvPr id="21" name="Text 18"/>
          <p:cNvSpPr txBox="1"/>
          <p:nvPr/>
        </p:nvSpPr>
        <p:spPr>
          <a:xfrm>
            <a:off x="3435096" y="3584448"/>
            <a:ext cx="2273808" cy="64008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Status code, endpoint and key, so each error has an owner.</a:t>
            </a:r>
            <a:endParaRPr lang="en-US" sz="1000" dirty="0"/>
          </a:p>
        </p:txBody>
      </p:sp>
      <p:sp>
        <p:nvSpPr>
          <p:cNvPr id="22" name="Shape 19"/>
          <p:cNvSpPr/>
          <p:nvPr/>
        </p:nvSpPr>
        <p:spPr>
          <a:xfrm>
            <a:off x="6074664" y="3081528"/>
            <a:ext cx="2639568" cy="1417320"/>
          </a:xfrm>
          <a:prstGeom prst="roundRect">
            <a:avLst>
              <a:gd name="adj" fmla="val 7097"/>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3" name="Text 20"/>
          <p:cNvSpPr txBox="1"/>
          <p:nvPr/>
        </p:nvSpPr>
        <p:spPr>
          <a:xfrm>
            <a:off x="6257544" y="3264408"/>
            <a:ext cx="2273808" cy="274320"/>
          </a:xfrm>
          <a:prstGeom prst="rect">
            <a:avLst/>
          </a:prstGeom>
          <a:noFill/>
          <a:ln/>
        </p:spPr>
        <p:txBody>
          <a:bodyPr wrap="square" lIns="0" tIns="0" rIns="0" bIns="0" rtlCol="0" anchor="t"/>
          <a:lstStyle/>
          <a:p>
            <a:pPr indent="0" marL="0">
              <a:buNone/>
            </a:pPr>
            <a:r>
              <a:rPr lang="en-US" sz="1250" b="1" dirty="0">
                <a:solidFill>
                  <a:srgbClr val="03031C"/>
                </a:solidFill>
                <a:latin typeface="Archivo" pitchFamily="34" charset="0"/>
                <a:ea typeface="Archivo" pitchFamily="34" charset="-122"/>
                <a:cs typeface="Archivo" pitchFamily="34" charset="-120"/>
              </a:rPr>
              <a:t>Your stack, unchanged</a:t>
            </a:r>
            <a:endParaRPr lang="en-US" sz="1250" dirty="0"/>
          </a:p>
        </p:txBody>
      </p:sp>
      <p:sp>
        <p:nvSpPr>
          <p:cNvPr id="24" name="Text 21"/>
          <p:cNvSpPr txBox="1"/>
          <p:nvPr/>
        </p:nvSpPr>
        <p:spPr>
          <a:xfrm>
            <a:off x="6257544" y="3584448"/>
            <a:ext cx="2273808" cy="64008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Prometheus, Loki and Grafana in your own environment. No new backend.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4F7"/>
        </a:solidFill>
      </p:bgPr>
    </p:bg>
    <p:spTree>
      <p:nvGrpSpPr>
        <p:cNvPr id="1" name=""/>
        <p:cNvGrpSpPr/>
        <p:nvPr/>
      </p:nvGrpSpPr>
      <p:grpSpPr>
        <a:xfrm>
          <a:off x="0" y="0"/>
          <a:ext cx="0" cy="0"/>
          <a:chOff x="0" y="0"/>
          <a:chExt cx="0" cy="0"/>
        </a:xfrm>
      </p:grpSpPr>
      <p:sp>
        <p:nvSpPr>
          <p:cNvPr id="2" name="Text 0"/>
          <p:cNvSpPr txBox="1"/>
          <p:nvPr/>
        </p:nvSpPr>
        <p:spPr>
          <a:xfrm>
            <a:off x="612648" y="868680"/>
            <a:ext cx="2286000" cy="1005840"/>
          </a:xfrm>
          <a:prstGeom prst="rect">
            <a:avLst/>
          </a:prstGeom>
          <a:noFill/>
          <a:ln/>
        </p:spPr>
        <p:txBody>
          <a:bodyPr wrap="square" lIns="0" tIns="0" rIns="0" bIns="0" rtlCol="0" anchor="t"/>
          <a:lstStyle/>
          <a:p>
            <a:pPr indent="0" marL="0">
              <a:buNone/>
            </a:pPr>
            <a:r>
              <a:rPr lang="en-US" sz="7200" b="1" spc="-200" kern="0" dirty="0">
                <a:solidFill>
                  <a:srgbClr val="03031C"/>
                </a:solidFill>
                <a:latin typeface="Archivo" pitchFamily="34" charset="0"/>
                <a:ea typeface="Archivo" pitchFamily="34" charset="-122"/>
                <a:cs typeface="Archivo" pitchFamily="34" charset="-120"/>
              </a:rPr>
              <a:t>03</a:t>
            </a:r>
            <a:endParaRPr lang="en-US" sz="7200" dirty="0"/>
          </a:p>
        </p:txBody>
      </p:sp>
      <p:sp>
        <p:nvSpPr>
          <p:cNvPr id="3" name="Text 1"/>
          <p:cNvSpPr txBox="1"/>
          <p:nvPr/>
        </p:nvSpPr>
        <p:spPr>
          <a:xfrm>
            <a:off x="612648" y="1920240"/>
            <a:ext cx="1320165" cy="201168"/>
          </a:xfrm>
          <a:prstGeom prst="roundRect">
            <a:avLst>
              <a:gd name="adj" fmla="val 50000"/>
            </a:avLst>
          </a:prstGeom>
          <a:solidFill>
            <a:srgbClr val="EDE4F7"/>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GETTING STARTED</a:t>
            </a:r>
            <a:endParaRPr lang="en-US" sz="750" dirty="0"/>
          </a:p>
        </p:txBody>
      </p:sp>
      <p:sp>
        <p:nvSpPr>
          <p:cNvPr id="4" name="Shape 2"/>
          <p:cNvSpPr/>
          <p:nvPr/>
        </p:nvSpPr>
        <p:spPr>
          <a:xfrm>
            <a:off x="594360" y="2803733"/>
            <a:ext cx="2447773" cy="128382"/>
          </a:xfrm>
          <a:prstGeom prst="rect">
            <a:avLst/>
          </a:prstGeom>
          <a:solidFill>
            <a:srgbClr val="BDF3DC"/>
          </a:solidFill>
          <a:ln/>
        </p:spPr>
      </p:sp>
      <p:sp>
        <p:nvSpPr>
          <p:cNvPr id="5" name="Text 3"/>
          <p:cNvSpPr txBox="1"/>
          <p:nvPr/>
        </p:nvSpPr>
        <p:spPr>
          <a:xfrm>
            <a:off x="612648" y="2240280"/>
            <a:ext cx="3931920" cy="804672"/>
          </a:xfrm>
          <a:prstGeom prst="rect">
            <a:avLst/>
          </a:prstGeom>
          <a:noFill/>
          <a:ln/>
        </p:spPr>
        <p:txBody>
          <a:bodyPr wrap="square" lIns="0" tIns="0" rIns="0" bIns="0" rtlCol="0" anchor="t"/>
          <a:lstStyle/>
          <a:p>
            <a:pPr indent="0" marL="0">
              <a:lnSpc>
                <a:spcPts val="2808"/>
              </a:lnSpc>
              <a:buNone/>
            </a:pPr>
            <a:r>
              <a:rPr lang="en-US" sz="2600" b="1" spc="-40" kern="0" dirty="0">
                <a:solidFill>
                  <a:srgbClr val="03031C"/>
                </a:solidFill>
                <a:latin typeface="Archivo" pitchFamily="34" charset="0"/>
                <a:ea typeface="Archivo" pitchFamily="34" charset="-122"/>
                <a:cs typeface="Archivo" pitchFamily="34" charset="-120"/>
              </a:rPr>
              <a:t>From demo</a:t>
            </a:r>
            <a:endParaRPr lang="en-US" sz="2600" dirty="0"/>
          </a:p>
          <a:p>
            <a:pPr indent="0" marL="0">
              <a:lnSpc>
                <a:spcPts val="2808"/>
              </a:lnSpc>
              <a:buNone/>
            </a:pPr>
            <a:r>
              <a:rPr lang="en-US" sz="2600" b="1" spc="-40" kern="0" dirty="0">
                <a:solidFill>
                  <a:srgbClr val="03031C"/>
                </a:solidFill>
                <a:latin typeface="Archivo" pitchFamily="34" charset="0"/>
                <a:ea typeface="Archivo" pitchFamily="34" charset="-122"/>
                <a:cs typeface="Archivo" pitchFamily="34" charset="-120"/>
              </a:rPr>
              <a:t>to your estate.</a:t>
            </a:r>
            <a:endParaRPr lang="en-US" sz="2600" dirty="0"/>
          </a:p>
        </p:txBody>
      </p:sp>
      <p:sp>
        <p:nvSpPr>
          <p:cNvPr id="6" name="Text 4"/>
          <p:cNvSpPr txBox="1"/>
          <p:nvPr/>
        </p:nvSpPr>
        <p:spPr>
          <a:xfrm>
            <a:off x="612648" y="3136392"/>
            <a:ext cx="3657600" cy="640080"/>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Guardrails, a three-step rollout and a one-week pilot.</a:t>
            </a:r>
            <a:endParaRPr lang="en-US" sz="1150" dirty="0"/>
          </a:p>
        </p:txBody>
      </p:sp>
      <p:sp>
        <p:nvSpPr>
          <p:cNvPr id="7" name="Shape 5"/>
          <p:cNvSpPr/>
          <p:nvPr/>
        </p:nvSpPr>
        <p:spPr>
          <a:xfrm>
            <a:off x="612648" y="3977640"/>
            <a:ext cx="310896" cy="45720"/>
          </a:xfrm>
          <a:prstGeom prst="roundRect">
            <a:avLst>
              <a:gd name="adj" fmla="val 50000"/>
            </a:avLst>
          </a:prstGeom>
          <a:solidFill>
            <a:srgbClr val="20EDBA"/>
          </a:solidFill>
          <a:ln/>
        </p:spPr>
      </p:sp>
      <p:sp>
        <p:nvSpPr>
          <p:cNvPr id="8" name="Shape 6"/>
          <p:cNvSpPr/>
          <p:nvPr/>
        </p:nvSpPr>
        <p:spPr>
          <a:xfrm>
            <a:off x="978408" y="3977640"/>
            <a:ext cx="310896" cy="45720"/>
          </a:xfrm>
          <a:prstGeom prst="roundRect">
            <a:avLst>
              <a:gd name="adj" fmla="val 50000"/>
            </a:avLst>
          </a:prstGeom>
          <a:solidFill>
            <a:srgbClr val="20EDBA"/>
          </a:solidFill>
          <a:ln/>
        </p:spPr>
      </p:sp>
      <p:sp>
        <p:nvSpPr>
          <p:cNvPr id="9" name="Shape 7"/>
          <p:cNvSpPr/>
          <p:nvPr/>
        </p:nvSpPr>
        <p:spPr>
          <a:xfrm>
            <a:off x="1344168" y="3977640"/>
            <a:ext cx="310896" cy="45720"/>
          </a:xfrm>
          <a:prstGeom prst="roundRect">
            <a:avLst>
              <a:gd name="adj" fmla="val 50000"/>
            </a:avLst>
          </a:prstGeom>
          <a:solidFill>
            <a:srgbClr val="20EDBA"/>
          </a:solidFill>
          <a:ln/>
        </p:spPr>
      </p:sp>
      <p:sp>
        <p:nvSpPr>
          <p:cNvPr id="10" name="Shape 8"/>
          <p:cNvSpPr/>
          <p:nvPr/>
        </p:nvSpPr>
        <p:spPr>
          <a:xfrm>
            <a:off x="4572000" y="0"/>
            <a:ext cx="4572000" cy="5143500"/>
          </a:xfrm>
          <a:prstGeom prst="rect">
            <a:avLst/>
          </a:prstGeom>
          <a:solidFill>
            <a:srgbClr val="E9DAF9"/>
          </a:solidFill>
          <a:ln w="9525">
            <a:solidFill>
              <a:srgbClr val="03031C"/>
            </a:solidFill>
            <a:prstDash val="solid"/>
          </a:ln>
        </p:spPr>
      </p:sp>
      <p:pic>
        <p:nvPicPr>
          <p:cNvPr id="11" name="Image 0" descr="Tyk">    </p:cNvPr>
          <p:cNvPicPr>
            <a:picLocks noChangeAspect="1"/>
          </p:cNvPicPr>
          <p:nvPr/>
        </p:nvPicPr>
        <p:blipFill>
          <a:blip r:embed="rId1"/>
          <a:stretch>
            <a:fillRect/>
          </a:stretch>
        </p:blipFill>
        <p:spPr>
          <a:xfrm>
            <a:off x="6172200" y="1885950"/>
            <a:ext cx="1371600" cy="1371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Getting started  ·  18</a:t>
            </a:r>
            <a:endParaRPr lang="en-US" sz="700" dirty="0"/>
          </a:p>
        </p:txBody>
      </p:sp>
      <p:sp>
        <p:nvSpPr>
          <p:cNvPr id="4" name="Text 1"/>
          <p:cNvSpPr txBox="1"/>
          <p:nvPr/>
        </p:nvSpPr>
        <p:spPr>
          <a:xfrm>
            <a:off x="429768" y="420624"/>
            <a:ext cx="1393546"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PRODUCTION-READY</a:t>
            </a:r>
            <a:endParaRPr lang="en-US" sz="750" dirty="0"/>
          </a:p>
        </p:txBody>
      </p:sp>
      <p:sp>
        <p:nvSpPr>
          <p:cNvPr id="5" name="Shape 2"/>
          <p:cNvSpPr/>
          <p:nvPr/>
        </p:nvSpPr>
        <p:spPr>
          <a:xfrm>
            <a:off x="2249805" y="930402"/>
            <a:ext cx="1118299"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Guardrails,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built in.</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Detailed metrics stay safe and cheap because detail is scoped, bounded and validated.</a:t>
            </a:r>
            <a:endParaRPr lang="en-US" sz="1150" dirty="0"/>
          </a:p>
        </p:txBody>
      </p:sp>
      <p:sp>
        <p:nvSpPr>
          <p:cNvPr id="8" name="Shape 5"/>
          <p:cNvSpPr/>
          <p:nvPr/>
        </p:nvSpPr>
        <p:spPr>
          <a:xfrm>
            <a:off x="429768" y="1828800"/>
            <a:ext cx="2639568" cy="1170432"/>
          </a:xfrm>
          <a:prstGeom prst="roundRect">
            <a:avLst>
              <a:gd name="adj" fmla="val 8594"/>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9" name="Shape 6"/>
          <p:cNvSpPr/>
          <p:nvPr/>
        </p:nvSpPr>
        <p:spPr>
          <a:xfrm>
            <a:off x="594360" y="1993392"/>
            <a:ext cx="274320" cy="274320"/>
          </a:xfrm>
          <a:prstGeom prst="roundRect">
            <a:avLst>
              <a:gd name="adj" fmla="val 20000"/>
            </a:avLst>
          </a:prstGeom>
          <a:ln w="9525">
            <a:solidFill>
              <a:srgbClr val="03031C"/>
            </a:solidFill>
            <a:prstDash val="solid"/>
          </a:ln>
        </p:spPr>
      </p:sp>
      <p:pic>
        <p:nvPicPr>
          <p:cNvPr id="10" name="Image 1" descr="preencoded.png">    </p:cNvPr>
          <p:cNvPicPr>
            <a:picLocks noChangeAspect="1"/>
          </p:cNvPicPr>
          <p:nvPr/>
        </p:nvPicPr>
        <p:blipFill>
          <a:blip r:embed="rId2"/>
          <a:stretch>
            <a:fillRect/>
          </a:stretch>
        </p:blipFill>
        <p:spPr>
          <a:xfrm>
            <a:off x="658368" y="2057400"/>
            <a:ext cx="146304" cy="146304"/>
          </a:xfrm>
          <a:prstGeom prst="rect">
            <a:avLst/>
          </a:prstGeom>
        </p:spPr>
      </p:pic>
      <p:sp>
        <p:nvSpPr>
          <p:cNvPr id="11" name="Text 7"/>
          <p:cNvSpPr txBox="1"/>
          <p:nvPr/>
        </p:nvSpPr>
        <p:spPr>
          <a:xfrm>
            <a:off x="978408" y="1993392"/>
            <a:ext cx="1953768" cy="274320"/>
          </a:xfrm>
          <a:prstGeom prst="rect">
            <a:avLst/>
          </a:prstGeom>
          <a:noFill/>
          <a:ln/>
        </p:spPr>
        <p:txBody>
          <a:bodyPr wrap="square" lIns="0" tIns="0" rIns="0" bIns="0" rtlCol="0" anchor="ctr"/>
          <a:lstStyle/>
          <a:p>
            <a:pPr indent="0" marL="0">
              <a:buNone/>
            </a:pPr>
            <a:r>
              <a:rPr lang="en-US" sz="1200" b="1" dirty="0">
                <a:solidFill>
                  <a:srgbClr val="03031C"/>
                </a:solidFill>
                <a:latin typeface="Archivo" pitchFamily="34" charset="0"/>
                <a:ea typeface="Archivo" pitchFamily="34" charset="-122"/>
                <a:cs typeface="Archivo" pitchFamily="34" charset="-120"/>
              </a:rPr>
              <a:t>Scoped instruments</a:t>
            </a:r>
            <a:endParaRPr lang="en-US" sz="1200" dirty="0"/>
          </a:p>
        </p:txBody>
      </p:sp>
      <p:sp>
        <p:nvSpPr>
          <p:cNvPr id="12" name="Text 8"/>
          <p:cNvSpPr txBox="1"/>
          <p:nvPr/>
        </p:nvSpPr>
        <p:spPr>
          <a:xfrm>
            <a:off x="594360" y="2377440"/>
            <a:ext cx="2310384" cy="566928"/>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filters.api_ids limits extra dimensions to the APIs that need them.</a:t>
            </a:r>
            <a:endParaRPr lang="en-US" sz="950" dirty="0"/>
          </a:p>
        </p:txBody>
      </p:sp>
      <p:sp>
        <p:nvSpPr>
          <p:cNvPr id="13" name="Shape 9"/>
          <p:cNvSpPr/>
          <p:nvPr/>
        </p:nvSpPr>
        <p:spPr>
          <a:xfrm>
            <a:off x="3252216" y="1828800"/>
            <a:ext cx="2639568" cy="1170432"/>
          </a:xfrm>
          <a:prstGeom prst="roundRect">
            <a:avLst>
              <a:gd name="adj" fmla="val 8594"/>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4" name="Shape 10"/>
          <p:cNvSpPr/>
          <p:nvPr/>
        </p:nvSpPr>
        <p:spPr>
          <a:xfrm>
            <a:off x="3416808" y="1993392"/>
            <a:ext cx="274320" cy="274320"/>
          </a:xfrm>
          <a:prstGeom prst="roundRect">
            <a:avLst>
              <a:gd name="adj" fmla="val 20000"/>
            </a:avLst>
          </a:prstGeom>
          <a:ln w="9525">
            <a:solidFill>
              <a:srgbClr val="03031C"/>
            </a:solidFill>
            <a:prstDash val="solid"/>
          </a:ln>
        </p:spPr>
      </p:sp>
      <p:pic>
        <p:nvPicPr>
          <p:cNvPr id="15" name="Image 2" descr="preencoded.png">    </p:cNvPr>
          <p:cNvPicPr>
            <a:picLocks noChangeAspect="1"/>
          </p:cNvPicPr>
          <p:nvPr/>
        </p:nvPicPr>
        <p:blipFill>
          <a:blip r:embed="rId3"/>
          <a:stretch>
            <a:fillRect/>
          </a:stretch>
        </p:blipFill>
        <p:spPr>
          <a:xfrm>
            <a:off x="3480816" y="2057400"/>
            <a:ext cx="146304" cy="146304"/>
          </a:xfrm>
          <a:prstGeom prst="rect">
            <a:avLst/>
          </a:prstGeom>
        </p:spPr>
      </p:pic>
      <p:sp>
        <p:nvSpPr>
          <p:cNvPr id="16" name="Text 11"/>
          <p:cNvSpPr txBox="1"/>
          <p:nvPr/>
        </p:nvSpPr>
        <p:spPr>
          <a:xfrm>
            <a:off x="3800856" y="1993392"/>
            <a:ext cx="1953768" cy="274320"/>
          </a:xfrm>
          <a:prstGeom prst="rect">
            <a:avLst/>
          </a:prstGeom>
          <a:noFill/>
          <a:ln/>
        </p:spPr>
        <p:txBody>
          <a:bodyPr wrap="square" lIns="0" tIns="0" rIns="0" bIns="0" rtlCol="0" anchor="ctr"/>
          <a:lstStyle/>
          <a:p>
            <a:pPr indent="0" marL="0">
              <a:buNone/>
            </a:pPr>
            <a:r>
              <a:rPr lang="en-US" sz="1200" b="1" dirty="0">
                <a:solidFill>
                  <a:srgbClr val="03031C"/>
                </a:solidFill>
                <a:latin typeface="Archivo" pitchFamily="34" charset="0"/>
                <a:ea typeface="Archivo" pitchFamily="34" charset="-122"/>
                <a:cs typeface="Archivo" pitchFamily="34" charset="-120"/>
              </a:rPr>
              <a:t>Readable key identity</a:t>
            </a:r>
            <a:endParaRPr lang="en-US" sz="1200" dirty="0"/>
          </a:p>
        </p:txBody>
      </p:sp>
      <p:sp>
        <p:nvSpPr>
          <p:cNvPr id="17" name="Text 12"/>
          <p:cNvSpPr txBox="1"/>
          <p:nvPr/>
        </p:nvSpPr>
        <p:spPr>
          <a:xfrm>
            <a:off x="3416808" y="2377440"/>
            <a:ext cx="2310384" cy="566928"/>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Key aliases are bounded, stable and meaningful.</a:t>
            </a:r>
            <a:endParaRPr lang="en-US" sz="950" dirty="0"/>
          </a:p>
        </p:txBody>
      </p:sp>
      <p:sp>
        <p:nvSpPr>
          <p:cNvPr id="18" name="Shape 13"/>
          <p:cNvSpPr/>
          <p:nvPr/>
        </p:nvSpPr>
        <p:spPr>
          <a:xfrm>
            <a:off x="6074664" y="1828800"/>
            <a:ext cx="2639568" cy="1170432"/>
          </a:xfrm>
          <a:prstGeom prst="roundRect">
            <a:avLst>
              <a:gd name="adj" fmla="val 8594"/>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9" name="Shape 14"/>
          <p:cNvSpPr/>
          <p:nvPr/>
        </p:nvSpPr>
        <p:spPr>
          <a:xfrm>
            <a:off x="6239256" y="1993392"/>
            <a:ext cx="274320" cy="274320"/>
          </a:xfrm>
          <a:prstGeom prst="roundRect">
            <a:avLst>
              <a:gd name="adj" fmla="val 20000"/>
            </a:avLst>
          </a:prstGeom>
          <a:ln w="9525">
            <a:solidFill>
              <a:srgbClr val="03031C"/>
            </a:solidFill>
            <a:prstDash val="solid"/>
          </a:ln>
        </p:spPr>
      </p:sp>
      <p:pic>
        <p:nvPicPr>
          <p:cNvPr id="20" name="Image 3" descr="preencoded.png">    </p:cNvPr>
          <p:cNvPicPr>
            <a:picLocks noChangeAspect="1"/>
          </p:cNvPicPr>
          <p:nvPr/>
        </p:nvPicPr>
        <p:blipFill>
          <a:blip r:embed="rId4"/>
          <a:stretch>
            <a:fillRect/>
          </a:stretch>
        </p:blipFill>
        <p:spPr>
          <a:xfrm>
            <a:off x="6303264" y="2057400"/>
            <a:ext cx="146304" cy="146304"/>
          </a:xfrm>
          <a:prstGeom prst="rect">
            <a:avLst/>
          </a:prstGeom>
        </p:spPr>
      </p:pic>
      <p:sp>
        <p:nvSpPr>
          <p:cNvPr id="21" name="Text 15"/>
          <p:cNvSpPr txBox="1"/>
          <p:nvPr/>
        </p:nvSpPr>
        <p:spPr>
          <a:xfrm>
            <a:off x="6623304" y="1993392"/>
            <a:ext cx="1953768" cy="274320"/>
          </a:xfrm>
          <a:prstGeom prst="rect">
            <a:avLst/>
          </a:prstGeom>
          <a:noFill/>
          <a:ln/>
        </p:spPr>
        <p:txBody>
          <a:bodyPr wrap="square" lIns="0" tIns="0" rIns="0" bIns="0" rtlCol="0" anchor="ctr"/>
          <a:lstStyle/>
          <a:p>
            <a:pPr indent="0" marL="0">
              <a:buNone/>
            </a:pPr>
            <a:r>
              <a:rPr lang="en-US" sz="1200" b="1" dirty="0">
                <a:solidFill>
                  <a:srgbClr val="03031C"/>
                </a:solidFill>
                <a:latin typeface="Archivo" pitchFamily="34" charset="0"/>
                <a:ea typeface="Archivo" pitchFamily="34" charset="-122"/>
                <a:cs typeface="Archivo" pitchFamily="34" charset="-120"/>
              </a:rPr>
              <a:t>Declared parameters</a:t>
            </a:r>
            <a:endParaRPr lang="en-US" sz="1200" dirty="0"/>
          </a:p>
        </p:txBody>
      </p:sp>
      <p:sp>
        <p:nvSpPr>
          <p:cNvPr id="22" name="Text 16"/>
          <p:cNvSpPr txBox="1"/>
          <p:nvPr/>
        </p:nvSpPr>
        <p:spPr>
          <a:xfrm>
            <a:off x="6239256" y="2377440"/>
            <a:ext cx="2310384" cy="566928"/>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Only the query parameters you choose ever become series.</a:t>
            </a:r>
            <a:endParaRPr lang="en-US" sz="950" dirty="0"/>
          </a:p>
        </p:txBody>
      </p:sp>
      <p:sp>
        <p:nvSpPr>
          <p:cNvPr id="23" name="Shape 17"/>
          <p:cNvSpPr/>
          <p:nvPr/>
        </p:nvSpPr>
        <p:spPr>
          <a:xfrm>
            <a:off x="429768" y="3182112"/>
            <a:ext cx="2639568" cy="1170432"/>
          </a:xfrm>
          <a:prstGeom prst="roundRect">
            <a:avLst>
              <a:gd name="adj" fmla="val 8594"/>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4" name="Shape 18"/>
          <p:cNvSpPr/>
          <p:nvPr/>
        </p:nvSpPr>
        <p:spPr>
          <a:xfrm>
            <a:off x="594360" y="3346704"/>
            <a:ext cx="274320" cy="274320"/>
          </a:xfrm>
          <a:prstGeom prst="roundRect">
            <a:avLst>
              <a:gd name="adj" fmla="val 20000"/>
            </a:avLst>
          </a:prstGeom>
          <a:ln w="9525">
            <a:solidFill>
              <a:srgbClr val="03031C"/>
            </a:solidFill>
            <a:prstDash val="solid"/>
          </a:ln>
        </p:spPr>
      </p:sp>
      <p:pic>
        <p:nvPicPr>
          <p:cNvPr id="25" name="Image 4" descr="preencoded.png">    </p:cNvPr>
          <p:cNvPicPr>
            <a:picLocks noChangeAspect="1"/>
          </p:cNvPicPr>
          <p:nvPr/>
        </p:nvPicPr>
        <p:blipFill>
          <a:blip r:embed="rId5"/>
          <a:stretch>
            <a:fillRect/>
          </a:stretch>
        </p:blipFill>
        <p:spPr>
          <a:xfrm>
            <a:off x="658368" y="3410712"/>
            <a:ext cx="146304" cy="146304"/>
          </a:xfrm>
          <a:prstGeom prst="rect">
            <a:avLst/>
          </a:prstGeom>
        </p:spPr>
      </p:pic>
      <p:sp>
        <p:nvSpPr>
          <p:cNvPr id="26" name="Text 19"/>
          <p:cNvSpPr txBox="1"/>
          <p:nvPr/>
        </p:nvSpPr>
        <p:spPr>
          <a:xfrm>
            <a:off x="978408" y="3346704"/>
            <a:ext cx="1953768" cy="274320"/>
          </a:xfrm>
          <a:prstGeom prst="rect">
            <a:avLst/>
          </a:prstGeom>
          <a:noFill/>
          <a:ln/>
        </p:spPr>
        <p:txBody>
          <a:bodyPr wrap="square" lIns="0" tIns="0" rIns="0" bIns="0" rtlCol="0" anchor="ctr"/>
          <a:lstStyle/>
          <a:p>
            <a:pPr indent="0" marL="0">
              <a:buNone/>
            </a:pPr>
            <a:r>
              <a:rPr lang="en-US" sz="1200" b="1" dirty="0">
                <a:solidFill>
                  <a:srgbClr val="03031C"/>
                </a:solidFill>
                <a:latin typeface="Archivo" pitchFamily="34" charset="0"/>
                <a:ea typeface="Archivo" pitchFamily="34" charset="-122"/>
                <a:cs typeface="Archivo" pitchFamily="34" charset="-120"/>
              </a:rPr>
              <a:t>Validated config</a:t>
            </a:r>
            <a:endParaRPr lang="en-US" sz="1200" dirty="0"/>
          </a:p>
        </p:txBody>
      </p:sp>
      <p:sp>
        <p:nvSpPr>
          <p:cNvPr id="27" name="Text 20"/>
          <p:cNvSpPr txBox="1"/>
          <p:nvPr/>
        </p:nvSpPr>
        <p:spPr>
          <a:xfrm>
            <a:off x="594360" y="3730752"/>
            <a:ext cx="2310384" cy="566928"/>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The gateway warns on risky dimensions and instruments with more than 10.</a:t>
            </a:r>
            <a:endParaRPr lang="en-US" sz="950" dirty="0"/>
          </a:p>
        </p:txBody>
      </p:sp>
      <p:sp>
        <p:nvSpPr>
          <p:cNvPr id="28" name="Shape 21"/>
          <p:cNvSpPr/>
          <p:nvPr/>
        </p:nvSpPr>
        <p:spPr>
          <a:xfrm>
            <a:off x="3252216" y="3182112"/>
            <a:ext cx="2639568" cy="1170432"/>
          </a:xfrm>
          <a:prstGeom prst="roundRect">
            <a:avLst>
              <a:gd name="adj" fmla="val 8594"/>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9" name="Shape 22"/>
          <p:cNvSpPr/>
          <p:nvPr/>
        </p:nvSpPr>
        <p:spPr>
          <a:xfrm>
            <a:off x="3416808" y="3346704"/>
            <a:ext cx="274320" cy="274320"/>
          </a:xfrm>
          <a:prstGeom prst="roundRect">
            <a:avLst>
              <a:gd name="adj" fmla="val 20000"/>
            </a:avLst>
          </a:prstGeom>
          <a:ln w="9525">
            <a:solidFill>
              <a:srgbClr val="03031C"/>
            </a:solidFill>
            <a:prstDash val="solid"/>
          </a:ln>
        </p:spPr>
      </p:sp>
      <p:pic>
        <p:nvPicPr>
          <p:cNvPr id="30" name="Image 5" descr="preencoded.png">    </p:cNvPr>
          <p:cNvPicPr>
            <a:picLocks noChangeAspect="1"/>
          </p:cNvPicPr>
          <p:nvPr/>
        </p:nvPicPr>
        <p:blipFill>
          <a:blip r:embed="rId6"/>
          <a:stretch>
            <a:fillRect/>
          </a:stretch>
        </p:blipFill>
        <p:spPr>
          <a:xfrm>
            <a:off x="3480816" y="3410712"/>
            <a:ext cx="146304" cy="146304"/>
          </a:xfrm>
          <a:prstGeom prst="rect">
            <a:avLst/>
          </a:prstGeom>
        </p:spPr>
      </p:pic>
      <p:sp>
        <p:nvSpPr>
          <p:cNvPr id="31" name="Text 23"/>
          <p:cNvSpPr txBox="1"/>
          <p:nvPr/>
        </p:nvSpPr>
        <p:spPr>
          <a:xfrm>
            <a:off x="3800856" y="3346704"/>
            <a:ext cx="1953768" cy="274320"/>
          </a:xfrm>
          <a:prstGeom prst="rect">
            <a:avLst/>
          </a:prstGeom>
          <a:noFill/>
          <a:ln/>
        </p:spPr>
        <p:txBody>
          <a:bodyPr wrap="square" lIns="0" tIns="0" rIns="0" bIns="0" rtlCol="0" anchor="ctr"/>
          <a:lstStyle/>
          <a:p>
            <a:pPr indent="0" marL="0">
              <a:buNone/>
            </a:pPr>
            <a:r>
              <a:rPr lang="en-US" sz="1200" b="1" dirty="0">
                <a:solidFill>
                  <a:srgbClr val="03031C"/>
                </a:solidFill>
                <a:latin typeface="Archivo" pitchFamily="34" charset="0"/>
                <a:ea typeface="Archivo" pitchFamily="34" charset="-122"/>
                <a:cs typeface="Archivo" pitchFamily="34" charset="-120"/>
              </a:rPr>
              <a:t>Low overhead</a:t>
            </a:r>
            <a:endParaRPr lang="en-US" sz="1200" dirty="0"/>
          </a:p>
        </p:txBody>
      </p:sp>
      <p:sp>
        <p:nvSpPr>
          <p:cNvPr id="32" name="Text 24"/>
          <p:cNvSpPr txBox="1"/>
          <p:nvPr/>
        </p:nvSpPr>
        <p:spPr>
          <a:xfrm>
            <a:off x="3416808" y="3730752"/>
            <a:ext cx="2310384" cy="566928"/>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4.6% CPU for native metrics against 6.9% for Pump, with P99 unchanged.</a:t>
            </a:r>
            <a:endParaRPr lang="en-US" sz="950" dirty="0"/>
          </a:p>
        </p:txBody>
      </p:sp>
      <p:sp>
        <p:nvSpPr>
          <p:cNvPr id="33" name="Shape 25"/>
          <p:cNvSpPr/>
          <p:nvPr/>
        </p:nvSpPr>
        <p:spPr>
          <a:xfrm>
            <a:off x="6074664" y="3182112"/>
            <a:ext cx="2639568" cy="1170432"/>
          </a:xfrm>
          <a:prstGeom prst="roundRect">
            <a:avLst>
              <a:gd name="adj" fmla="val 8594"/>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34" name="Shape 26"/>
          <p:cNvSpPr/>
          <p:nvPr/>
        </p:nvSpPr>
        <p:spPr>
          <a:xfrm>
            <a:off x="6239256" y="3346704"/>
            <a:ext cx="274320" cy="274320"/>
          </a:xfrm>
          <a:prstGeom prst="roundRect">
            <a:avLst>
              <a:gd name="adj" fmla="val 20000"/>
            </a:avLst>
          </a:prstGeom>
          <a:ln w="9525">
            <a:solidFill>
              <a:srgbClr val="03031C"/>
            </a:solidFill>
            <a:prstDash val="solid"/>
          </a:ln>
        </p:spPr>
      </p:sp>
      <p:pic>
        <p:nvPicPr>
          <p:cNvPr id="35" name="Image 6" descr="preencoded.png">    </p:cNvPr>
          <p:cNvPicPr>
            <a:picLocks noChangeAspect="1"/>
          </p:cNvPicPr>
          <p:nvPr/>
        </p:nvPicPr>
        <p:blipFill>
          <a:blip r:embed="rId7"/>
          <a:stretch>
            <a:fillRect/>
          </a:stretch>
        </p:blipFill>
        <p:spPr>
          <a:xfrm>
            <a:off x="6303264" y="3410712"/>
            <a:ext cx="146304" cy="146304"/>
          </a:xfrm>
          <a:prstGeom prst="rect">
            <a:avLst/>
          </a:prstGeom>
        </p:spPr>
      </p:pic>
      <p:sp>
        <p:nvSpPr>
          <p:cNvPr id="36" name="Text 27"/>
          <p:cNvSpPr txBox="1"/>
          <p:nvPr/>
        </p:nvSpPr>
        <p:spPr>
          <a:xfrm>
            <a:off x="6623304" y="3346704"/>
            <a:ext cx="1953768" cy="274320"/>
          </a:xfrm>
          <a:prstGeom prst="rect">
            <a:avLst/>
          </a:prstGeom>
          <a:noFill/>
          <a:ln/>
        </p:spPr>
        <p:txBody>
          <a:bodyPr wrap="square" lIns="0" tIns="0" rIns="0" bIns="0" rtlCol="0" anchor="ctr"/>
          <a:lstStyle/>
          <a:p>
            <a:pPr indent="0" marL="0">
              <a:buNone/>
            </a:pPr>
            <a:r>
              <a:rPr lang="en-US" sz="1200" b="1" dirty="0">
                <a:solidFill>
                  <a:srgbClr val="03031C"/>
                </a:solidFill>
                <a:latin typeface="Archivo" pitchFamily="34" charset="0"/>
                <a:ea typeface="Archivo" pitchFamily="34" charset="-122"/>
                <a:cs typeface="Archivo" pitchFamily="34" charset="-120"/>
              </a:rPr>
              <a:t>Opt-in</a:t>
            </a:r>
            <a:endParaRPr lang="en-US" sz="1200" dirty="0"/>
          </a:p>
        </p:txBody>
      </p:sp>
      <p:sp>
        <p:nvSpPr>
          <p:cNvPr id="37" name="Text 28"/>
          <p:cNvSpPr txBox="1"/>
          <p:nvPr/>
        </p:nvSpPr>
        <p:spPr>
          <a:xfrm>
            <a:off x="6239256" y="3730752"/>
            <a:ext cx="2310384" cy="566928"/>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Existing Pump pipelines keep working. Move at your own pace.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Getting started  ·  19</a:t>
            </a:r>
            <a:endParaRPr lang="en-US" sz="700" dirty="0"/>
          </a:p>
        </p:txBody>
      </p:sp>
      <p:sp>
        <p:nvSpPr>
          <p:cNvPr id="4" name="Text 1"/>
          <p:cNvSpPr txBox="1"/>
          <p:nvPr/>
        </p:nvSpPr>
        <p:spPr>
          <a:xfrm>
            <a:off x="429768" y="420624"/>
            <a:ext cx="733120"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ROLLOUT</a:t>
            </a:r>
            <a:endParaRPr lang="en-US" sz="750" dirty="0"/>
          </a:p>
        </p:txBody>
      </p:sp>
      <p:sp>
        <p:nvSpPr>
          <p:cNvPr id="5" name="Shape 2"/>
          <p:cNvSpPr/>
          <p:nvPr/>
        </p:nvSpPr>
        <p:spPr>
          <a:xfrm>
            <a:off x="2467610" y="930402"/>
            <a:ext cx="2246376"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Three steps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to production.</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The configuration in this demo is the configuration you would run.</a:t>
            </a:r>
            <a:endParaRPr lang="en-US" sz="1150" dirty="0"/>
          </a:p>
        </p:txBody>
      </p:sp>
      <p:sp>
        <p:nvSpPr>
          <p:cNvPr id="8" name="Shape 5"/>
          <p:cNvSpPr/>
          <p:nvPr/>
        </p:nvSpPr>
        <p:spPr>
          <a:xfrm>
            <a:off x="429768" y="1828800"/>
            <a:ext cx="2639568" cy="2487168"/>
          </a:xfrm>
          <a:prstGeom prst="roundRect">
            <a:avLst>
              <a:gd name="adj" fmla="val 4044"/>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9" name="Text 6"/>
          <p:cNvSpPr txBox="1"/>
          <p:nvPr/>
        </p:nvSpPr>
        <p:spPr>
          <a:xfrm>
            <a:off x="612648" y="1993392"/>
            <a:ext cx="914400" cy="502920"/>
          </a:xfrm>
          <a:prstGeom prst="rect">
            <a:avLst/>
          </a:prstGeom>
          <a:noFill/>
          <a:ln/>
        </p:spPr>
        <p:txBody>
          <a:bodyPr wrap="square" lIns="0" tIns="0" rIns="0" bIns="0" rtlCol="0" anchor="t"/>
          <a:lstStyle/>
          <a:p>
            <a:pPr indent="0" marL="0">
              <a:buNone/>
            </a:pPr>
            <a:r>
              <a:rPr lang="en-US" sz="2600" b="1" dirty="0">
                <a:solidFill>
                  <a:srgbClr val="03031C"/>
                </a:solidFill>
                <a:latin typeface="Archivo" pitchFamily="34" charset="0"/>
                <a:ea typeface="Archivo" pitchFamily="34" charset="-122"/>
                <a:cs typeface="Archivo" pitchFamily="34" charset="-120"/>
              </a:rPr>
              <a:t>01</a:t>
            </a:r>
            <a:endParaRPr lang="en-US" sz="2600" dirty="0"/>
          </a:p>
        </p:txBody>
      </p:sp>
      <p:sp>
        <p:nvSpPr>
          <p:cNvPr id="10" name="Text 7"/>
          <p:cNvSpPr txBox="1"/>
          <p:nvPr/>
        </p:nvSpPr>
        <p:spPr>
          <a:xfrm>
            <a:off x="612648" y="2606040"/>
            <a:ext cx="2273808" cy="274320"/>
          </a:xfrm>
          <a:prstGeom prst="rect">
            <a:avLst/>
          </a:prstGeom>
          <a:noFill/>
          <a:ln/>
        </p:spPr>
        <p:txBody>
          <a:bodyPr wrap="square" lIns="0" tIns="0" rIns="0" bIns="0" rtlCol="0" anchor="t"/>
          <a:lstStyle/>
          <a:p>
            <a:pPr indent="0" marL="0">
              <a:buNone/>
            </a:pPr>
            <a:r>
              <a:rPr lang="en-US" sz="1300" b="1" dirty="0">
                <a:solidFill>
                  <a:srgbClr val="03031C"/>
                </a:solidFill>
                <a:latin typeface="Archivo" pitchFamily="34" charset="0"/>
                <a:ea typeface="Archivo" pitchFamily="34" charset="-122"/>
                <a:cs typeface="Archivo" pitchFamily="34" charset="-120"/>
              </a:rPr>
              <a:t>Enable</a:t>
            </a:r>
            <a:endParaRPr lang="en-US" sz="1300" dirty="0"/>
          </a:p>
        </p:txBody>
      </p:sp>
      <p:sp>
        <p:nvSpPr>
          <p:cNvPr id="11" name="Text 8"/>
          <p:cNvSpPr txBox="1"/>
          <p:nvPr/>
        </p:nvSpPr>
        <p:spPr>
          <a:xfrm>
            <a:off x="612648" y="2944368"/>
            <a:ext cx="2273808" cy="118872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Turn on OTLP metrics and JSON access logs on the gateways. First metrics arrive within a minute.</a:t>
            </a:r>
            <a:endParaRPr lang="en-US" sz="1000" dirty="0"/>
          </a:p>
        </p:txBody>
      </p:sp>
      <p:sp>
        <p:nvSpPr>
          <p:cNvPr id="12" name="Shape 9"/>
          <p:cNvSpPr/>
          <p:nvPr/>
        </p:nvSpPr>
        <p:spPr>
          <a:xfrm>
            <a:off x="3252216" y="1828800"/>
            <a:ext cx="2639568" cy="2487168"/>
          </a:xfrm>
          <a:prstGeom prst="roundRect">
            <a:avLst>
              <a:gd name="adj" fmla="val 4044"/>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3" name="Text 10"/>
          <p:cNvSpPr txBox="1"/>
          <p:nvPr/>
        </p:nvSpPr>
        <p:spPr>
          <a:xfrm>
            <a:off x="3435096" y="1993392"/>
            <a:ext cx="914400" cy="502920"/>
          </a:xfrm>
          <a:prstGeom prst="rect">
            <a:avLst/>
          </a:prstGeom>
          <a:noFill/>
          <a:ln/>
        </p:spPr>
        <p:txBody>
          <a:bodyPr wrap="square" lIns="0" tIns="0" rIns="0" bIns="0" rtlCol="0" anchor="t"/>
          <a:lstStyle/>
          <a:p>
            <a:pPr indent="0" marL="0">
              <a:buNone/>
            </a:pPr>
            <a:r>
              <a:rPr lang="en-US" sz="2600" b="1" dirty="0">
                <a:solidFill>
                  <a:srgbClr val="03031C"/>
                </a:solidFill>
                <a:latin typeface="Archivo" pitchFamily="34" charset="0"/>
                <a:ea typeface="Archivo" pitchFamily="34" charset="-122"/>
                <a:cs typeface="Archivo" pitchFamily="34" charset="-120"/>
              </a:rPr>
              <a:t>02</a:t>
            </a:r>
            <a:endParaRPr lang="en-US" sz="2600" dirty="0"/>
          </a:p>
        </p:txBody>
      </p:sp>
      <p:sp>
        <p:nvSpPr>
          <p:cNvPr id="14" name="Text 11"/>
          <p:cNvSpPr txBox="1"/>
          <p:nvPr/>
        </p:nvSpPr>
        <p:spPr>
          <a:xfrm>
            <a:off x="3435096" y="2606040"/>
            <a:ext cx="2273808" cy="274320"/>
          </a:xfrm>
          <a:prstGeom prst="rect">
            <a:avLst/>
          </a:prstGeom>
          <a:noFill/>
          <a:ln/>
        </p:spPr>
        <p:txBody>
          <a:bodyPr wrap="square" lIns="0" tIns="0" rIns="0" bIns="0" rtlCol="0" anchor="t"/>
          <a:lstStyle/>
          <a:p>
            <a:pPr indent="0" marL="0">
              <a:buNone/>
            </a:pPr>
            <a:r>
              <a:rPr lang="en-US" sz="1300" b="1" dirty="0">
                <a:solidFill>
                  <a:srgbClr val="03031C"/>
                </a:solidFill>
                <a:latin typeface="Archivo" pitchFamily="34" charset="0"/>
                <a:ea typeface="Archivo" pitchFamily="34" charset="-122"/>
                <a:cs typeface="Archivo" pitchFamily="34" charset="-120"/>
              </a:rPr>
              <a:t>Connect</a:t>
            </a:r>
            <a:endParaRPr lang="en-US" sz="1300" dirty="0"/>
          </a:p>
        </p:txBody>
      </p:sp>
      <p:sp>
        <p:nvSpPr>
          <p:cNvPr id="15" name="Text 12"/>
          <p:cNvSpPr txBox="1"/>
          <p:nvPr/>
        </p:nvSpPr>
        <p:spPr>
          <a:xfrm>
            <a:off x="3435096" y="2944368"/>
            <a:ext cx="2273808" cy="118872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Point the gateways at an OpenTelemetry Collector that writes to your Prometheus and ships logs to Loki.</a:t>
            </a:r>
            <a:endParaRPr lang="en-US" sz="1000" dirty="0"/>
          </a:p>
        </p:txBody>
      </p:sp>
      <p:sp>
        <p:nvSpPr>
          <p:cNvPr id="16" name="Shape 13"/>
          <p:cNvSpPr/>
          <p:nvPr/>
        </p:nvSpPr>
        <p:spPr>
          <a:xfrm>
            <a:off x="6074664" y="1828800"/>
            <a:ext cx="2639568" cy="2487168"/>
          </a:xfrm>
          <a:prstGeom prst="roundRect">
            <a:avLst>
              <a:gd name="adj" fmla="val 4044"/>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7" name="Text 14"/>
          <p:cNvSpPr txBox="1"/>
          <p:nvPr/>
        </p:nvSpPr>
        <p:spPr>
          <a:xfrm>
            <a:off x="6257544" y="1993392"/>
            <a:ext cx="914400" cy="502920"/>
          </a:xfrm>
          <a:prstGeom prst="rect">
            <a:avLst/>
          </a:prstGeom>
          <a:noFill/>
          <a:ln/>
        </p:spPr>
        <p:txBody>
          <a:bodyPr wrap="square" lIns="0" tIns="0" rIns="0" bIns="0" rtlCol="0" anchor="t"/>
          <a:lstStyle/>
          <a:p>
            <a:pPr indent="0" marL="0">
              <a:buNone/>
            </a:pPr>
            <a:r>
              <a:rPr lang="en-US" sz="2600" b="1" dirty="0">
                <a:solidFill>
                  <a:srgbClr val="03031C"/>
                </a:solidFill>
                <a:latin typeface="Archivo" pitchFamily="34" charset="0"/>
                <a:ea typeface="Archivo" pitchFamily="34" charset="-122"/>
                <a:cs typeface="Archivo" pitchFamily="34" charset="-120"/>
              </a:rPr>
              <a:t>03</a:t>
            </a:r>
            <a:endParaRPr lang="en-US" sz="2600" dirty="0"/>
          </a:p>
        </p:txBody>
      </p:sp>
      <p:sp>
        <p:nvSpPr>
          <p:cNvPr id="18" name="Text 15"/>
          <p:cNvSpPr txBox="1"/>
          <p:nvPr/>
        </p:nvSpPr>
        <p:spPr>
          <a:xfrm>
            <a:off x="6257544" y="2606040"/>
            <a:ext cx="2273808" cy="274320"/>
          </a:xfrm>
          <a:prstGeom prst="rect">
            <a:avLst/>
          </a:prstGeom>
          <a:noFill/>
          <a:ln/>
        </p:spPr>
        <p:txBody>
          <a:bodyPr wrap="square" lIns="0" tIns="0" rIns="0" bIns="0" rtlCol="0" anchor="t"/>
          <a:lstStyle/>
          <a:p>
            <a:pPr indent="0" marL="0">
              <a:buNone/>
            </a:pPr>
            <a:r>
              <a:rPr lang="en-US" sz="1300" b="1" dirty="0">
                <a:solidFill>
                  <a:srgbClr val="03031C"/>
                </a:solidFill>
                <a:latin typeface="Archivo" pitchFamily="34" charset="0"/>
                <a:ea typeface="Archivo" pitchFamily="34" charset="-122"/>
                <a:cs typeface="Archivo" pitchFamily="34" charset="-120"/>
              </a:rPr>
              <a:t>Visualise and alert</a:t>
            </a:r>
            <a:endParaRPr lang="en-US" sz="1300" dirty="0"/>
          </a:p>
        </p:txBody>
      </p:sp>
      <p:sp>
        <p:nvSpPr>
          <p:cNvPr id="19" name="Text 16"/>
          <p:cNvSpPr txBox="1"/>
          <p:nvPr/>
        </p:nvSpPr>
        <p:spPr>
          <a:xfrm>
            <a:off x="6257544" y="2944368"/>
            <a:ext cx="2273808" cy="1188720"/>
          </a:xfrm>
          <a:prstGeom prst="rect">
            <a:avLst/>
          </a:prstGeom>
          <a:noFill/>
          <a:ln/>
        </p:spPr>
        <p:txBody>
          <a:bodyPr wrap="square" lIns="0" tIns="0" rIns="0" bIns="0" rtlCol="0" anchor="t"/>
          <a:lstStyle/>
          <a:p>
            <a:pPr indent="0" marL="0">
              <a:buNone/>
            </a:pPr>
            <a:r>
              <a:rPr lang="en-US" sz="1000" dirty="0">
                <a:solidFill>
                  <a:srgbClr val="3D3A4D"/>
                </a:solidFill>
                <a:latin typeface="Archivo" pitchFamily="34" charset="0"/>
                <a:ea typeface="Archivo" pitchFamily="34" charset="-122"/>
                <a:cs typeface="Archivo" pitchFamily="34" charset="-120"/>
              </a:rPr>
              <a:t>Import the dashboard, add key aliases and tracked endpoints, and alert on errors and P95 per key.</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Getting started  ·  20</a:t>
            </a:r>
            <a:endParaRPr lang="en-US" sz="700" dirty="0"/>
          </a:p>
        </p:txBody>
      </p:sp>
      <p:sp>
        <p:nvSpPr>
          <p:cNvPr id="4" name="Text 1"/>
          <p:cNvSpPr txBox="1"/>
          <p:nvPr/>
        </p:nvSpPr>
        <p:spPr>
          <a:xfrm>
            <a:off x="429768" y="420624"/>
            <a:ext cx="1466926"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QUESTIONS WE HEAR</a:t>
            </a:r>
            <a:endParaRPr lang="en-US" sz="750" dirty="0"/>
          </a:p>
        </p:txBody>
      </p:sp>
      <p:sp>
        <p:nvSpPr>
          <p:cNvPr id="5" name="Shape 2"/>
          <p:cNvSpPr/>
          <p:nvPr/>
        </p:nvSpPr>
        <p:spPr>
          <a:xfrm>
            <a:off x="3315970" y="930402"/>
            <a:ext cx="1668526"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Frequently asked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questions.</a:t>
            </a:r>
            <a:endParaRPr lang="en-US" sz="2500" dirty="0"/>
          </a:p>
        </p:txBody>
      </p:sp>
      <p:sp>
        <p:nvSpPr>
          <p:cNvPr id="7" name="Shape 4"/>
          <p:cNvSpPr/>
          <p:nvPr/>
        </p:nvSpPr>
        <p:spPr>
          <a:xfrm>
            <a:off x="429768" y="1417320"/>
            <a:ext cx="4050792" cy="822960"/>
          </a:xfrm>
          <a:prstGeom prst="roundRect">
            <a:avLst>
              <a:gd name="adj" fmla="val 12222"/>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8" name="Text 5"/>
          <p:cNvSpPr txBox="1"/>
          <p:nvPr/>
        </p:nvSpPr>
        <p:spPr>
          <a:xfrm>
            <a:off x="612648" y="1527048"/>
            <a:ext cx="3685032" cy="640080"/>
          </a:xfrm>
          <a:prstGeom prst="rect">
            <a:avLst/>
          </a:prstGeom>
          <a:noFill/>
          <a:ln/>
        </p:spPr>
        <p:txBody>
          <a:bodyPr wrap="square" lIns="0" tIns="0" rIns="0" bIns="0" rtlCol="0" anchor="t"/>
          <a:lstStyle/>
          <a:p>
            <a:pPr indent="0" marL="0">
              <a:buNone/>
            </a:pPr>
            <a:r>
              <a:rPr lang="en-US" sz="1100" b="1" dirty="0">
                <a:solidFill>
                  <a:srgbClr val="03031C"/>
                </a:solidFill>
                <a:latin typeface="Archivo" pitchFamily="34" charset="0"/>
                <a:ea typeface="Archivo" pitchFamily="34" charset="-122"/>
                <a:cs typeface="Archivo" pitchFamily="34" charset="-120"/>
              </a:rPr>
              <a:t>Do we still need Tyk Pump?</a:t>
            </a:r>
            <a:endParaRPr lang="en-US" sz="1100" dirty="0"/>
          </a:p>
          <a:p>
            <a:pPr indent="0" marL="0">
              <a:buNone/>
            </a:pPr>
            <a:r>
              <a:rPr lang="en-US" sz="950" dirty="0">
                <a:solidFill>
                  <a:srgbClr val="3D3A4D"/>
                </a:solidFill>
                <a:latin typeface="Archivo" pitchFamily="34" charset="0"/>
                <a:ea typeface="Archivo" pitchFamily="34" charset="-122"/>
                <a:cs typeface="Archivo" pitchFamily="34" charset="-120"/>
              </a:rPr>
              <a:t>Not for metrics. Keep it for Dashboard analytics or long-term records in a SQL database.</a:t>
            </a:r>
            <a:endParaRPr lang="en-US" sz="1100" dirty="0"/>
          </a:p>
        </p:txBody>
      </p:sp>
      <p:sp>
        <p:nvSpPr>
          <p:cNvPr id="9" name="Shape 6"/>
          <p:cNvSpPr/>
          <p:nvPr/>
        </p:nvSpPr>
        <p:spPr>
          <a:xfrm>
            <a:off x="4663440" y="1417320"/>
            <a:ext cx="4050792" cy="822960"/>
          </a:xfrm>
          <a:prstGeom prst="roundRect">
            <a:avLst>
              <a:gd name="adj" fmla="val 12222"/>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0" name="Text 7"/>
          <p:cNvSpPr txBox="1"/>
          <p:nvPr/>
        </p:nvSpPr>
        <p:spPr>
          <a:xfrm>
            <a:off x="4846320" y="1527048"/>
            <a:ext cx="3685032" cy="640080"/>
          </a:xfrm>
          <a:prstGeom prst="rect">
            <a:avLst/>
          </a:prstGeom>
          <a:noFill/>
          <a:ln/>
        </p:spPr>
        <p:txBody>
          <a:bodyPr wrap="square" lIns="0" tIns="0" rIns="0" bIns="0" rtlCol="0" anchor="t"/>
          <a:lstStyle/>
          <a:p>
            <a:pPr indent="0" marL="0">
              <a:buNone/>
            </a:pPr>
            <a:r>
              <a:rPr lang="en-US" sz="1100" b="1" dirty="0">
                <a:solidFill>
                  <a:srgbClr val="03031C"/>
                </a:solidFill>
                <a:latin typeface="Archivo" pitchFamily="34" charset="0"/>
                <a:ea typeface="Archivo" pitchFamily="34" charset="-122"/>
                <a:cs typeface="Archivo" pitchFamily="34" charset="-120"/>
              </a:rPr>
              <a:t>What does it cost in performance?</a:t>
            </a:r>
            <a:endParaRPr lang="en-US" sz="1100" dirty="0"/>
          </a:p>
          <a:p>
            <a:pPr indent="0" marL="0">
              <a:buNone/>
            </a:pPr>
            <a:r>
              <a:rPr lang="en-US" sz="950" dirty="0">
                <a:solidFill>
                  <a:srgbClr val="3D3A4D"/>
                </a:solidFill>
                <a:latin typeface="Archivo" pitchFamily="34" charset="0"/>
                <a:ea typeface="Archivo" pitchFamily="34" charset="-122"/>
                <a:cs typeface="Archivo" pitchFamily="34" charset="-120"/>
              </a:rPr>
              <a:t>4.6% CPU against 6.9% for Pump in Tyk’s benchmark, with P99 unchanged.</a:t>
            </a:r>
            <a:endParaRPr lang="en-US" sz="1100" dirty="0"/>
          </a:p>
        </p:txBody>
      </p:sp>
      <p:sp>
        <p:nvSpPr>
          <p:cNvPr id="11" name="Shape 8"/>
          <p:cNvSpPr/>
          <p:nvPr/>
        </p:nvSpPr>
        <p:spPr>
          <a:xfrm>
            <a:off x="429768" y="2404872"/>
            <a:ext cx="4050792" cy="822960"/>
          </a:xfrm>
          <a:prstGeom prst="roundRect">
            <a:avLst>
              <a:gd name="adj" fmla="val 12222"/>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2" name="Text 9"/>
          <p:cNvSpPr txBox="1"/>
          <p:nvPr/>
        </p:nvSpPr>
        <p:spPr>
          <a:xfrm>
            <a:off x="612648" y="2514600"/>
            <a:ext cx="3685032" cy="640080"/>
          </a:xfrm>
          <a:prstGeom prst="rect">
            <a:avLst/>
          </a:prstGeom>
          <a:noFill/>
          <a:ln/>
        </p:spPr>
        <p:txBody>
          <a:bodyPr wrap="square" lIns="0" tIns="0" rIns="0" bIns="0" rtlCol="0" anchor="t"/>
          <a:lstStyle/>
          <a:p>
            <a:pPr indent="0" marL="0">
              <a:buNone/>
            </a:pPr>
            <a:r>
              <a:rPr lang="en-US" sz="1100" b="1" dirty="0">
                <a:solidFill>
                  <a:srgbClr val="03031C"/>
                </a:solidFill>
                <a:latin typeface="Archivo" pitchFamily="34" charset="0"/>
                <a:ea typeface="Archivo" pitchFamily="34" charset="-122"/>
                <a:cs typeface="Archivo" pitchFamily="34" charset="-120"/>
              </a:rPr>
              <a:t>Which backends are supported?</a:t>
            </a:r>
            <a:endParaRPr lang="en-US" sz="1100" dirty="0"/>
          </a:p>
          <a:p>
            <a:pPr indent="0" marL="0">
              <a:buNone/>
            </a:pPr>
            <a:r>
              <a:rPr lang="en-US" sz="950" dirty="0">
                <a:solidFill>
                  <a:srgbClr val="3D3A4D"/>
                </a:solidFill>
                <a:latin typeface="Archivo" pitchFamily="34" charset="0"/>
                <a:ea typeface="Archivo" pitchFamily="34" charset="-122"/>
                <a:cs typeface="Archivo" pitchFamily="34" charset="-120"/>
              </a:rPr>
              <a:t>Anything that speaks OTLP: Prometheus, Grafana Cloud, Elastic, Datadog, Dynatrace and more.</a:t>
            </a:r>
            <a:endParaRPr lang="en-US" sz="1100" dirty="0"/>
          </a:p>
        </p:txBody>
      </p:sp>
      <p:sp>
        <p:nvSpPr>
          <p:cNvPr id="13" name="Shape 10"/>
          <p:cNvSpPr/>
          <p:nvPr/>
        </p:nvSpPr>
        <p:spPr>
          <a:xfrm>
            <a:off x="4663440" y="2404872"/>
            <a:ext cx="4050792" cy="822960"/>
          </a:xfrm>
          <a:prstGeom prst="roundRect">
            <a:avLst>
              <a:gd name="adj" fmla="val 12222"/>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4" name="Text 11"/>
          <p:cNvSpPr txBox="1"/>
          <p:nvPr/>
        </p:nvSpPr>
        <p:spPr>
          <a:xfrm>
            <a:off x="4846320" y="2514600"/>
            <a:ext cx="3685032" cy="640080"/>
          </a:xfrm>
          <a:prstGeom prst="rect">
            <a:avLst/>
          </a:prstGeom>
          <a:noFill/>
          <a:ln/>
        </p:spPr>
        <p:txBody>
          <a:bodyPr wrap="square" lIns="0" tIns="0" rIns="0" bIns="0" rtlCol="0" anchor="t"/>
          <a:lstStyle/>
          <a:p>
            <a:pPr indent="0" marL="0">
              <a:buNone/>
            </a:pPr>
            <a:r>
              <a:rPr lang="en-US" sz="1100" b="1" dirty="0">
                <a:solidFill>
                  <a:srgbClr val="03031C"/>
                </a:solidFill>
                <a:latin typeface="Archivo" pitchFamily="34" charset="0"/>
                <a:ea typeface="Archivo" pitchFamily="34" charset="-122"/>
                <a:cs typeface="Archivo" pitchFamily="34" charset="-120"/>
              </a:rPr>
              <a:t>Are there breaking changes?</a:t>
            </a:r>
            <a:endParaRPr lang="en-US" sz="1100" dirty="0"/>
          </a:p>
          <a:p>
            <a:pPr indent="0" marL="0">
              <a:buNone/>
            </a:pPr>
            <a:r>
              <a:rPr lang="en-US" sz="950" dirty="0">
                <a:solidFill>
                  <a:srgbClr val="3D3A4D"/>
                </a:solidFill>
                <a:latin typeface="Archivo" pitchFamily="34" charset="0"/>
                <a:ea typeface="Archivo" pitchFamily="34" charset="-122"/>
                <a:cs typeface="Archivo" pitchFamily="34" charset="-120"/>
              </a:rPr>
              <a:t>No. Everything is opt-in and existing configuration keeps working.</a:t>
            </a:r>
            <a:endParaRPr lang="en-US" sz="1100" dirty="0"/>
          </a:p>
        </p:txBody>
      </p:sp>
      <p:sp>
        <p:nvSpPr>
          <p:cNvPr id="15" name="Shape 12"/>
          <p:cNvSpPr/>
          <p:nvPr/>
        </p:nvSpPr>
        <p:spPr>
          <a:xfrm>
            <a:off x="429768" y="3392424"/>
            <a:ext cx="4050792" cy="822960"/>
          </a:xfrm>
          <a:prstGeom prst="roundRect">
            <a:avLst>
              <a:gd name="adj" fmla="val 12222"/>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6" name="Text 13"/>
          <p:cNvSpPr txBox="1"/>
          <p:nvPr/>
        </p:nvSpPr>
        <p:spPr>
          <a:xfrm>
            <a:off x="612648" y="3502152"/>
            <a:ext cx="3685032" cy="640080"/>
          </a:xfrm>
          <a:prstGeom prst="rect">
            <a:avLst/>
          </a:prstGeom>
          <a:noFill/>
          <a:ln/>
        </p:spPr>
        <p:txBody>
          <a:bodyPr wrap="square" lIns="0" tIns="0" rIns="0" bIns="0" rtlCol="0" anchor="t"/>
          <a:lstStyle/>
          <a:p>
            <a:pPr indent="0" marL="0">
              <a:buNone/>
            </a:pPr>
            <a:r>
              <a:rPr lang="en-US" sz="1100" b="1" dirty="0">
                <a:solidFill>
                  <a:srgbClr val="03031C"/>
                </a:solidFill>
                <a:latin typeface="Archivo" pitchFamily="34" charset="0"/>
                <a:ea typeface="Archivo" pitchFamily="34" charset="-122"/>
                <a:cs typeface="Archivo" pitchFamily="34" charset="-120"/>
              </a:rPr>
              <a:t>How does it work with MDCB?</a:t>
            </a:r>
            <a:endParaRPr lang="en-US" sz="1100" dirty="0"/>
          </a:p>
          <a:p>
            <a:pPr indent="0" marL="0">
              <a:buNone/>
            </a:pPr>
            <a:r>
              <a:rPr lang="en-US" sz="950" dirty="0">
                <a:solidFill>
                  <a:srgbClr val="3D3A4D"/>
                </a:solidFill>
                <a:latin typeface="Archivo" pitchFamily="34" charset="0"/>
                <a:ea typeface="Archivo" pitchFamily="34" charset="-122"/>
                <a:cs typeface="Archivo" pitchFamily="34" charset="-120"/>
              </a:rPr>
              <a:t>Data-plane gateways emit metrics and traces, next to your traffic.</a:t>
            </a:r>
            <a:endParaRPr lang="en-US" sz="1100" dirty="0"/>
          </a:p>
        </p:txBody>
      </p:sp>
      <p:sp>
        <p:nvSpPr>
          <p:cNvPr id="17" name="Shape 14"/>
          <p:cNvSpPr/>
          <p:nvPr/>
        </p:nvSpPr>
        <p:spPr>
          <a:xfrm>
            <a:off x="4663440" y="3392424"/>
            <a:ext cx="4050792" cy="822960"/>
          </a:xfrm>
          <a:prstGeom prst="roundRect">
            <a:avLst>
              <a:gd name="adj" fmla="val 12222"/>
            </a:avLst>
          </a:prstGeom>
          <a:solidFill>
            <a:srgbClr val="FFFFFF"/>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8" name="Text 15"/>
          <p:cNvSpPr txBox="1"/>
          <p:nvPr/>
        </p:nvSpPr>
        <p:spPr>
          <a:xfrm>
            <a:off x="4846320" y="3502152"/>
            <a:ext cx="3685032" cy="640080"/>
          </a:xfrm>
          <a:prstGeom prst="rect">
            <a:avLst/>
          </a:prstGeom>
          <a:noFill/>
          <a:ln/>
        </p:spPr>
        <p:txBody>
          <a:bodyPr wrap="square" lIns="0" tIns="0" rIns="0" bIns="0" rtlCol="0" anchor="t"/>
          <a:lstStyle/>
          <a:p>
            <a:pPr indent="0" marL="0">
              <a:buNone/>
            </a:pPr>
            <a:r>
              <a:rPr lang="en-US" sz="1100" b="1" dirty="0">
                <a:solidFill>
                  <a:srgbClr val="03031C"/>
                </a:solidFill>
                <a:latin typeface="Archivo" pitchFamily="34" charset="0"/>
                <a:ea typeface="Archivo" pitchFamily="34" charset="-122"/>
                <a:cs typeface="Archivo" pitchFamily="34" charset="-120"/>
              </a:rPr>
              <a:t>Can we add business dimensions?</a:t>
            </a:r>
            <a:endParaRPr lang="en-US" sz="1100" dirty="0"/>
          </a:p>
          <a:p>
            <a:pPr indent="0" marL="0">
              <a:buNone/>
            </a:pPr>
            <a:r>
              <a:rPr lang="en-US" sz="950" dirty="0">
                <a:solidFill>
                  <a:srgbClr val="3D3A4D"/>
                </a:solidFill>
                <a:latin typeface="Archivo" pitchFamily="34" charset="0"/>
                <a:ea typeface="Archivo" pitchFamily="34" charset="-122"/>
                <a:cs typeface="Archivo" pitchFamily="34" charset="-120"/>
              </a:rPr>
              <a:t>Yes: any header, context variable or API config data, or a value set by a plugin.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7FC"/>
        </a:solidFill>
      </p:bgPr>
    </p:bg>
    <p:spTree>
      <p:nvGrpSpPr>
        <p:cNvPr id="1" name=""/>
        <p:cNvGrpSpPr/>
        <p:nvPr/>
      </p:nvGrpSpPr>
      <p:grpSpPr>
        <a:xfrm>
          <a:off x="0" y="0"/>
          <a:ext cx="0" cy="0"/>
          <a:chOff x="0" y="0"/>
          <a:chExt cx="0" cy="0"/>
        </a:xfrm>
      </p:grpSpPr>
      <p:pic>
        <p:nvPicPr>
          <p:cNvPr id="2" name="Image 0" descr="Tyk">    </p:cNvPr>
          <p:cNvPicPr>
            <a:picLocks noChangeAspect="1"/>
          </p:cNvPicPr>
          <p:nvPr/>
        </p:nvPicPr>
        <p:blipFill>
          <a:blip r:embed="rId1"/>
          <a:stretch>
            <a:fillRect/>
          </a:stretch>
        </p:blipFill>
        <p:spPr>
          <a:xfrm>
            <a:off x="429768" y="4805172"/>
            <a:ext cx="310896" cy="160934"/>
          </a:xfrm>
          <a:prstGeom prst="rect">
            <a:avLst/>
          </a:prstGeom>
        </p:spPr>
      </p:pic>
      <p:sp>
        <p:nvSpPr>
          <p:cNvPr id="3" name="Text 0"/>
          <p:cNvSpPr txBox="1"/>
          <p:nvPr/>
        </p:nvSpPr>
        <p:spPr>
          <a:xfrm>
            <a:off x="5971032" y="4805172"/>
            <a:ext cx="2743200" cy="164592"/>
          </a:xfrm>
          <a:prstGeom prst="rect">
            <a:avLst/>
          </a:prstGeom>
          <a:noFill/>
          <a:ln/>
        </p:spPr>
        <p:txBody>
          <a:bodyPr wrap="square" lIns="0" tIns="0" rIns="0" bIns="0" rtlCol="0" anchor="ctr"/>
          <a:lstStyle/>
          <a:p>
            <a:pPr algn="r" indent="0" marL="0">
              <a:buNone/>
            </a:pPr>
            <a:r>
              <a:rPr lang="en-US" sz="700" dirty="0">
                <a:solidFill>
                  <a:srgbClr val="6B6879"/>
                </a:solidFill>
                <a:latin typeface="Space Mono" pitchFamily="34" charset="0"/>
                <a:ea typeface="Space Mono" pitchFamily="34" charset="-122"/>
                <a:cs typeface="Space Mono" pitchFamily="34" charset="-120"/>
              </a:rPr>
              <a:t>Next steps  ·  21</a:t>
            </a:r>
            <a:endParaRPr lang="en-US" sz="700" dirty="0"/>
          </a:p>
        </p:txBody>
      </p:sp>
      <p:sp>
        <p:nvSpPr>
          <p:cNvPr id="4" name="Text 1"/>
          <p:cNvSpPr txBox="1"/>
          <p:nvPr/>
        </p:nvSpPr>
        <p:spPr>
          <a:xfrm>
            <a:off x="429768" y="420624"/>
            <a:ext cx="953262" cy="201168"/>
          </a:xfrm>
          <a:prstGeom prst="roundRect">
            <a:avLst>
              <a:gd name="adj" fmla="val 50000"/>
            </a:avLst>
          </a:prstGeom>
          <a:solidFill>
            <a:srgbClr val="BDF3DC"/>
          </a:solidFill>
          <a:ln w="9525">
            <a:solidFill>
              <a:srgbClr val="03031C"/>
            </a:solidFill>
          </a:ln>
        </p:spPr>
        <p:txBody>
          <a:bodyPr wrap="square" lIns="0" tIns="0" rIns="0" bIns="0" rtlCol="0" anchor="ctr"/>
          <a:lstStyle/>
          <a:p>
            <a:pPr algn="ctr" indent="0" marL="0">
              <a:buNone/>
            </a:pPr>
            <a:r>
              <a:rPr lang="en-US" sz="750" spc="120" kern="0" dirty="0">
                <a:solidFill>
                  <a:srgbClr val="03031C"/>
                </a:solidFill>
                <a:latin typeface="Space Mono" pitchFamily="34" charset="0"/>
                <a:ea typeface="Space Mono" pitchFamily="34" charset="-122"/>
                <a:cs typeface="Space Mono" pitchFamily="34" charset="-120"/>
              </a:rPr>
              <a:t>NEXT STEPS</a:t>
            </a:r>
            <a:endParaRPr lang="en-US" sz="750" dirty="0"/>
          </a:p>
        </p:txBody>
      </p:sp>
      <p:sp>
        <p:nvSpPr>
          <p:cNvPr id="5" name="Shape 2"/>
          <p:cNvSpPr/>
          <p:nvPr/>
        </p:nvSpPr>
        <p:spPr>
          <a:xfrm>
            <a:off x="1381760" y="930402"/>
            <a:ext cx="2325433" cy="123444"/>
          </a:xfrm>
          <a:prstGeom prst="rect">
            <a:avLst/>
          </a:prstGeom>
          <a:solidFill>
            <a:srgbClr val="BDF3DC"/>
          </a:solidFill>
          <a:ln/>
        </p:spPr>
      </p:sp>
      <p:sp>
        <p:nvSpPr>
          <p:cNvPr id="6" name="Text 3"/>
          <p:cNvSpPr txBox="1"/>
          <p:nvPr/>
        </p:nvSpPr>
        <p:spPr>
          <a:xfrm>
            <a:off x="429768" y="731520"/>
            <a:ext cx="8284464" cy="434340"/>
          </a:xfrm>
          <a:prstGeom prst="rect">
            <a:avLst/>
          </a:prstGeom>
          <a:noFill/>
          <a:ln/>
        </p:spPr>
        <p:txBody>
          <a:bodyPr wrap="square" lIns="0" tIns="0" rIns="0" bIns="0" rtlCol="0" anchor="t"/>
          <a:lstStyle/>
          <a:p>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What </a:t>
            </a:r>
            <a:pPr indent="0" marL="0">
              <a:lnSpc>
                <a:spcPts val="2700"/>
              </a:lnSpc>
              <a:buNone/>
            </a:pPr>
            <a:r>
              <a:rPr lang="en-US" sz="2500" b="1" spc="-40" kern="0" dirty="0">
                <a:solidFill>
                  <a:srgbClr val="03031C"/>
                </a:solidFill>
                <a:latin typeface="Archivo" pitchFamily="34" charset="0"/>
                <a:ea typeface="Archivo" pitchFamily="34" charset="-122"/>
                <a:cs typeface="Archivo" pitchFamily="34" charset="-120"/>
              </a:rPr>
              <a:t>happens next.</a:t>
            </a:r>
            <a:endParaRPr lang="en-US" sz="2500" dirty="0"/>
          </a:p>
        </p:txBody>
      </p:sp>
      <p:sp>
        <p:nvSpPr>
          <p:cNvPr id="7" name="Text 4"/>
          <p:cNvSpPr txBox="1"/>
          <p:nvPr/>
        </p:nvSpPr>
        <p:spPr>
          <a:xfrm>
            <a:off x="429768" y="1298448"/>
            <a:ext cx="6949440" cy="384048"/>
          </a:xfrm>
          <a:prstGeom prst="rect">
            <a:avLst/>
          </a:prstGeom>
          <a:noFill/>
          <a:ln/>
        </p:spPr>
        <p:txBody>
          <a:bodyPr wrap="square" lIns="0" tIns="0" rIns="0" bIns="0" rtlCol="0" anchor="t"/>
          <a:lstStyle/>
          <a:p>
            <a:pPr indent="0" marL="0">
              <a:buNone/>
            </a:pPr>
            <a:r>
              <a:rPr lang="en-US" sz="1150" dirty="0">
                <a:solidFill>
                  <a:srgbClr val="6B6879"/>
                </a:solidFill>
                <a:latin typeface="Archivo" pitchFamily="34" charset="0"/>
                <a:ea typeface="Archivo" pitchFamily="34" charset="-122"/>
                <a:cs typeface="Archivo" pitchFamily="34" charset="-120"/>
              </a:rPr>
              <a:t>A small pilot on your APIs, reviewed together after one week.</a:t>
            </a:r>
            <a:endParaRPr lang="en-US" sz="1150" dirty="0"/>
          </a:p>
        </p:txBody>
      </p:sp>
      <p:sp>
        <p:nvSpPr>
          <p:cNvPr id="8" name="Shape 5"/>
          <p:cNvSpPr/>
          <p:nvPr/>
        </p:nvSpPr>
        <p:spPr>
          <a:xfrm>
            <a:off x="429768" y="1828800"/>
            <a:ext cx="1947672" cy="2487168"/>
          </a:xfrm>
          <a:prstGeom prst="roundRect">
            <a:avLst>
              <a:gd name="adj" fmla="val 5164"/>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9" name="Text 6"/>
          <p:cNvSpPr txBox="1"/>
          <p:nvPr/>
        </p:nvSpPr>
        <p:spPr>
          <a:xfrm>
            <a:off x="594360" y="1993392"/>
            <a:ext cx="914400" cy="457200"/>
          </a:xfrm>
          <a:prstGeom prst="rect">
            <a:avLst/>
          </a:prstGeom>
          <a:noFill/>
          <a:ln/>
        </p:spPr>
        <p:txBody>
          <a:bodyPr wrap="square" lIns="0" tIns="0" rIns="0" bIns="0" rtlCol="0" anchor="t"/>
          <a:lstStyle/>
          <a:p>
            <a:pPr indent="0" marL="0">
              <a:buNone/>
            </a:pPr>
            <a:r>
              <a:rPr lang="en-US" sz="2400" b="1" dirty="0">
                <a:solidFill>
                  <a:srgbClr val="03031C"/>
                </a:solidFill>
                <a:latin typeface="Archivo" pitchFamily="34" charset="0"/>
                <a:ea typeface="Archivo" pitchFamily="34" charset="-122"/>
                <a:cs typeface="Archivo" pitchFamily="34" charset="-120"/>
              </a:rPr>
              <a:t>01</a:t>
            </a:r>
            <a:endParaRPr lang="en-US" sz="2400" dirty="0"/>
          </a:p>
        </p:txBody>
      </p:sp>
      <p:sp>
        <p:nvSpPr>
          <p:cNvPr id="10" name="Text 7"/>
          <p:cNvSpPr txBox="1"/>
          <p:nvPr/>
        </p:nvSpPr>
        <p:spPr>
          <a:xfrm>
            <a:off x="594360" y="2560320"/>
            <a:ext cx="1618488" cy="457200"/>
          </a:xfrm>
          <a:prstGeom prst="rect">
            <a:avLst/>
          </a:prstGeom>
          <a:noFill/>
          <a:ln/>
        </p:spPr>
        <p:txBody>
          <a:bodyPr wrap="square" lIns="0" tIns="0" rIns="0" bIns="0" rtlCol="0" anchor="t"/>
          <a:lstStyle/>
          <a:p>
            <a:pPr indent="0" marL="0">
              <a:buNone/>
            </a:pPr>
            <a:r>
              <a:rPr lang="en-US" sz="1200" b="1" dirty="0">
                <a:solidFill>
                  <a:srgbClr val="03031C"/>
                </a:solidFill>
                <a:latin typeface="Archivo" pitchFamily="34" charset="0"/>
                <a:ea typeface="Archivo" pitchFamily="34" charset="-122"/>
                <a:cs typeface="Archivo" pitchFamily="34" charset="-120"/>
              </a:rPr>
              <a:t>Choose the scope</a:t>
            </a:r>
            <a:endParaRPr lang="en-US" sz="1200" dirty="0"/>
          </a:p>
        </p:txBody>
      </p:sp>
      <p:sp>
        <p:nvSpPr>
          <p:cNvPr id="11" name="Text 8"/>
          <p:cNvSpPr txBox="1"/>
          <p:nvPr/>
        </p:nvSpPr>
        <p:spPr>
          <a:xfrm>
            <a:off x="594360" y="3017520"/>
            <a:ext cx="1618488" cy="822960"/>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A non-production environment and 2–3 APIs.</a:t>
            </a:r>
            <a:endParaRPr lang="en-US" sz="950" dirty="0"/>
          </a:p>
        </p:txBody>
      </p:sp>
      <p:sp>
        <p:nvSpPr>
          <p:cNvPr id="12" name="Text 9"/>
          <p:cNvSpPr txBox="1"/>
          <p:nvPr/>
        </p:nvSpPr>
        <p:spPr>
          <a:xfrm>
            <a:off x="594360" y="3931920"/>
            <a:ext cx="1618488" cy="201168"/>
          </a:xfrm>
          <a:prstGeom prst="rect">
            <a:avLst/>
          </a:prstGeom>
          <a:noFill/>
          <a:ln/>
        </p:spPr>
        <p:txBody>
          <a:bodyPr wrap="square" lIns="0" tIns="0" rIns="0" bIns="0" rtlCol="0" anchor="t"/>
          <a:lstStyle/>
          <a:p>
            <a:pPr indent="0" marL="0">
              <a:buNone/>
            </a:pPr>
            <a:r>
              <a:rPr lang="en-US" sz="800" dirty="0">
                <a:solidFill>
                  <a:srgbClr val="8438FA"/>
                </a:solidFill>
                <a:latin typeface="Space Mono" pitchFamily="34" charset="0"/>
                <a:ea typeface="Space Mono" pitchFamily="34" charset="-122"/>
                <a:cs typeface="Space Mono" pitchFamily="34" charset="-120"/>
              </a:rPr>
              <a:t>Week 1</a:t>
            </a:r>
            <a:endParaRPr lang="en-US" sz="800" dirty="0"/>
          </a:p>
        </p:txBody>
      </p:sp>
      <p:sp>
        <p:nvSpPr>
          <p:cNvPr id="13" name="Shape 10"/>
          <p:cNvSpPr/>
          <p:nvPr/>
        </p:nvSpPr>
        <p:spPr>
          <a:xfrm>
            <a:off x="2542032" y="1828800"/>
            <a:ext cx="1947672" cy="2487168"/>
          </a:xfrm>
          <a:prstGeom prst="roundRect">
            <a:avLst>
              <a:gd name="adj" fmla="val 5164"/>
            </a:avLst>
          </a:prstGeom>
          <a:solidFill>
            <a:srgbClr val="BDF3DC"/>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4" name="Text 11"/>
          <p:cNvSpPr txBox="1"/>
          <p:nvPr/>
        </p:nvSpPr>
        <p:spPr>
          <a:xfrm>
            <a:off x="2706624" y="1993392"/>
            <a:ext cx="914400" cy="457200"/>
          </a:xfrm>
          <a:prstGeom prst="rect">
            <a:avLst/>
          </a:prstGeom>
          <a:noFill/>
          <a:ln/>
        </p:spPr>
        <p:txBody>
          <a:bodyPr wrap="square" lIns="0" tIns="0" rIns="0" bIns="0" rtlCol="0" anchor="t"/>
          <a:lstStyle/>
          <a:p>
            <a:pPr indent="0" marL="0">
              <a:buNone/>
            </a:pPr>
            <a:r>
              <a:rPr lang="en-US" sz="2400" b="1" dirty="0">
                <a:solidFill>
                  <a:srgbClr val="03031C"/>
                </a:solidFill>
                <a:latin typeface="Archivo" pitchFamily="34" charset="0"/>
                <a:ea typeface="Archivo" pitchFamily="34" charset="-122"/>
                <a:cs typeface="Archivo" pitchFamily="34" charset="-120"/>
              </a:rPr>
              <a:t>02</a:t>
            </a:r>
            <a:endParaRPr lang="en-US" sz="2400" dirty="0"/>
          </a:p>
        </p:txBody>
      </p:sp>
      <p:sp>
        <p:nvSpPr>
          <p:cNvPr id="15" name="Text 12"/>
          <p:cNvSpPr txBox="1"/>
          <p:nvPr/>
        </p:nvSpPr>
        <p:spPr>
          <a:xfrm>
            <a:off x="2706624" y="2560320"/>
            <a:ext cx="1618488" cy="457200"/>
          </a:xfrm>
          <a:prstGeom prst="rect">
            <a:avLst/>
          </a:prstGeom>
          <a:noFill/>
          <a:ln/>
        </p:spPr>
        <p:txBody>
          <a:bodyPr wrap="square" lIns="0" tIns="0" rIns="0" bIns="0" rtlCol="0" anchor="t"/>
          <a:lstStyle/>
          <a:p>
            <a:pPr indent="0" marL="0">
              <a:buNone/>
            </a:pPr>
            <a:r>
              <a:rPr lang="en-US" sz="1200" b="1" dirty="0">
                <a:solidFill>
                  <a:srgbClr val="03031C"/>
                </a:solidFill>
                <a:latin typeface="Archivo" pitchFamily="34" charset="0"/>
                <a:ea typeface="Archivo" pitchFamily="34" charset="-122"/>
                <a:cs typeface="Archivo" pitchFamily="34" charset="-120"/>
              </a:rPr>
              <a:t>Name the consumers</a:t>
            </a:r>
            <a:endParaRPr lang="en-US" sz="1200" dirty="0"/>
          </a:p>
        </p:txBody>
      </p:sp>
      <p:sp>
        <p:nvSpPr>
          <p:cNvPr id="16" name="Text 13"/>
          <p:cNvSpPr txBox="1"/>
          <p:nvPr/>
        </p:nvSpPr>
        <p:spPr>
          <a:xfrm>
            <a:off x="2706624" y="3017520"/>
            <a:ext cx="1618488" cy="822960"/>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Agree an alias for every consumer app’s API key.</a:t>
            </a:r>
            <a:endParaRPr lang="en-US" sz="950" dirty="0"/>
          </a:p>
        </p:txBody>
      </p:sp>
      <p:sp>
        <p:nvSpPr>
          <p:cNvPr id="17" name="Text 14"/>
          <p:cNvSpPr txBox="1"/>
          <p:nvPr/>
        </p:nvSpPr>
        <p:spPr>
          <a:xfrm>
            <a:off x="2706624" y="3931920"/>
            <a:ext cx="1618488" cy="201168"/>
          </a:xfrm>
          <a:prstGeom prst="rect">
            <a:avLst/>
          </a:prstGeom>
          <a:noFill/>
          <a:ln/>
        </p:spPr>
        <p:txBody>
          <a:bodyPr wrap="square" lIns="0" tIns="0" rIns="0" bIns="0" rtlCol="0" anchor="t"/>
          <a:lstStyle/>
          <a:p>
            <a:pPr indent="0" marL="0">
              <a:buNone/>
            </a:pPr>
            <a:r>
              <a:rPr lang="en-US" sz="800" dirty="0">
                <a:solidFill>
                  <a:srgbClr val="8438FA"/>
                </a:solidFill>
                <a:latin typeface="Space Mono" pitchFamily="34" charset="0"/>
                <a:ea typeface="Space Mono" pitchFamily="34" charset="-122"/>
                <a:cs typeface="Space Mono" pitchFamily="34" charset="-120"/>
              </a:rPr>
              <a:t>Week 1</a:t>
            </a:r>
            <a:endParaRPr lang="en-US" sz="800" dirty="0"/>
          </a:p>
        </p:txBody>
      </p:sp>
      <p:sp>
        <p:nvSpPr>
          <p:cNvPr id="18" name="Shape 15"/>
          <p:cNvSpPr/>
          <p:nvPr/>
        </p:nvSpPr>
        <p:spPr>
          <a:xfrm>
            <a:off x="4654296" y="1828800"/>
            <a:ext cx="1947672" cy="2487168"/>
          </a:xfrm>
          <a:prstGeom prst="roundRect">
            <a:avLst>
              <a:gd name="adj" fmla="val 5164"/>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19" name="Text 16"/>
          <p:cNvSpPr txBox="1"/>
          <p:nvPr/>
        </p:nvSpPr>
        <p:spPr>
          <a:xfrm>
            <a:off x="4818888" y="1993392"/>
            <a:ext cx="914400" cy="457200"/>
          </a:xfrm>
          <a:prstGeom prst="rect">
            <a:avLst/>
          </a:prstGeom>
          <a:noFill/>
          <a:ln/>
        </p:spPr>
        <p:txBody>
          <a:bodyPr wrap="square" lIns="0" tIns="0" rIns="0" bIns="0" rtlCol="0" anchor="t"/>
          <a:lstStyle/>
          <a:p>
            <a:pPr indent="0" marL="0">
              <a:buNone/>
            </a:pPr>
            <a:r>
              <a:rPr lang="en-US" sz="2400" b="1" dirty="0">
                <a:solidFill>
                  <a:srgbClr val="03031C"/>
                </a:solidFill>
                <a:latin typeface="Archivo" pitchFamily="34" charset="0"/>
                <a:ea typeface="Archivo" pitchFamily="34" charset="-122"/>
                <a:cs typeface="Archivo" pitchFamily="34" charset="-120"/>
              </a:rPr>
              <a:t>03</a:t>
            </a:r>
            <a:endParaRPr lang="en-US" sz="2400" dirty="0"/>
          </a:p>
        </p:txBody>
      </p:sp>
      <p:sp>
        <p:nvSpPr>
          <p:cNvPr id="20" name="Text 17"/>
          <p:cNvSpPr txBox="1"/>
          <p:nvPr/>
        </p:nvSpPr>
        <p:spPr>
          <a:xfrm>
            <a:off x="4818888" y="2560320"/>
            <a:ext cx="1618488" cy="457200"/>
          </a:xfrm>
          <a:prstGeom prst="rect">
            <a:avLst/>
          </a:prstGeom>
          <a:noFill/>
          <a:ln/>
        </p:spPr>
        <p:txBody>
          <a:bodyPr wrap="square" lIns="0" tIns="0" rIns="0" bIns="0" rtlCol="0" anchor="t"/>
          <a:lstStyle/>
          <a:p>
            <a:pPr indent="0" marL="0">
              <a:buNone/>
            </a:pPr>
            <a:r>
              <a:rPr lang="en-US" sz="1200" b="1" dirty="0">
                <a:solidFill>
                  <a:srgbClr val="03031C"/>
                </a:solidFill>
                <a:latin typeface="Archivo" pitchFamily="34" charset="0"/>
                <a:ea typeface="Archivo" pitchFamily="34" charset="-122"/>
                <a:cs typeface="Archivo" pitchFamily="34" charset="-120"/>
              </a:rPr>
              <a:t>Pick the dimensions</a:t>
            </a:r>
            <a:endParaRPr lang="en-US" sz="1200" dirty="0"/>
          </a:p>
        </p:txBody>
      </p:sp>
      <p:sp>
        <p:nvSpPr>
          <p:cNvPr id="21" name="Text 18"/>
          <p:cNvSpPr txBox="1"/>
          <p:nvPr/>
        </p:nvSpPr>
        <p:spPr>
          <a:xfrm>
            <a:off x="4818888" y="3017520"/>
            <a:ext cx="1618488" cy="822960"/>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List the endpoints and query parameters to track.</a:t>
            </a:r>
            <a:endParaRPr lang="en-US" sz="950" dirty="0"/>
          </a:p>
        </p:txBody>
      </p:sp>
      <p:sp>
        <p:nvSpPr>
          <p:cNvPr id="22" name="Text 19"/>
          <p:cNvSpPr txBox="1"/>
          <p:nvPr/>
        </p:nvSpPr>
        <p:spPr>
          <a:xfrm>
            <a:off x="4818888" y="3931920"/>
            <a:ext cx="1618488" cy="201168"/>
          </a:xfrm>
          <a:prstGeom prst="rect">
            <a:avLst/>
          </a:prstGeom>
          <a:noFill/>
          <a:ln/>
        </p:spPr>
        <p:txBody>
          <a:bodyPr wrap="square" lIns="0" tIns="0" rIns="0" bIns="0" rtlCol="0" anchor="t"/>
          <a:lstStyle/>
          <a:p>
            <a:pPr indent="0" marL="0">
              <a:buNone/>
            </a:pPr>
            <a:r>
              <a:rPr lang="en-US" sz="800" dirty="0">
                <a:solidFill>
                  <a:srgbClr val="8438FA"/>
                </a:solidFill>
                <a:latin typeface="Space Mono" pitchFamily="34" charset="0"/>
                <a:ea typeface="Space Mono" pitchFamily="34" charset="-122"/>
                <a:cs typeface="Space Mono" pitchFamily="34" charset="-120"/>
              </a:rPr>
              <a:t>Week 1</a:t>
            </a:r>
            <a:endParaRPr lang="en-US" sz="800" dirty="0"/>
          </a:p>
        </p:txBody>
      </p:sp>
      <p:sp>
        <p:nvSpPr>
          <p:cNvPr id="23" name="Shape 20"/>
          <p:cNvSpPr/>
          <p:nvPr/>
        </p:nvSpPr>
        <p:spPr>
          <a:xfrm>
            <a:off x="6766560" y="1828800"/>
            <a:ext cx="1947672" cy="2487168"/>
          </a:xfrm>
          <a:prstGeom prst="roundRect">
            <a:avLst>
              <a:gd name="adj" fmla="val 5164"/>
            </a:avLst>
          </a:prstGeom>
          <a:solidFill>
            <a:srgbClr val="E6DCFB"/>
          </a:solidFill>
          <a:ln w="13970">
            <a:solidFill>
              <a:srgbClr val="03031C"/>
            </a:solidFill>
            <a:prstDash val="solid"/>
          </a:ln>
          <a:effectLst>
            <a:outerShdw sx="100000" sy="100000" kx="0" ky="0" algn="bl" rotWithShape="0" blurRad="101600" dist="43180" dir="2700000">
              <a:srgbClr val="1E1A34">
                <a:alpha val="100000"/>
              </a:srgbClr>
            </a:outerShdw>
          </a:effectLst>
        </p:spPr>
      </p:sp>
      <p:sp>
        <p:nvSpPr>
          <p:cNvPr id="24" name="Text 21"/>
          <p:cNvSpPr txBox="1"/>
          <p:nvPr/>
        </p:nvSpPr>
        <p:spPr>
          <a:xfrm>
            <a:off x="6931152" y="1993392"/>
            <a:ext cx="914400" cy="457200"/>
          </a:xfrm>
          <a:prstGeom prst="rect">
            <a:avLst/>
          </a:prstGeom>
          <a:noFill/>
          <a:ln/>
        </p:spPr>
        <p:txBody>
          <a:bodyPr wrap="square" lIns="0" tIns="0" rIns="0" bIns="0" rtlCol="0" anchor="t"/>
          <a:lstStyle/>
          <a:p>
            <a:pPr indent="0" marL="0">
              <a:buNone/>
            </a:pPr>
            <a:r>
              <a:rPr lang="en-US" sz="2400" b="1" dirty="0">
                <a:solidFill>
                  <a:srgbClr val="03031C"/>
                </a:solidFill>
                <a:latin typeface="Archivo" pitchFamily="34" charset="0"/>
                <a:ea typeface="Archivo" pitchFamily="34" charset="-122"/>
                <a:cs typeface="Archivo" pitchFamily="34" charset="-120"/>
              </a:rPr>
              <a:t>04</a:t>
            </a:r>
            <a:endParaRPr lang="en-US" sz="2400" dirty="0"/>
          </a:p>
        </p:txBody>
      </p:sp>
      <p:sp>
        <p:nvSpPr>
          <p:cNvPr id="25" name="Text 22"/>
          <p:cNvSpPr txBox="1"/>
          <p:nvPr/>
        </p:nvSpPr>
        <p:spPr>
          <a:xfrm>
            <a:off x="6931152" y="2560320"/>
            <a:ext cx="1618488" cy="457200"/>
          </a:xfrm>
          <a:prstGeom prst="rect">
            <a:avLst/>
          </a:prstGeom>
          <a:noFill/>
          <a:ln/>
        </p:spPr>
        <p:txBody>
          <a:bodyPr wrap="square" lIns="0" tIns="0" rIns="0" bIns="0" rtlCol="0" anchor="t"/>
          <a:lstStyle/>
          <a:p>
            <a:pPr indent="0" marL="0">
              <a:buNone/>
            </a:pPr>
            <a:r>
              <a:rPr lang="en-US" sz="1200" b="1" dirty="0">
                <a:solidFill>
                  <a:srgbClr val="03031C"/>
                </a:solidFill>
                <a:latin typeface="Archivo" pitchFamily="34" charset="0"/>
                <a:ea typeface="Archivo" pitchFamily="34" charset="-122"/>
                <a:cs typeface="Archivo" pitchFamily="34" charset="-120"/>
              </a:rPr>
              <a:t>Review together</a:t>
            </a:r>
            <a:endParaRPr lang="en-US" sz="1200" dirty="0"/>
          </a:p>
        </p:txBody>
      </p:sp>
      <p:sp>
        <p:nvSpPr>
          <p:cNvPr id="26" name="Text 23"/>
          <p:cNvSpPr txBox="1"/>
          <p:nvPr/>
        </p:nvSpPr>
        <p:spPr>
          <a:xfrm>
            <a:off x="6931152" y="3017520"/>
            <a:ext cx="1618488" cy="822960"/>
          </a:xfrm>
          <a:prstGeom prst="rect">
            <a:avLst/>
          </a:prstGeom>
          <a:noFill/>
          <a:ln/>
        </p:spPr>
        <p:txBody>
          <a:bodyPr wrap="square" lIns="0" tIns="0" rIns="0" bIns="0" rtlCol="0" anchor="t"/>
          <a:lstStyle/>
          <a:p>
            <a:pPr indent="0" marL="0">
              <a:buNone/>
            </a:pPr>
            <a:r>
              <a:rPr lang="en-US" sz="950" dirty="0">
                <a:solidFill>
                  <a:srgbClr val="3D3A4D"/>
                </a:solidFill>
                <a:latin typeface="Archivo" pitchFamily="34" charset="0"/>
                <a:ea typeface="Archivo" pitchFamily="34" charset="-122"/>
                <a:cs typeface="Archivo" pitchFamily="34" charset="-120"/>
              </a:rPr>
              <a:t>Walk through the dashboard and alert thresholds.</a:t>
            </a:r>
            <a:endParaRPr lang="en-US" sz="950" dirty="0"/>
          </a:p>
        </p:txBody>
      </p:sp>
      <p:sp>
        <p:nvSpPr>
          <p:cNvPr id="27" name="Text 24"/>
          <p:cNvSpPr txBox="1"/>
          <p:nvPr/>
        </p:nvSpPr>
        <p:spPr>
          <a:xfrm>
            <a:off x="6931152" y="3931920"/>
            <a:ext cx="1618488" cy="201168"/>
          </a:xfrm>
          <a:prstGeom prst="rect">
            <a:avLst/>
          </a:prstGeom>
          <a:noFill/>
          <a:ln/>
        </p:spPr>
        <p:txBody>
          <a:bodyPr wrap="square" lIns="0" tIns="0" rIns="0" bIns="0" rtlCol="0" anchor="t"/>
          <a:lstStyle/>
          <a:p>
            <a:pPr indent="0" marL="0">
              <a:buNone/>
            </a:pPr>
            <a:r>
              <a:rPr lang="en-US" sz="800" dirty="0">
                <a:solidFill>
                  <a:srgbClr val="8438FA"/>
                </a:solidFill>
                <a:latin typeface="Space Mono" pitchFamily="34" charset="0"/>
                <a:ea typeface="Space Mono" pitchFamily="34" charset="-122"/>
                <a:cs typeface="Space Mono" pitchFamily="34" charset="-120"/>
              </a:rPr>
              <a:t>Week 2</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C1B26"/>
        </a:solidFill>
      </p:bgPr>
    </p:bg>
    <p:spTree>
      <p:nvGrpSpPr>
        <p:cNvPr id="1" name=""/>
        <p:cNvGrpSpPr/>
        <p:nvPr/>
      </p:nvGrpSpPr>
      <p:grpSpPr>
        <a:xfrm>
          <a:off x="0" y="0"/>
          <a:ext cx="0" cy="0"/>
          <a:chOff x="0" y="0"/>
          <a:chExt cx="0" cy="0"/>
        </a:xfrm>
      </p:grpSpPr>
      <p:sp>
        <p:nvSpPr>
          <p:cNvPr id="2" name="Text 0"/>
          <p:cNvSpPr txBox="1"/>
          <p:nvPr/>
        </p:nvSpPr>
        <p:spPr>
          <a:xfrm>
            <a:off x="3886200" y="1234440"/>
            <a:ext cx="1371600" cy="237744"/>
          </a:xfrm>
          <a:prstGeom prst="roundRect">
            <a:avLst>
              <a:gd name="adj" fmla="val 46154"/>
            </a:avLst>
          </a:prstGeom>
          <a:solidFill>
            <a:srgbClr val="20EDBA"/>
          </a:solidFill>
          <a:ln/>
        </p:spPr>
        <p:txBody>
          <a:bodyPr wrap="square" lIns="0" tIns="0" rIns="0" bIns="0" rtlCol="0" anchor="ctr"/>
          <a:lstStyle/>
          <a:p>
            <a:pPr algn="ctr" indent="0" marL="0">
              <a:buNone/>
            </a:pPr>
            <a:r>
              <a:rPr lang="en-US" sz="800" spc="180" kern="0" dirty="0">
                <a:solidFill>
                  <a:srgbClr val="03031C"/>
                </a:solidFill>
                <a:latin typeface="Space Mono" pitchFamily="34" charset="0"/>
                <a:ea typeface="Space Mono" pitchFamily="34" charset="-122"/>
                <a:cs typeface="Space Mono" pitchFamily="34" charset="-120"/>
              </a:rPr>
              <a:t>THANK YOU</a:t>
            </a:r>
            <a:endParaRPr lang="en-US" sz="800" dirty="0"/>
          </a:p>
        </p:txBody>
      </p:sp>
      <p:sp>
        <p:nvSpPr>
          <p:cNvPr id="3" name="Shape 1"/>
          <p:cNvSpPr/>
          <p:nvPr/>
        </p:nvSpPr>
        <p:spPr>
          <a:xfrm>
            <a:off x="3819449" y="2039661"/>
            <a:ext cx="2757526" cy="187635"/>
          </a:xfrm>
          <a:prstGeom prst="rect">
            <a:avLst/>
          </a:prstGeom>
          <a:solidFill>
            <a:srgbClr val="1F6B55"/>
          </a:solidFill>
          <a:ln/>
        </p:spPr>
      </p:sp>
      <p:sp>
        <p:nvSpPr>
          <p:cNvPr id="4" name="Text 2"/>
          <p:cNvSpPr txBox="1"/>
          <p:nvPr/>
        </p:nvSpPr>
        <p:spPr>
          <a:xfrm>
            <a:off x="914400" y="1737360"/>
            <a:ext cx="7315200" cy="612648"/>
          </a:xfrm>
          <a:prstGeom prst="rect">
            <a:avLst/>
          </a:prstGeom>
          <a:noFill/>
          <a:ln/>
        </p:spPr>
        <p:txBody>
          <a:bodyPr wrap="square" lIns="0" tIns="0" rIns="0" bIns="0" rtlCol="0" anchor="t"/>
          <a:lstStyle/>
          <a:p>
            <a:pPr algn="ctr" indent="0" marL="0">
              <a:lnSpc>
                <a:spcPts val="4104"/>
              </a:lnSpc>
              <a:buNone/>
            </a:pPr>
            <a:r>
              <a:rPr lang="en-US" sz="3800" b="1" spc="-60" kern="0" dirty="0">
                <a:solidFill>
                  <a:srgbClr val="FFFFFF"/>
                </a:solidFill>
                <a:latin typeface="Archivo" pitchFamily="34" charset="0"/>
                <a:ea typeface="Archivo" pitchFamily="34" charset="-122"/>
                <a:cs typeface="Archivo" pitchFamily="34" charset="-120"/>
              </a:rPr>
              <a:t>Any </a:t>
            </a:r>
            <a:pPr algn="ctr" indent="0" marL="0">
              <a:lnSpc>
                <a:spcPts val="4104"/>
              </a:lnSpc>
              <a:buNone/>
            </a:pPr>
            <a:r>
              <a:rPr lang="en-US" sz="3800" b="1" spc="-60" kern="0" dirty="0">
                <a:solidFill>
                  <a:srgbClr val="FFFFFF"/>
                </a:solidFill>
                <a:latin typeface="Archivo" pitchFamily="34" charset="0"/>
                <a:ea typeface="Archivo" pitchFamily="34" charset="-122"/>
                <a:cs typeface="Archivo" pitchFamily="34" charset="-120"/>
              </a:rPr>
              <a:t>questions?</a:t>
            </a:r>
            <a:endParaRPr lang="en-US" sz="3800" dirty="0"/>
          </a:p>
        </p:txBody>
      </p:sp>
      <p:sp>
        <p:nvSpPr>
          <p:cNvPr id="5" name="Text 3"/>
          <p:cNvSpPr txBox="1"/>
          <p:nvPr/>
        </p:nvSpPr>
        <p:spPr>
          <a:xfrm>
            <a:off x="914400" y="2606040"/>
            <a:ext cx="7315200" cy="274320"/>
          </a:xfrm>
          <a:prstGeom prst="rect">
            <a:avLst/>
          </a:prstGeom>
          <a:noFill/>
          <a:ln/>
        </p:spPr>
        <p:txBody>
          <a:bodyPr wrap="square" lIns="0" tIns="0" rIns="0" bIns="0" rtlCol="0" anchor="t"/>
          <a:lstStyle/>
          <a:p>
            <a:pPr algn="ctr" indent="0" marL="0">
              <a:buNone/>
            </a:pPr>
            <a:r>
              <a:rPr lang="en-US" sz="900" dirty="0">
                <a:solidFill>
                  <a:srgbClr val="B9B6C6"/>
                </a:solidFill>
                <a:latin typeface="Space Mono" pitchFamily="34" charset="0"/>
                <a:ea typeface="Space Mono" pitchFamily="34" charset="-122"/>
                <a:cs typeface="Space Mono" pitchFamily="34" charset="-120"/>
              </a:rPr>
              <a:t>tyk.io</a:t>
            </a:r>
            <a:endParaRPr lang="en-US" sz="900" dirty="0"/>
          </a:p>
        </p:txBody>
      </p:sp>
      <p:sp>
        <p:nvSpPr>
          <p:cNvPr id="6" name="Text 4"/>
          <p:cNvSpPr txBox="1"/>
          <p:nvPr/>
        </p:nvSpPr>
        <p:spPr>
          <a:xfrm>
            <a:off x="914400" y="3017520"/>
            <a:ext cx="7315200" cy="182880"/>
          </a:xfrm>
          <a:prstGeom prst="rect">
            <a:avLst/>
          </a:prstGeom>
          <a:noFill/>
          <a:ln/>
        </p:spPr>
        <p:txBody>
          <a:bodyPr wrap="square" lIns="0" tIns="0" rIns="0" bIns="0" rtlCol="0" anchor="t"/>
          <a:lstStyle/>
          <a:p>
            <a:pPr algn="ctr" indent="0" marL="0">
              <a:buNone/>
            </a:pPr>
            <a:r>
              <a:rPr lang="en-US" sz="700" spc="120" kern="0" dirty="0">
                <a:solidFill>
                  <a:srgbClr val="B9B6C6"/>
                </a:solidFill>
                <a:latin typeface="Space Mono" pitchFamily="34" charset="0"/>
                <a:ea typeface="Space Mono" pitchFamily="34" charset="-122"/>
                <a:cs typeface="Space Mono" pitchFamily="34" charset="-120"/>
              </a:rPr>
              <a:t>REFERENCES</a:t>
            </a:r>
            <a:endParaRPr lang="en-US" sz="700" dirty="0"/>
          </a:p>
        </p:txBody>
      </p:sp>
      <p:sp>
        <p:nvSpPr>
          <p:cNvPr id="7" name="Text 5"/>
          <p:cNvSpPr txBox="1"/>
          <p:nvPr/>
        </p:nvSpPr>
        <p:spPr>
          <a:xfrm>
            <a:off x="754380" y="3291840"/>
            <a:ext cx="3749040" cy="292608"/>
          </a:xfrm>
          <a:prstGeom prst="roundRect">
            <a:avLst>
              <a:gd name="adj" fmla="val 46875"/>
            </a:avLst>
          </a:prstGeom>
          <a:solidFill>
            <a:srgbClr val="1C1B26"/>
          </a:solidFill>
          <a:ln w="9525">
            <a:solidFill>
              <a:srgbClr val="6E6B7E"/>
            </a:solidFill>
          </a:ln>
        </p:spPr>
        <p:txBody>
          <a:bodyPr wrap="square" lIns="0" tIns="0" rIns="0" bIns="0" rtlCol="0" anchor="ctr"/>
          <a:lstStyle/>
          <a:p>
            <a:pPr algn="ctr" indent="0" marL="0">
              <a:buNone/>
            </a:pPr>
            <a:r>
              <a:rPr lang="en-US" sz="700" b="1" dirty="0">
                <a:solidFill>
                  <a:srgbClr val="20EDBA"/>
                </a:solidFill>
                <a:latin typeface="Space Mono" pitchFamily="34" charset="0"/>
                <a:ea typeface="Space Mono" pitchFamily="34" charset="-122"/>
                <a:cs typeface="Space Mono" pitchFamily="34" charset="-120"/>
              </a:rPr>
              <a:t>Metrics  </a:t>
            </a:r>
            <a:pPr algn="ctr" indent="0" marL="0">
              <a:buNone/>
            </a:pPr>
            <a:r>
              <a:rPr lang="en-US" sz="700" dirty="0">
                <a:solidFill>
                  <a:srgbClr val="D9D6E3"/>
                </a:solidFill>
                <a:latin typeface="Space Mono" pitchFamily="34" charset="0"/>
                <a:ea typeface="Space Mono" pitchFamily="34" charset="-122"/>
                <a:cs typeface="Space Mono" pitchFamily="34" charset="-120"/>
              </a:rPr>
              <a:t>tyk.io/docs/api-management/logs-metrics</a:t>
            </a:r>
            <a:endParaRPr lang="en-US" sz="700" dirty="0"/>
          </a:p>
        </p:txBody>
      </p:sp>
      <p:sp>
        <p:nvSpPr>
          <p:cNvPr id="8" name="Text 6"/>
          <p:cNvSpPr txBox="1"/>
          <p:nvPr/>
        </p:nvSpPr>
        <p:spPr>
          <a:xfrm>
            <a:off x="4640580" y="3291840"/>
            <a:ext cx="3749040" cy="292608"/>
          </a:xfrm>
          <a:prstGeom prst="roundRect">
            <a:avLst>
              <a:gd name="adj" fmla="val 46875"/>
            </a:avLst>
          </a:prstGeom>
          <a:solidFill>
            <a:srgbClr val="1C1B26"/>
          </a:solidFill>
          <a:ln w="9525">
            <a:solidFill>
              <a:srgbClr val="6E6B7E"/>
            </a:solidFill>
          </a:ln>
        </p:spPr>
        <p:txBody>
          <a:bodyPr wrap="square" lIns="0" tIns="0" rIns="0" bIns="0" rtlCol="0" anchor="ctr"/>
          <a:lstStyle/>
          <a:p>
            <a:pPr algn="ctr" indent="0" marL="0">
              <a:buNone/>
            </a:pPr>
            <a:r>
              <a:rPr lang="en-US" sz="700" b="1" dirty="0">
                <a:solidFill>
                  <a:srgbClr val="20EDBA"/>
                </a:solidFill>
                <a:latin typeface="Space Mono" pitchFamily="34" charset="0"/>
                <a:ea typeface="Space Mono" pitchFamily="34" charset="-122"/>
                <a:cs typeface="Space Mono" pitchFamily="34" charset="-120"/>
              </a:rPr>
              <a:t>Default metrics  </a:t>
            </a:r>
            <a:pPr algn="ctr" indent="0" marL="0">
              <a:buNone/>
            </a:pPr>
            <a:r>
              <a:rPr lang="en-US" sz="700" dirty="0">
                <a:solidFill>
                  <a:srgbClr val="D9D6E3"/>
                </a:solidFill>
                <a:latin typeface="Space Mono" pitchFamily="34" charset="0"/>
                <a:ea typeface="Space Mono" pitchFamily="34" charset="-122"/>
                <a:cs typeface="Space Mono" pitchFamily="34" charset="-120"/>
              </a:rPr>
              <a:t>tyk.io/docs/api-management/metrics/default-metrics</a:t>
            </a:r>
            <a:endParaRPr lang="en-US" sz="700" dirty="0"/>
          </a:p>
        </p:txBody>
      </p:sp>
      <p:sp>
        <p:nvSpPr>
          <p:cNvPr id="9" name="Text 7"/>
          <p:cNvSpPr txBox="1"/>
          <p:nvPr/>
        </p:nvSpPr>
        <p:spPr>
          <a:xfrm>
            <a:off x="754380" y="3675888"/>
            <a:ext cx="3749040" cy="292608"/>
          </a:xfrm>
          <a:prstGeom prst="roundRect">
            <a:avLst>
              <a:gd name="adj" fmla="val 46875"/>
            </a:avLst>
          </a:prstGeom>
          <a:solidFill>
            <a:srgbClr val="1C1B26"/>
          </a:solidFill>
          <a:ln w="9525">
            <a:solidFill>
              <a:srgbClr val="6E6B7E"/>
            </a:solidFill>
          </a:ln>
        </p:spPr>
        <p:txBody>
          <a:bodyPr wrap="square" lIns="0" tIns="0" rIns="0" bIns="0" rtlCol="0" anchor="ctr"/>
          <a:lstStyle/>
          <a:p>
            <a:pPr algn="ctr" indent="0" marL="0">
              <a:buNone/>
            </a:pPr>
            <a:r>
              <a:rPr lang="en-US" sz="700" b="1" dirty="0">
                <a:solidFill>
                  <a:srgbClr val="20EDBA"/>
                </a:solidFill>
                <a:latin typeface="Space Mono" pitchFamily="34" charset="0"/>
                <a:ea typeface="Space Mono" pitchFamily="34" charset="-122"/>
                <a:cs typeface="Space Mono" pitchFamily="34" charset="-120"/>
              </a:rPr>
              <a:t>Custom metrics  </a:t>
            </a:r>
            <a:pPr algn="ctr" indent="0" marL="0">
              <a:buNone/>
            </a:pPr>
            <a:r>
              <a:rPr lang="en-US" sz="700" dirty="0">
                <a:solidFill>
                  <a:srgbClr val="D9D6E3"/>
                </a:solidFill>
                <a:latin typeface="Space Mono" pitchFamily="34" charset="0"/>
                <a:ea typeface="Space Mono" pitchFamily="34" charset="-122"/>
                <a:cs typeface="Space Mono" pitchFamily="34" charset="-120"/>
              </a:rPr>
              <a:t>tyk.io/docs/api-management/metrics/custom-metrics</a:t>
            </a:r>
            <a:endParaRPr lang="en-US" sz="700" dirty="0"/>
          </a:p>
        </p:txBody>
      </p:sp>
      <p:sp>
        <p:nvSpPr>
          <p:cNvPr id="10" name="Text 8"/>
          <p:cNvSpPr txBox="1"/>
          <p:nvPr/>
        </p:nvSpPr>
        <p:spPr>
          <a:xfrm>
            <a:off x="4640580" y="3675888"/>
            <a:ext cx="3749040" cy="292608"/>
          </a:xfrm>
          <a:prstGeom prst="roundRect">
            <a:avLst>
              <a:gd name="adj" fmla="val 46875"/>
            </a:avLst>
          </a:prstGeom>
          <a:solidFill>
            <a:srgbClr val="1C1B26"/>
          </a:solidFill>
          <a:ln w="9525">
            <a:solidFill>
              <a:srgbClr val="6E6B7E"/>
            </a:solidFill>
          </a:ln>
        </p:spPr>
        <p:txBody>
          <a:bodyPr wrap="square" lIns="0" tIns="0" rIns="0" bIns="0" rtlCol="0" anchor="ctr"/>
          <a:lstStyle/>
          <a:p>
            <a:pPr algn="ctr" indent="0" marL="0">
              <a:buNone/>
            </a:pPr>
            <a:r>
              <a:rPr lang="en-US" sz="700" b="1" dirty="0">
                <a:solidFill>
                  <a:srgbClr val="20EDBA"/>
                </a:solidFill>
                <a:latin typeface="Space Mono" pitchFamily="34" charset="0"/>
                <a:ea typeface="Space Mono" pitchFamily="34" charset="-122"/>
                <a:cs typeface="Space Mono" pitchFamily="34" charset="-120"/>
              </a:rPr>
              <a:t>Playbook  </a:t>
            </a:r>
            <a:pPr algn="ctr" indent="0" marL="0">
              <a:buNone/>
            </a:pPr>
            <a:r>
              <a:rPr lang="en-US" sz="700" dirty="0">
                <a:solidFill>
                  <a:srgbClr val="D9D6E3"/>
                </a:solidFill>
                <a:latin typeface="Space Mono" pitchFamily="34" charset="0"/>
                <a:ea typeface="Space Mono" pitchFamily="34" charset="-122"/>
                <a:cs typeface="Space Mono" pitchFamily="34" charset="-120"/>
              </a:rPr>
              <a:t>tyk.io/docs/api-management/observability/guides/gateway-playbook</a:t>
            </a:r>
            <a:endParaRPr lang="en-US" sz="700" dirty="0"/>
          </a:p>
        </p:txBody>
      </p:sp>
      <p:pic>
        <p:nvPicPr>
          <p:cNvPr id="11" name="Image 0" descr="Tyk">    </p:cNvPr>
          <p:cNvPicPr>
            <a:picLocks noChangeAspect="1"/>
          </p:cNvPicPr>
          <p:nvPr/>
        </p:nvPicPr>
        <p:blipFill>
          <a:blip r:embed="rId1"/>
          <a:stretch>
            <a:fillRect/>
          </a:stretch>
        </p:blipFill>
        <p:spPr>
          <a:xfrm>
            <a:off x="4242816" y="4315968"/>
            <a:ext cx="658368" cy="34107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Tyk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Tyk 5.13 — API observability</dc:title>
  <dc:subject>PptxGenJS Presentation</dc:subject>
  <dc:creator>Tyk</dc:creator>
  <cp:lastModifiedBy>Tyk</cp:lastModifiedBy>
  <cp:revision>1</cp:revision>
  <dcterms:created xsi:type="dcterms:W3CDTF">2026-10-06T13:32:57Z</dcterms:created>
  <dcterms:modified xsi:type="dcterms:W3CDTF">2026-10-06T13:32:57Z</dcterms:modified>
</cp:coreProperties>
</file>